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0d29b31be9d49e7" /><Relationship Type="http://schemas.openxmlformats.org/officeDocument/2006/relationships/extended-properties" Target="/docProps/app.xml" Id="R3831f1f5682e49c6" /><Relationship Type="http://schemas.openxmlformats.org/officeDocument/2006/relationships/officeDocument" Target="/ppt/presentation.xml" Id="Rd994769563de4bb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6de1f11e62a4ed9"/>
  </p:sldMasterIdLst>
  <p:notesMasterIdLst>
    <p:notesMasterId xmlns:r="http://schemas.openxmlformats.org/officeDocument/2006/relationships" r:id="R2cc822860a154f43"/>
  </p:notesMasterIdLst>
  <p:sldIdLst>
    <p:sldId xmlns:r="http://schemas.openxmlformats.org/officeDocument/2006/relationships" id="256" r:id="Rf86b805ac85e436d"/>
    <p:sldId xmlns:r="http://schemas.openxmlformats.org/officeDocument/2006/relationships" id="257" r:id="R14e0e802a27b4810"/>
    <p:sldId xmlns:r="http://schemas.openxmlformats.org/officeDocument/2006/relationships" id="258" r:id="R7b4a037e967e4064"/>
    <p:sldId xmlns:r="http://schemas.openxmlformats.org/officeDocument/2006/relationships" id="259" r:id="Rbdd5e3872ba548aa"/>
    <p:sldId xmlns:r="http://schemas.openxmlformats.org/officeDocument/2006/relationships" id="260" r:id="Rd1f19f276ba24ee9"/>
    <p:sldId xmlns:r="http://schemas.openxmlformats.org/officeDocument/2006/relationships" id="261" r:id="R08dc4de8744e49b3"/>
    <p:sldId xmlns:r="http://schemas.openxmlformats.org/officeDocument/2006/relationships" id="262" r:id="R3dca5d4187cc4a01"/>
    <p:sldId xmlns:r="http://schemas.openxmlformats.org/officeDocument/2006/relationships" id="263" r:id="Rf7d68fd3968945cc"/>
    <p:sldId xmlns:r="http://schemas.openxmlformats.org/officeDocument/2006/relationships" id="264" r:id="R47f528847d254acd"/>
    <p:sldId xmlns:r="http://schemas.openxmlformats.org/officeDocument/2006/relationships" id="265" r:id="R4acff0b04a2f4da5"/>
    <p:sldId xmlns:r="http://schemas.openxmlformats.org/officeDocument/2006/relationships" id="266" r:id="R20fbddafca9345b1"/>
    <p:sldId xmlns:r="http://schemas.openxmlformats.org/officeDocument/2006/relationships" id="267" r:id="R7bd393f826134755"/>
    <p:sldId xmlns:r="http://schemas.openxmlformats.org/officeDocument/2006/relationships" id="268" r:id="R345518732fb546f8"/>
    <p:sldId xmlns:r="http://schemas.openxmlformats.org/officeDocument/2006/relationships" id="269" r:id="R39714105a44d42b9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dbbd8610021496a" /><Relationship Type="http://schemas.openxmlformats.org/officeDocument/2006/relationships/slideMaster" Target="/ppt/slideMasters/slideMaster1.xml" Id="R66de1f11e62a4ed9" /><Relationship Type="http://schemas.openxmlformats.org/officeDocument/2006/relationships/notesMaster" Target="/ppt/notesMasters/notesMaster1.xml" Id="R2cc822860a154f43" /><Relationship Type="http://schemas.openxmlformats.org/officeDocument/2006/relationships/presProps" Target="/ppt/presProps.xml" Id="R6a7825d0ec5b45ab" /><Relationship Type="http://schemas.openxmlformats.org/officeDocument/2006/relationships/viewProps" Target="/ppt/viewProps.xml" Id="R01a1ac795e0a4385" /><Relationship Type="http://schemas.openxmlformats.org/officeDocument/2006/relationships/tableStyles" Target="/ppt/tableStyles.xml" Id="R8acdb66f64d6476b" /><Relationship Type="http://schemas.openxmlformats.org/officeDocument/2006/relationships/slide" Target="/ppt/slides/slide1.xml" Id="Rf86b805ac85e436d" /><Relationship Type="http://schemas.openxmlformats.org/officeDocument/2006/relationships/slide" Target="/ppt/slides/slide2.xml" Id="R14e0e802a27b4810" /><Relationship Type="http://schemas.openxmlformats.org/officeDocument/2006/relationships/slide" Target="/ppt/slides/slide3.xml" Id="R7b4a037e967e4064" /><Relationship Type="http://schemas.openxmlformats.org/officeDocument/2006/relationships/slide" Target="/ppt/slides/slide4.xml" Id="Rbdd5e3872ba548aa" /><Relationship Type="http://schemas.openxmlformats.org/officeDocument/2006/relationships/slide" Target="/ppt/slides/slide5.xml" Id="Rd1f19f276ba24ee9" /><Relationship Type="http://schemas.openxmlformats.org/officeDocument/2006/relationships/slide" Target="/ppt/slides/slide6.xml" Id="R08dc4de8744e49b3" /><Relationship Type="http://schemas.openxmlformats.org/officeDocument/2006/relationships/slide" Target="/ppt/slides/slide7.xml" Id="R3dca5d4187cc4a01" /><Relationship Type="http://schemas.openxmlformats.org/officeDocument/2006/relationships/slide" Target="/ppt/slides/slide8.xml" Id="Rf7d68fd3968945cc" /><Relationship Type="http://schemas.openxmlformats.org/officeDocument/2006/relationships/slide" Target="/ppt/slides/slide9.xml" Id="R47f528847d254acd" /><Relationship Type="http://schemas.openxmlformats.org/officeDocument/2006/relationships/slide" Target="/ppt/slides/slide10.xml" Id="R4acff0b04a2f4da5" /><Relationship Type="http://schemas.openxmlformats.org/officeDocument/2006/relationships/slide" Target="/ppt/slides/slide11.xml" Id="R20fbddafca9345b1" /><Relationship Type="http://schemas.openxmlformats.org/officeDocument/2006/relationships/slide" Target="/ppt/slides/slide12.xml" Id="R7bd393f826134755" /><Relationship Type="http://schemas.openxmlformats.org/officeDocument/2006/relationships/slide" Target="/ppt/slides/slide13.xml" Id="R345518732fb546f8" /><Relationship Type="http://schemas.openxmlformats.org/officeDocument/2006/relationships/slide" Target="/ppt/slides/slide14.xml" Id="R39714105a44d42b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84caf57c4d4433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5f922cca13340dc" /><Relationship Type="http://schemas.openxmlformats.org/officeDocument/2006/relationships/notesMaster" Target="/ppt/notesMasters/notesMaster1.xml" Id="Ra065839e25e6444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a112a27f364425f" /><Relationship Type="http://schemas.openxmlformats.org/officeDocument/2006/relationships/notesMaster" Target="/ppt/notesMasters/notesMaster1.xml" Id="R298619552a0d4a8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fc04b5ed91748b7" /><Relationship Type="http://schemas.openxmlformats.org/officeDocument/2006/relationships/notesMaster" Target="/ppt/notesMasters/notesMaster1.xml" Id="Rc0388c12e20b448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46ddc41a7144709" /><Relationship Type="http://schemas.openxmlformats.org/officeDocument/2006/relationships/notesMaster" Target="/ppt/notesMasters/notesMaster1.xml" Id="Raa71729224214d6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a70dd0cf6f54fdf" /><Relationship Type="http://schemas.openxmlformats.org/officeDocument/2006/relationships/notesMaster" Target="/ppt/notesMasters/notesMaster1.xml" Id="R14a1d95f7efb43d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519e2d8e41441b0" /><Relationship Type="http://schemas.openxmlformats.org/officeDocument/2006/relationships/notesMaster" Target="/ppt/notesMasters/notesMaster1.xml" Id="R4d226241df354ee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daa008a66724d88" /><Relationship Type="http://schemas.openxmlformats.org/officeDocument/2006/relationships/notesMaster" Target="/ppt/notesMasters/notesMaster1.xml" Id="R491db546fd06470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8ca36fe52d946d5" /><Relationship Type="http://schemas.openxmlformats.org/officeDocument/2006/relationships/notesMaster" Target="/ppt/notesMasters/notesMaster1.xml" Id="R624fb9625bd3473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ec197d219444755" /><Relationship Type="http://schemas.openxmlformats.org/officeDocument/2006/relationships/notesMaster" Target="/ppt/notesMasters/notesMaster1.xml" Id="Rda8127f1ba564a7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58de0414e3841d5" /><Relationship Type="http://schemas.openxmlformats.org/officeDocument/2006/relationships/notesMaster" Target="/ppt/notesMasters/notesMaster1.xml" Id="R13ae359ba7344a3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f24a6299fd94a4e" /><Relationship Type="http://schemas.openxmlformats.org/officeDocument/2006/relationships/notesMaster" Target="/ppt/notesMasters/notesMaster1.xml" Id="R39e4980d587749d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248838d46234537" /><Relationship Type="http://schemas.openxmlformats.org/officeDocument/2006/relationships/notesMaster" Target="/ppt/notesMasters/notesMaster1.xml" Id="R34cba46ac3194355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3b260f5f86044571" /><Relationship Type="http://schemas.openxmlformats.org/officeDocument/2006/relationships/notesMaster" Target="/ppt/notesMasters/notesMaster1.xml" Id="R5303c9179258418f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ef4ee0763ed545b8" /><Relationship Type="http://schemas.openxmlformats.org/officeDocument/2006/relationships/notesMaster" Target="/ppt/notesMasters/notesMaster1.xml" Id="R72f601d1c9064fb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fc254876141482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91b3768005f4308" /><Relationship Type="http://schemas.openxmlformats.org/officeDocument/2006/relationships/slideLayout" Target="/ppt/slideLayouts/slideLayout1.xml" Id="R319a52e5c76d49f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19a52e5c76d49f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627b23bb7940b1" /><Relationship Type="http://schemas.openxmlformats.org/officeDocument/2006/relationships/notesSlide" Target="/ppt/notesSlides/notesSlide1.xml" Id="R64e6db9901494c7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3ae2eb3afb4325" /><Relationship Type="http://schemas.openxmlformats.org/officeDocument/2006/relationships/notesSlide" Target="/ppt/notesSlides/notesSlide2.xml" Id="R298390e52f33475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b52be8a1b04fc6" /><Relationship Type="http://schemas.openxmlformats.org/officeDocument/2006/relationships/notesSlide" Target="/ppt/notesSlides/notesSlide3.xml" Id="R38c6f0467b8048a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fecef19c6c4777" /><Relationship Type="http://schemas.openxmlformats.org/officeDocument/2006/relationships/notesSlide" Target="/ppt/notesSlides/notesSlide4.xml" Id="Rac6fb10c3a00496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70adb36b6c4232" /><Relationship Type="http://schemas.openxmlformats.org/officeDocument/2006/relationships/notesSlide" Target="/ppt/notesSlides/notesSlide5.xml" Id="R42658a613532452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27c316762c4a5e" /><Relationship Type="http://schemas.openxmlformats.org/officeDocument/2006/relationships/notesSlide" Target="/ppt/notesSlides/notesSlide6.xml" Id="Rc78c9f34d18b431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66cd3852ce419b" /><Relationship Type="http://schemas.openxmlformats.org/officeDocument/2006/relationships/image" Target="/ppt/media/image.png" Id="R489aeaf0131547ff" /><Relationship Type="http://schemas.openxmlformats.org/officeDocument/2006/relationships/notesSlide" Target="/ppt/notesSlides/notesSlide7.xml" Id="R02a1d6580e1447f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b93358f5d845bf" /><Relationship Type="http://schemas.openxmlformats.org/officeDocument/2006/relationships/notesSlide" Target="/ppt/notesSlides/notesSlide8.xml" Id="R0b4102fc993646d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9f0af12cb2454e" /><Relationship Type="http://schemas.openxmlformats.org/officeDocument/2006/relationships/image" Target="/ppt/media/image2.png" Id="Rf5acf70faef64c2c" /><Relationship Type="http://schemas.openxmlformats.org/officeDocument/2006/relationships/notesSlide" Target="/ppt/notesSlides/notesSlide9.xml" Id="Reb32950284c3446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5240cd84384cba" /><Relationship Type="http://schemas.openxmlformats.org/officeDocument/2006/relationships/notesSlide" Target="/ppt/notesSlides/notesSlide10.xml" Id="Rc4ad2ab2f53a46d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56e1c548244d2b" /><Relationship Type="http://schemas.openxmlformats.org/officeDocument/2006/relationships/notesSlide" Target="/ppt/notesSlides/notesSlide11.xml" Id="R4273f64f38d44d7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22e822ba984e32" /><Relationship Type="http://schemas.openxmlformats.org/officeDocument/2006/relationships/notesSlide" Target="/ppt/notesSlides/notesSlide12.xml" Id="R7a06114268b44ce2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8a5ed897324ab5" /><Relationship Type="http://schemas.openxmlformats.org/officeDocument/2006/relationships/notesSlide" Target="/ppt/notesSlides/notesSlide13.xml" Id="R0bd541107e85458c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fe496e44bd4a2e" /><Relationship Type="http://schemas.openxmlformats.org/officeDocument/2006/relationships/image" Target="/ppt/media/image3.png" Id="Re2b56225ba3a4d03" /><Relationship Type="http://schemas.openxmlformats.org/officeDocument/2006/relationships/notesSlide" Target="/ppt/notesSlides/notesSlide14.xml" Id="R57d85056928b4050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6DA7454-4BC7-43C3-A6A8-FE7133E27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51D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6726C3-7E0B-454A-A56E-F1EC3B6A5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0"/>
            <a:ext cx="48387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DE7"/>
          </a:solidFill>
          <a:ln xmlns:a="http://schemas.openxmlformats.org/drawingml/2006/main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6ECFDB-91F5-4757-B239-F37227A9E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04850"/>
            <a:ext cx="6096000" cy="1200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검수 가능한 GraphRAG 서비스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A51973-1B6F-4FE8-ADFB-F360DD977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38350"/>
            <a:ext cx="5715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D8D2DC"/>
                </a:solidFill>
                <a:latin typeface="Arial"/>
                <a:ea typeface="Arial"/>
                <a:cs typeface="Arial"/>
              </a:defRPr>
            </a:pPr>
            <a:r>
              <a:t>Streaming Frontend, LLM Runtime Backend, GraphRAG Knowledge Layer를 분리한 법령/조례 RAG 시스템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22D75B-3D47-4279-B3A5-4152F145E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0"/>
            <a:ext cx="53340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22E28"/>
          </a:solidFill>
          <a:ln xmlns:a="http://schemas.openxmlformats.org/drawingml/2006/main" w="9525">
            <a:solidFill>
              <a:srgbClr val="0F9F6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714625-19F4-4561-9D75-9CB8AB30F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24200"/>
            <a:ext cx="51054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0F9F6E"/>
                </a:solidFill>
                <a:latin typeface="Arial"/>
                <a:ea typeface="Arial"/>
                <a:cs typeface="Arial"/>
              </a:defRPr>
            </a:pPr>
            <a:r>
              <a:t>Streaming FE → Main Backend → MCP → GraphRAG → Memgraph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C8C8A2-5189-4F4B-A9E3-2DC5A73CD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38600"/>
            <a:ext cx="1143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C9B6A8"/>
                </a:solidFill>
                <a:latin typeface="Arial"/>
                <a:ea typeface="Arial"/>
                <a:cs typeface="Arial"/>
              </a:defRPr>
            </a:pPr>
            <a:r>
              <a:t>핵심 주장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681294-05E0-4DF5-8D26-31F368B75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05300"/>
            <a:ext cx="5905500" cy="914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RAG system은 knowledge layer이고, Main Backend는 answer generation runtime이다. 두 영역은 MCP read-only tool boundary로 분리했다.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62534C-4467-49EC-BB61-B691E8F66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952500"/>
            <a:ext cx="3048000" cy="742950"/>
          </a:xfrm>
          <a:prstGeom xmlns:a="http://schemas.openxmlformats.org/drawingml/2006/main" prst="roundRect">
            <a:avLst>
              <a:gd name="adj" fmla="val 128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D8D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B6A14F-BB36-42FA-8F27-14197C784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085850"/>
            <a:ext cx="27051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6C2E12"/>
                </a:solidFill>
                <a:latin typeface="Arial"/>
                <a:ea typeface="Arial"/>
                <a:cs typeface="Arial"/>
              </a:defRPr>
            </a:pPr>
            <a:r>
              <a:t>40.81%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8F1154-E740-4AF5-B4C9-D0EDD4A60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409700"/>
            <a:ext cx="27051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788">
                <a:solidFill>
                  <a:srgbClr val="6F6878"/>
                </a:solidFill>
                <a:latin typeface="Arial"/>
                <a:ea typeface="Arial"/>
                <a:cs typeface="Arial"/>
              </a:defRPr>
            </a:pPr>
            <a:r>
              <a:t>TOON 전처리 전체 토큰 절감률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E600F6A-6725-49E4-A1DB-97CFABC6C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924050"/>
            <a:ext cx="3048000" cy="742950"/>
          </a:xfrm>
          <a:prstGeom xmlns:a="http://schemas.openxmlformats.org/drawingml/2006/main" prst="roundRect">
            <a:avLst>
              <a:gd name="adj" fmla="val 128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D8D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5AA612E-1457-4711-8848-F6F2D45DD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057400"/>
            <a:ext cx="27051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6655E8"/>
                </a:solidFill>
                <a:latin typeface="Arial"/>
                <a:ea typeface="Arial"/>
                <a:cs typeface="Arial"/>
              </a:defRPr>
            </a:pPr>
            <a:r>
              <a:t>360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E033745-1EDD-4F0C-8CBF-8C05801F2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381250"/>
            <a:ext cx="27051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788">
                <a:solidFill>
                  <a:srgbClr val="6F6878"/>
                </a:solidFill>
                <a:latin typeface="Arial"/>
                <a:ea typeface="Arial"/>
                <a:cs typeface="Arial"/>
              </a:defRPr>
            </a:pPr>
            <a:r>
              <a:t>대표/엣지 질문 테스트 케이스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4436C04-74D7-4D23-A634-18E0D655E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895600"/>
            <a:ext cx="3048000" cy="742950"/>
          </a:xfrm>
          <a:prstGeom xmlns:a="http://schemas.openxmlformats.org/drawingml/2006/main" prst="roundRect">
            <a:avLst>
              <a:gd name="adj" fmla="val 128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D8D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9536E82-6F16-48AF-AC71-068F45BAB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028950"/>
            <a:ext cx="27051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t>reviewable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7563E29-5F7A-4C21-9592-B2004AAD2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352800"/>
            <a:ext cx="27051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788">
                <a:solidFill>
                  <a:srgbClr val="6F6878"/>
                </a:solidFill>
                <a:latin typeface="Arial"/>
                <a:ea typeface="Arial"/>
                <a:cs typeface="Arial"/>
              </a:defRPr>
            </a:pPr>
            <a:r>
              <a:t>candidate first, edge later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51D5926-4D09-40AA-AB7A-66AEB2CDB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867150"/>
            <a:ext cx="3048000" cy="742950"/>
          </a:xfrm>
          <a:prstGeom xmlns:a="http://schemas.openxmlformats.org/drawingml/2006/main" prst="roundRect">
            <a:avLst>
              <a:gd name="adj" fmla="val 128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D8D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11A9F89-A280-4A5A-830F-145F81A85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000500"/>
            <a:ext cx="27051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t>read-only MCP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B6B1AF3-9F84-4F6B-A4BE-1C7B69627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324350"/>
            <a:ext cx="27051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788">
                <a:solidFill>
                  <a:srgbClr val="6F6878"/>
                </a:solidFill>
                <a:latin typeface="Arial"/>
                <a:ea typeface="Arial"/>
                <a:cs typeface="Arial"/>
              </a:defRPr>
            </a:pPr>
            <a:r>
              <a:t>최종 backend graph query boundary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830035B-252C-4B6B-AFE3-7F5C0EB42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4762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9D96A8"/>
                </a:solidFill>
                <a:latin typeface="Arial"/>
                <a:ea typeface="Arial"/>
                <a:cs typeface="Arial"/>
              </a:defRPr>
            </a:pPr>
            <a:r>
              <a:t>SKN28 3rd 1Team · GraphRAG Presentation v4</a:t>
            </a:r>
          </a:p>
        </p:txBody>
      </p:sp>
    </p:spTree>
    <p:extLst>
      <p:ext uri="{BB962C8B-B14F-4D97-AF65-F5344CB8AC3E}">
        <p14:creationId xmlns:p14="http://schemas.microsoft.com/office/powerpoint/2010/main" val="109864983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6411B13-8A2E-44E1-98AD-8BFE942CC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7239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6C2E12"/>
                </a:solidFill>
                <a:latin typeface="Arial"/>
                <a:ea typeface="Arial"/>
                <a:cs typeface="Arial"/>
              </a:defRPr>
            </a:pPr>
            <a:r>
              <a:t>PROBLEM FRAMING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DF1679-FC9E-43E1-BA7D-07496592C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4350"/>
            <a:ext cx="96202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51126"/>
                </a:solidFill>
                <a:latin typeface="Arial"/>
                <a:ea typeface="Arial"/>
                <a:cs typeface="Arial"/>
              </a:defRPr>
            </a:pPr>
            <a:r>
              <a:t>Why vector-only RAG is not enough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C3DCDC-05C8-4CB8-9CBA-BF7D61BD7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43000"/>
            <a:ext cx="88582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38">
                <a:solidFill>
                  <a:srgbClr val="6F6878"/>
                </a:solidFill>
                <a:latin typeface="Arial"/>
                <a:ea typeface="Arial"/>
                <a:cs typeface="Arial"/>
              </a:defRPr>
            </a:pPr>
            <a:r>
              <a:t>법령/조례 도메인은 의미 유사도뿐 아니라 조항 간 관계, 예외, 근거 검수가 필요하다.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1C607F-6F12-40F4-B92F-C8E2210CE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457200"/>
            <a:ext cx="3619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C2E12"/>
                </a:solidFill>
                <a:latin typeface="Arial"/>
                <a:ea typeface="Arial"/>
                <a:cs typeface="Arial"/>
              </a:defRPr>
            </a:pPr>
            <a: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9A93AD-B5C6-462B-8CB4-999DC6FC9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478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DCD5"/>
          </a:solidFill>
          <a:ln xmlns:a="http://schemas.openxmlformats.org/drawingml/2006/main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AF3A17-D9AA-4868-A666-AFF95BA99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4762500" cy="3733800"/>
          </a:xfrm>
          <a:prstGeom xmlns:a="http://schemas.openxmlformats.org/drawingml/2006/main" prst="roundRect">
            <a:avLst>
              <a:gd name="adj" fmla="val 45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D7C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A3285C-5887-4F70-A9F2-09D8D7795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095500"/>
            <a:ext cx="2476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51126"/>
                </a:solidFill>
                <a:latin typeface="Arial"/>
                <a:ea typeface="Arial"/>
                <a:cs typeface="Arial"/>
              </a:defRPr>
            </a:pPr>
            <a:r>
              <a:t>일반 vector RAG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990962-32EE-4D7B-9353-B6D461000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86050"/>
            <a:ext cx="142875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F7ECE4"/>
          </a:solidFill>
          <a:ln xmlns:a="http://schemas.openxmlformats.org/drawingml/2006/main" w="9525">
            <a:solidFill>
              <a:srgbClr val="6C2E1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C78E40-0C62-4CA9-A912-37F05D4D7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819400"/>
            <a:ext cx="11239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51126"/>
                </a:solidFill>
                <a:latin typeface="Arial"/>
                <a:ea typeface="Arial"/>
                <a:cs typeface="Arial"/>
              </a:defRPr>
            </a:pPr>
            <a:r>
              <a:t>Chunk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E07B14-D1B6-4671-BE29-411776A75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105150"/>
            <a:ext cx="11239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F6878"/>
                </a:solidFill>
                <a:latin typeface="Arial"/>
                <a:ea typeface="Arial"/>
                <a:cs typeface="Arial"/>
              </a:defRPr>
            </a:pPr>
            <a:r>
              <a:t>문서를 조각으로 나눔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630C11-11D1-4491-9187-3647B54E5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981325"/>
            <a:ext cx="3048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6C2E12"/>
                </a:solidFill>
                <a:latin typeface="Arial"/>
                <a:ea typeface="Arial"/>
                <a:cs typeface="Arial"/>
              </a:defRPr>
            </a:pPr>
            <a: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708C8B-96A8-4276-A976-7A669C40A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686050"/>
            <a:ext cx="161925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F7ECE4"/>
          </a:solidFill>
          <a:ln xmlns:a="http://schemas.openxmlformats.org/drawingml/2006/main" w="9525">
            <a:solidFill>
              <a:srgbClr val="6C2E1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A370387-2646-4030-B230-6E4D64405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819400"/>
            <a:ext cx="13144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51126"/>
                </a:solidFill>
                <a:latin typeface="Arial"/>
                <a:ea typeface="Arial"/>
                <a:cs typeface="Arial"/>
              </a:defRPr>
            </a:pPr>
            <a:r>
              <a:t>Embedding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1E8E194-B744-4871-9765-30133AD85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105150"/>
            <a:ext cx="13144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F6878"/>
                </a:solidFill>
                <a:latin typeface="Arial"/>
                <a:ea typeface="Arial"/>
                <a:cs typeface="Arial"/>
              </a:defRPr>
            </a:pPr>
            <a:r>
              <a:t>벡터화 후 top-k 검색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54A525E-35DA-466A-854B-4EC29C9C8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3810000"/>
            <a:ext cx="3048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6C2E12"/>
                </a:solidFill>
                <a:latin typeface="Arial"/>
                <a:ea typeface="Arial"/>
                <a:cs typeface="Arial"/>
              </a:defRPr>
            </a:pPr>
            <a: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7F2AFD3-C0BD-47B6-8475-22BAB1968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171950"/>
            <a:ext cx="2000250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E7EF"/>
          </a:solidFill>
          <a:ln xmlns:a="http://schemas.openxmlformats.org/drawingml/2006/main" w="9525">
            <a:solidFill>
              <a:srgbClr val="BE345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74438B5-40F4-42B6-B385-6C963A339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4305300"/>
            <a:ext cx="16954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51126"/>
                </a:solidFill>
                <a:latin typeface="Arial"/>
                <a:ea typeface="Arial"/>
                <a:cs typeface="Arial"/>
              </a:defRPr>
            </a:pPr>
            <a:r>
              <a:t>Answer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6806958-E417-407D-8424-5F08FF45D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4591050"/>
            <a:ext cx="16954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F6878"/>
                </a:solidFill>
                <a:latin typeface="Arial"/>
                <a:ea typeface="Arial"/>
                <a:cs typeface="Arial"/>
              </a:defRPr>
            </a:pPr>
            <a:r>
              <a:t>근거/관계 검수는 약함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105F9CC-0B92-4AFF-B413-A70382023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143500"/>
            <a:ext cx="3714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13">
                <a:solidFill>
                  <a:srgbClr val="6F6878"/>
                </a:solidFill>
                <a:latin typeface="Arial"/>
                <a:ea typeface="Arial"/>
                <a:cs typeface="Arial"/>
              </a:defRPr>
            </a:pPr>
            <a:r>
              <a:t>유사 문장은 찾지만 조문 간 관계와 예외의 타당성을 검수하기 어렵다.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001C6C1-F8D8-4747-93D5-2CE5B1CEE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790700"/>
            <a:ext cx="4762500" cy="3733800"/>
          </a:xfrm>
          <a:prstGeom xmlns:a="http://schemas.openxmlformats.org/drawingml/2006/main" prst="roundRect">
            <a:avLst>
              <a:gd name="adj" fmla="val 45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2940C49-A9EE-4E3C-847A-CE1DDA845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095500"/>
            <a:ext cx="2476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51126"/>
                </a:solidFill>
                <a:latin typeface="Arial"/>
                <a:ea typeface="Arial"/>
                <a:cs typeface="Arial"/>
              </a:defRPr>
            </a:pPr>
            <a:r>
              <a:t>이번 GraphRAG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B268BB9-6ACA-4302-B4FA-AE32D94BA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628900"/>
            <a:ext cx="19050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DDF6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0DA127A-08FE-4B92-9336-DFA41B6D7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762250"/>
            <a:ext cx="16002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51126"/>
                </a:solidFill>
                <a:latin typeface="Arial"/>
                <a:ea typeface="Arial"/>
                <a:cs typeface="Arial"/>
              </a:defRPr>
            </a:pPr>
            <a:r>
              <a:t>Chunk + Embedding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712DB2F-12D0-452B-AE00-2772EF53D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048000"/>
            <a:ext cx="16002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F6878"/>
                </a:solidFill>
                <a:latin typeface="Arial"/>
                <a:ea typeface="Arial"/>
                <a:cs typeface="Arial"/>
              </a:defRPr>
            </a:pPr>
            <a:r>
              <a:t>의미 단위 chunk와 vector 저장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9F2F567-3DC8-4EFD-9CA4-F2E74CB79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914650"/>
            <a:ext cx="3048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6655E8"/>
                </a:solidFill>
                <a:latin typeface="Arial"/>
                <a:ea typeface="Arial"/>
                <a:cs typeface="Arial"/>
              </a:defRPr>
            </a:pPr>
            <a:r>
              <a:t>→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7578366-ADDE-43DD-91DD-642F3A031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628900"/>
            <a:ext cx="16192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EEEAFE"/>
          </a:solidFill>
          <a:ln xmlns:a="http://schemas.openxmlformats.org/drawingml/2006/main" w="9525">
            <a:solidFill>
              <a:srgbClr val="6655E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8171D72-CB56-43B1-B3D5-B6A3C045C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762250"/>
            <a:ext cx="13144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51126"/>
                </a:solidFill>
                <a:latin typeface="Arial"/>
                <a:ea typeface="Arial"/>
                <a:cs typeface="Arial"/>
              </a:defRPr>
            </a:pPr>
            <a:r>
              <a:t>Graph Traverse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5FC8C91-C640-4BC4-B17E-F1EEB527C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048000"/>
            <a:ext cx="13144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F6878"/>
                </a:solidFill>
                <a:latin typeface="Arial"/>
                <a:ea typeface="Arial"/>
                <a:cs typeface="Arial"/>
              </a:defRPr>
            </a:pPr>
            <a:r>
              <a:t>문서/조항/후보 관계 탐색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548D9C8-6140-4377-99AD-1769F908B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733800"/>
            <a:ext cx="3048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6655E8"/>
                </a:solidFill>
                <a:latin typeface="Arial"/>
                <a:ea typeface="Arial"/>
                <a:cs typeface="Arial"/>
              </a:defRPr>
            </a:pPr>
            <a:r>
              <a:t>→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346BF91-B387-47C1-A289-E33D29356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4095750"/>
            <a:ext cx="17145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1D6"/>
          </a:solidFill>
          <a:ln xmlns:a="http://schemas.openxmlformats.org/drawingml/2006/main" w="9525">
            <a:solidFill>
              <a:srgbClr val="C77700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CB75E6A-B1A7-4E49-949C-EC4AE0C8A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229100"/>
            <a:ext cx="14097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51126"/>
                </a:solidFill>
                <a:latin typeface="Arial"/>
                <a:ea typeface="Arial"/>
                <a:cs typeface="Arial"/>
              </a:defRPr>
            </a:pPr>
            <a:r>
              <a:t>Candidate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A4D01BC-8992-47BD-B5A6-03DA76B16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514850"/>
            <a:ext cx="14097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F6878"/>
                </a:solidFill>
                <a:latin typeface="Arial"/>
                <a:ea typeface="Arial"/>
                <a:cs typeface="Arial"/>
              </a:defRPr>
            </a:pPr>
            <a:r>
              <a:t>edge가 아닌 검수 artifact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786593A-B172-4187-A819-1F0A79DF4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4381500"/>
            <a:ext cx="3048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6655E8"/>
                </a:solidFill>
                <a:latin typeface="Arial"/>
                <a:ea typeface="Arial"/>
                <a:cs typeface="Arial"/>
              </a:defRPr>
            </a:pPr>
            <a:r>
              <a:t>→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C62C260-7F9A-4ADB-91B2-92156F2C5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095750"/>
            <a:ext cx="17145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E4F8EF"/>
          </a:solidFill>
          <a:ln xmlns:a="http://schemas.openxmlformats.org/drawingml/2006/main" w="9525">
            <a:solidFill>
              <a:srgbClr val="0F9F6E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F7F3AC0-718D-4D82-96AB-4858ECE9C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4229100"/>
            <a:ext cx="14097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51126"/>
                </a:solidFill>
                <a:latin typeface="Arial"/>
                <a:ea typeface="Arial"/>
                <a:cs typeface="Arial"/>
              </a:defRPr>
            </a:pPr>
            <a:r>
              <a:t>Human Review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670A11F-8F44-417F-9716-A42B5D4E8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4514850"/>
            <a:ext cx="14097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F6878"/>
                </a:solidFill>
                <a:latin typeface="Arial"/>
                <a:ea typeface="Arial"/>
                <a:cs typeface="Arial"/>
              </a:defRPr>
            </a:pPr>
            <a:r>
              <a:t>승인 후보만 edge 확정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80D5C1C-A6B6-4899-B40A-811E27CC0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5143500"/>
            <a:ext cx="3714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13">
                <a:solidFill>
                  <a:srgbClr val="6F6878"/>
                </a:solidFill>
                <a:latin typeface="Arial"/>
                <a:ea typeface="Arial"/>
                <a:cs typeface="Arial"/>
              </a:defRPr>
            </a:pPr>
            <a:r>
              <a:t>LLM은 제안하고, 사용자가 검수하며, DB에는 검증된 관계만 반영한다.</a:t>
            </a:r>
          </a:p>
        </p:txBody>
      </p:sp>
    </p:spTree>
    <p:extLst>
      <p:ext uri="{BB962C8B-B14F-4D97-AF65-F5344CB8AC3E}">
        <p14:creationId xmlns:p14="http://schemas.microsoft.com/office/powerpoint/2010/main" val="121254479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13D7CE2-A44A-4B1B-B9D4-074CAB64D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7239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6C2E12"/>
                </a:solidFill>
                <a:latin typeface="Arial"/>
                <a:ea typeface="Arial"/>
                <a:cs typeface="Arial"/>
              </a:defRPr>
            </a:pPr>
            <a:r>
              <a:t>DATA &amp; PREPROCESSING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5EC5F2-3A5A-4865-953E-A28969F07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4350"/>
            <a:ext cx="96202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51126"/>
                </a:solidFill>
                <a:latin typeface="Arial"/>
                <a:ea typeface="Arial"/>
                <a:cs typeface="Arial"/>
              </a:defRPr>
            </a:pPr>
            <a:r>
              <a:t>law.go.kr JSON을 TOON으로 바꿔 전체 토큰 40.81% 절감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7C3586-742E-4E9B-9CAB-332400661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43000"/>
            <a:ext cx="88582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38">
                <a:solidFill>
                  <a:srgbClr val="6F6878"/>
                </a:solidFill>
                <a:latin typeface="Arial"/>
                <a:ea typeface="Arial"/>
                <a:cs typeface="Arial"/>
              </a:defRPr>
            </a:pPr>
            <a:r>
              <a:t>원본 API 구조를 보존하되 LLM 입력 비용을 줄이기 위해 JSON 문법 토큰을 제거했다.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840FDC-D3BB-4C64-8CA6-4EA682EF0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457200"/>
            <a:ext cx="3619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C2E12"/>
                </a:solidFill>
                <a:latin typeface="Arial"/>
                <a:ea typeface="Arial"/>
                <a:cs typeface="Arial"/>
              </a:defRPr>
            </a:pPr>
            <a: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D12B73-F5AB-4D57-9FB8-FB6F51DAA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478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DCD5"/>
          </a:solidFill>
          <a:ln xmlns:a="http://schemas.openxmlformats.org/drawingml/2006/main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AA8D7B-5D70-4B2F-8AEA-F90D23C2A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90700"/>
            <a:ext cx="2286000" cy="8001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8F0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C7540E-BC36-4699-89C5-1F3C6DD2B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924050"/>
            <a:ext cx="19812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51126"/>
                </a:solidFill>
                <a:latin typeface="Arial"/>
                <a:ea typeface="Arial"/>
                <a:cs typeface="Arial"/>
              </a:defRPr>
            </a:pPr>
            <a:r>
              <a:t>law.go.kr API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57094B-A568-40E8-89A1-FA48570B3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09800"/>
            <a:ext cx="19812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F6878"/>
                </a:solidFill>
                <a:latin typeface="Arial"/>
                <a:ea typeface="Arial"/>
                <a:cs typeface="Arial"/>
              </a:defRPr>
            </a:pPr>
            <a:r>
              <a:t>lawSearch.do / lawService.do / target=ordin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D749B3-BAEF-46BA-97DD-5D7FF65DB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076450"/>
            <a:ext cx="3048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6C2E12"/>
                </a:solidFill>
                <a:latin typeface="Arial"/>
                <a:ea typeface="Arial"/>
                <a:cs typeface="Arial"/>
              </a:defRPr>
            </a:pPr>
            <a: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7DEC7A-8FF9-4233-8014-5678DC573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790700"/>
            <a:ext cx="2000250" cy="8001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7ECE4"/>
          </a:solidFill>
          <a:ln xmlns:a="http://schemas.openxmlformats.org/drawingml/2006/main" w="9525">
            <a:solidFill>
              <a:srgbClr val="6C2E1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65C8F9-6F6A-47B2-8E32-3345102D5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1924050"/>
            <a:ext cx="16954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51126"/>
                </a:solidFill>
                <a:latin typeface="Arial"/>
                <a:ea typeface="Arial"/>
                <a:cs typeface="Arial"/>
              </a:defRPr>
            </a:pPr>
            <a:r>
              <a:t>JSON 원본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FE4E67-C97A-4698-A892-2AADC965D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2209800"/>
            <a:ext cx="16954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F6878"/>
                </a:solidFill>
                <a:latin typeface="Arial"/>
                <a:ea typeface="Arial"/>
                <a:cs typeface="Arial"/>
              </a:defRPr>
            </a:pPr>
            <a:r>
              <a:t>법령/조례 원천 구조 저장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9CE71D1-6F7E-47DB-ACA1-BA2F0FDE0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076450"/>
            <a:ext cx="3048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6C2E12"/>
                </a:solidFill>
                <a:latin typeface="Arial"/>
                <a:ea typeface="Arial"/>
                <a:cs typeface="Arial"/>
              </a:defRPr>
            </a:pPr>
            <a: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90D5E50-1527-4ACF-975E-D1D6F3FE1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790700"/>
            <a:ext cx="2190750" cy="8001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DDF6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7D3B8E2-4BAD-4F58-93F2-A495890D9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924050"/>
            <a:ext cx="18859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51126"/>
                </a:solidFill>
                <a:latin typeface="Arial"/>
                <a:ea typeface="Arial"/>
                <a:cs typeface="Arial"/>
              </a:defRPr>
            </a:pPr>
            <a:r>
              <a:t>TOON 변환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11FE070-FB81-45C1-8EA5-DDF609D66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209800"/>
            <a:ext cx="18859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F6878"/>
                </a:solidFill>
                <a:latin typeface="Arial"/>
                <a:ea typeface="Arial"/>
                <a:cs typeface="Arial"/>
              </a:defRPr>
            </a:pPr>
            <a:r>
              <a:t>LLM-friendly text representation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F17D5D3-2634-4118-8CE5-E96C770E3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076450"/>
            <a:ext cx="3048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6C2E12"/>
                </a:solidFill>
                <a:latin typeface="Arial"/>
                <a:ea typeface="Arial"/>
                <a:cs typeface="Arial"/>
              </a:defRPr>
            </a:pPr>
            <a: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BD1445F-751B-4223-8D18-B87ABC176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1790700"/>
            <a:ext cx="2095500" cy="8001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4F8EF"/>
          </a:solidFill>
          <a:ln xmlns:a="http://schemas.openxmlformats.org/drawingml/2006/main" w="9525">
            <a:solidFill>
              <a:srgbClr val="0F9F6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919D664-DA80-45EB-9FC5-BDB5457CB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1924050"/>
            <a:ext cx="17907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51126"/>
                </a:solidFill>
                <a:latin typeface="Arial"/>
                <a:ea typeface="Arial"/>
                <a:cs typeface="Arial"/>
              </a:defRPr>
            </a:pPr>
            <a:r>
              <a:t>RAG 입력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B65815A-5FFB-4666-ABCC-E5653A288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209800"/>
            <a:ext cx="17907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F6878"/>
                </a:solidFill>
                <a:latin typeface="Arial"/>
                <a:ea typeface="Arial"/>
                <a:cs typeface="Arial"/>
              </a:defRPr>
            </a:pPr>
            <a:r>
              <a:t>chunking agent가 읽는 전처리 문서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4FD42AF-4400-4621-99E7-6C75A596B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38500"/>
            <a:ext cx="3429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51126"/>
                </a:solidFill>
                <a:latin typeface="Arial"/>
                <a:ea typeface="Arial"/>
                <a:cs typeface="Arial"/>
              </a:defRPr>
            </a:pPr>
            <a:r>
              <a:t>Token compression proof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99B27FB-86A1-4C46-92E8-4654BCD20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76650"/>
            <a:ext cx="10668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6C2E12"/>
                </a:solidFill>
                <a:latin typeface="Arial"/>
                <a:ea typeface="Arial"/>
                <a:cs typeface="Arial"/>
              </a:defRPr>
            </a:pPr>
            <a:r>
              <a:t>320,991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F144B02-931F-436D-A5C6-9C83F3EBC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714750"/>
            <a:ext cx="533400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49A82"/>
          </a:solidFill>
          <a:ln xmlns:a="http://schemas.openxmlformats.org/drawingml/2006/main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6F9774F-89EB-40C8-A1C8-C08A88659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000500"/>
            <a:ext cx="1714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F6878"/>
                </a:solidFill>
                <a:latin typeface="Arial"/>
                <a:ea typeface="Arial"/>
                <a:cs typeface="Arial"/>
              </a:defRPr>
            </a:pPr>
            <a:r>
              <a:t>원본 JSON tokens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23B437E-876C-480E-8A2C-E40E32C0D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38650"/>
            <a:ext cx="10668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t>189,997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A5505BD-9474-4CF7-A952-38B395C2F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476750"/>
            <a:ext cx="316230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766E"/>
          </a:solidFill>
          <a:ln xmlns:a="http://schemas.openxmlformats.org/drawingml/2006/main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AB7F4C5-136D-4FB4-A7BA-E78EAEEB5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762500"/>
            <a:ext cx="1524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F6878"/>
                </a:solidFill>
                <a:latin typeface="Arial"/>
                <a:ea typeface="Arial"/>
                <a:cs typeface="Arial"/>
              </a:defRPr>
            </a:pPr>
            <a:r>
              <a:t>TOON tokens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3D92E7F-6B59-4D37-9480-2AD47F840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352800"/>
            <a:ext cx="3429000" cy="1619250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D8D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756E4AE-0CBF-4AC1-83FA-D9C4DED3E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657600"/>
            <a:ext cx="1143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F6878"/>
                </a:solidFill>
                <a:latin typeface="Arial"/>
                <a:ea typeface="Arial"/>
                <a:cs typeface="Arial"/>
              </a:defRPr>
            </a:pPr>
            <a:r>
              <a:t>절감 토큰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1ED28E8-3D84-42C8-834A-F8E0EDAF2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886200"/>
            <a:ext cx="1714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F9F6E"/>
                </a:solidFill>
                <a:latin typeface="Arial"/>
                <a:ea typeface="Arial"/>
                <a:cs typeface="Arial"/>
              </a:defRPr>
            </a:pPr>
            <a:r>
              <a:t>130,994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090ACFD-13DD-4745-9819-CC46E2140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438650"/>
            <a:ext cx="26670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F6878"/>
                </a:solidFill>
                <a:latin typeface="Arial"/>
                <a:ea typeface="Arial"/>
                <a:cs typeface="Arial"/>
              </a:defRPr>
            </a:pPr>
            <a:r>
              <a:t>전체 합계 기준 절감률 40.81%. 문서별 평균이 아니라 전체 token sum 기준이다.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076F748-8D27-4386-AC31-5AD1768A3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62650"/>
            <a:ext cx="7429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F6878"/>
                </a:solidFill>
                <a:latin typeface="Arial"/>
                <a:ea typeface="Arial"/>
                <a:cs typeface="Arial"/>
              </a:defRPr>
            </a:pPr>
            <a:r>
              <a:t>근거: rag/code_reference 수집/전처리 코드, rag/RAG_PREPROCESSED_DATA/README.md</a:t>
            </a:r>
          </a:p>
        </p:txBody>
      </p:sp>
    </p:spTree>
    <p:extLst>
      <p:ext uri="{BB962C8B-B14F-4D97-AF65-F5344CB8AC3E}">
        <p14:creationId xmlns:p14="http://schemas.microsoft.com/office/powerpoint/2010/main" val="316706488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E54A56E-CE4A-4177-9562-619616222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7239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6C2E12"/>
                </a:solidFill>
                <a:latin typeface="Arial"/>
                <a:ea typeface="Arial"/>
                <a:cs typeface="Arial"/>
              </a:defRPr>
            </a:pPr>
            <a:r>
              <a:t>END-TO-END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B9F10C-C0D4-41A7-8561-C3E3BA531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4350"/>
            <a:ext cx="96202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51126"/>
                </a:solidFill>
                <a:latin typeface="Arial"/>
                <a:ea typeface="Arial"/>
                <a:cs typeface="Arial"/>
              </a:defRPr>
            </a:pPr>
            <a:r>
              <a:t>최종 서비스는 Frontend, LLM Runtime, GraphRAG Knowledge Layer로 분리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31924F-032F-4EE0-B6CD-F6B6D2413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43000"/>
            <a:ext cx="88582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38">
                <a:solidFill>
                  <a:srgbClr val="6F6878"/>
                </a:solidFill>
                <a:latin typeface="Arial"/>
                <a:ea typeface="Arial"/>
                <a:cs typeface="Arial"/>
              </a:defRPr>
            </a:pPr>
            <a:r>
              <a:t>사용자가 보는 stream UX와 graph를 구축하는 pipeline을 같은 runtime에 섞지 않았다.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9D5E4B-B762-4C02-BC1B-130AD61F6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457200"/>
            <a:ext cx="3619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C2E12"/>
                </a:solidFill>
                <a:latin typeface="Arial"/>
                <a:ea typeface="Arial"/>
                <a:cs typeface="Arial"/>
              </a:defRPr>
            </a:pPr>
            <a: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F02F5E-B9F6-45C5-A954-207372522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478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DCD5"/>
          </a:solidFill>
          <a:ln xmlns:a="http://schemas.openxmlformats.org/drawingml/2006/main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5B0A95-ED3B-4833-B056-7B5936E2D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24150"/>
            <a:ext cx="11430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7ECE4"/>
          </a:solidFill>
          <a:ln xmlns:a="http://schemas.openxmlformats.org/drawingml/2006/main" w="9525">
            <a:solidFill>
              <a:srgbClr val="6C2E1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C96B99-7E35-4A56-B1B1-B1C57EDE1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857500"/>
            <a:ext cx="8382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51126"/>
                </a:solidFill>
                <a:latin typeface="Arial"/>
                <a:ea typeface="Arial"/>
                <a:cs typeface="Arial"/>
              </a:defRPr>
            </a:pPr>
            <a:r>
              <a:t>User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A2F026-E9BF-4FCB-A137-1A0FE4996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143250"/>
            <a:ext cx="8382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F6878"/>
                </a:solidFill>
                <a:latin typeface="Arial"/>
                <a:ea typeface="Arial"/>
                <a:cs typeface="Arial"/>
              </a:defRPr>
            </a:pPr>
            <a:r>
              <a:t>질문 입력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71FAB7-A07C-4E0E-8F3C-C879AFDD8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2952750"/>
            <a:ext cx="3048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6C2E12"/>
                </a:solidFill>
                <a:latin typeface="Arial"/>
                <a:ea typeface="Arial"/>
                <a:cs typeface="Arial"/>
              </a:defRPr>
            </a:pPr>
            <a: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1A68A9-76BC-4520-9A4B-53CDFB075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571750"/>
            <a:ext cx="190500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8F0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4F63EF-A7CD-4B40-93B4-2A028019E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705100"/>
            <a:ext cx="16002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51126"/>
                </a:solidFill>
                <a:latin typeface="Arial"/>
                <a:ea typeface="Arial"/>
                <a:cs typeface="Arial"/>
              </a:defRPr>
            </a:pPr>
            <a:r>
              <a:t>Streaming Frontend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42EA010-70A5-41DA-95C6-8935CBDD5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990850"/>
            <a:ext cx="16002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F6878"/>
                </a:solidFill>
                <a:latin typeface="Arial"/>
                <a:ea typeface="Arial"/>
                <a:cs typeface="Arial"/>
              </a:defRPr>
            </a:pPr>
            <a:r>
              <a:t>token/event stream 렌더링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17F1D31-6C49-4B66-998C-02061A920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952750"/>
            <a:ext cx="3048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6C2E12"/>
                </a:solidFill>
                <a:latin typeface="Arial"/>
                <a:ea typeface="Arial"/>
                <a:cs typeface="Arial"/>
              </a:defRPr>
            </a:pPr>
            <a: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7D721A2-9244-4DE7-98DF-D3FE15B6F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381250"/>
            <a:ext cx="2095500" cy="1409700"/>
          </a:xfrm>
          <a:prstGeom xmlns:a="http://schemas.openxmlformats.org/drawingml/2006/main" prst="roundRect">
            <a:avLst>
              <a:gd name="adj" fmla="val 8108"/>
            </a:avLst>
          </a:prstGeom>
          <a:solidFill xmlns:a="http://schemas.openxmlformats.org/drawingml/2006/main">
            <a:srgbClr val="EEEAFE"/>
          </a:solidFill>
          <a:ln xmlns:a="http://schemas.openxmlformats.org/drawingml/2006/main" w="9525">
            <a:solidFill>
              <a:srgbClr val="6655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C7F1352-5E0B-4B5E-8FF9-3560C0D1C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514600"/>
            <a:ext cx="17907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51126"/>
                </a:solidFill>
                <a:latin typeface="Arial"/>
                <a:ea typeface="Arial"/>
                <a:cs typeface="Arial"/>
              </a:defRPr>
            </a:pPr>
            <a:r>
              <a:t>Main Backend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A0E9B96-8B02-4514-9F35-B7029CF03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800350"/>
            <a:ext cx="1790700" cy="914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F6878"/>
                </a:solidFill>
                <a:latin typeface="Arial"/>
                <a:ea typeface="Arial"/>
                <a:cs typeface="Arial"/>
              </a:defRPr>
            </a:pPr>
            <a:r>
              <a:t>LLM chat runtime</a:t>
            </a:r>
          </a:p>
          <a:p xmlns:a="http://schemas.openxmlformats.org/drawingml/2006/main">
            <a:pPr>
              <a:defRPr sz="900">
                <a:solidFill>
                  <a:srgbClr val="6F6878"/>
                </a:solidFill>
                <a:latin typeface="Arial"/>
                <a:ea typeface="Arial"/>
                <a:cs typeface="Arial"/>
              </a:defRPr>
            </a:pPr>
            <a:r>
              <a:t>prompt · session · stream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F695ACB-5B8E-41A2-91C5-242BCDF1D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362450"/>
            <a:ext cx="19050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6F2FF"/>
          </a:solidFill>
          <a:ln xmlns:a="http://schemas.openxmlformats.org/drawingml/2006/main" w="9525">
            <a:solidFill>
              <a:srgbClr val="6655E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E62914F-563E-42B8-99E2-64F470049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4495800"/>
            <a:ext cx="16002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51126"/>
                </a:solidFill>
                <a:latin typeface="Arial"/>
                <a:ea typeface="Arial"/>
                <a:cs typeface="Arial"/>
              </a:defRPr>
            </a:pPr>
            <a:r>
              <a:t>LLM Provider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6654290-0B31-4B9B-9E24-C5202EC05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4781550"/>
            <a:ext cx="16002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F6878"/>
                </a:solidFill>
                <a:latin typeface="Arial"/>
                <a:ea typeface="Arial"/>
                <a:cs typeface="Arial"/>
              </a:defRPr>
            </a:pPr>
            <a:r>
              <a:t>answer synthesis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61BD2A0-ECBD-4536-BCA9-C973C2F1C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857625"/>
            <a:ext cx="285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55E8"/>
          </a:solidFill>
          <a:ln xmlns:a="http://schemas.openxmlformats.org/drawingml/2006/main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6BF93CD-79E5-489B-B21B-BA64D2E4E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952750"/>
            <a:ext cx="3048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6655E8"/>
                </a:solidFill>
                <a:latin typeface="Arial"/>
                <a:ea typeface="Arial"/>
                <a:cs typeface="Arial"/>
              </a:defRPr>
            </a:pPr>
            <a:r>
              <a:t>→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FCB467F-A50B-4492-B7DA-F14CE6D31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724150"/>
            <a:ext cx="142875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FF1D6"/>
          </a:solidFill>
          <a:ln xmlns:a="http://schemas.openxmlformats.org/drawingml/2006/main" w="9525">
            <a:solidFill>
              <a:srgbClr val="C7770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48230BC-EDBD-45BF-AAA4-EB7432B68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857500"/>
            <a:ext cx="11239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51126"/>
                </a:solidFill>
                <a:latin typeface="Arial"/>
                <a:ea typeface="Arial"/>
                <a:cs typeface="Arial"/>
              </a:defRPr>
            </a:pPr>
            <a:r>
              <a:t>MCP Client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099C4C4-E424-4E19-B6F4-A851E0D2F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143250"/>
            <a:ext cx="11239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F6878"/>
                </a:solidFill>
                <a:latin typeface="Arial"/>
                <a:ea typeface="Arial"/>
                <a:cs typeface="Arial"/>
              </a:defRPr>
            </a:pPr>
            <a:r>
              <a:t>tool call boundary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D6D2E1C-B6D6-456D-A010-494A89A22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952750"/>
            <a:ext cx="3048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C77700"/>
                </a:solidFill>
                <a:latin typeface="Arial"/>
                <a:ea typeface="Arial"/>
                <a:cs typeface="Arial"/>
              </a:defRPr>
            </a:pPr>
            <a:r>
              <a:t>→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8796217-5C49-4473-A4F7-598D1008F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590800"/>
            <a:ext cx="180975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DDF6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058527A-9135-4155-B960-6CD32E599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724150"/>
            <a:ext cx="15049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51126"/>
                </a:solidFill>
                <a:latin typeface="Arial"/>
                <a:ea typeface="Arial"/>
                <a:cs typeface="Arial"/>
              </a:defRPr>
            </a:pPr>
            <a:r>
              <a:t>RAG MCP Server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F85D257-9DCD-48B0-9006-1B42EFC00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009900"/>
            <a:ext cx="15049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F6878"/>
                </a:solidFill>
                <a:latin typeface="Arial"/>
                <a:ea typeface="Arial"/>
                <a:cs typeface="Arial"/>
              </a:defRPr>
            </a:pPr>
            <a:r>
              <a:t>read-only graph tools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91C058A-360F-4F2F-A6E3-1586D1F2B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676650"/>
            <a:ext cx="285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8842099-4A8D-4747-9606-A92248661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4229100"/>
            <a:ext cx="1809750" cy="8001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4F8EF"/>
          </a:solidFill>
          <a:ln xmlns:a="http://schemas.openxmlformats.org/drawingml/2006/main" w="9525">
            <a:solidFill>
              <a:srgbClr val="0F9F6E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593B688-4198-4717-BE88-2B600091B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362450"/>
            <a:ext cx="15049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51126"/>
                </a:solidFill>
                <a:latin typeface="Arial"/>
                <a:ea typeface="Arial"/>
                <a:cs typeface="Arial"/>
              </a:defRPr>
            </a:pPr>
            <a:r>
              <a:t>Memgraph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041D61B-41F8-44C4-AB8A-6B34D8B41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648200"/>
            <a:ext cx="15049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F6878"/>
                </a:solidFill>
                <a:latin typeface="Arial"/>
                <a:ea typeface="Arial"/>
                <a:cs typeface="Arial"/>
              </a:defRPr>
            </a:pPr>
            <a:r>
              <a:t>verified knowledge graph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31F56D1-16A5-470E-8095-BDF33EC6D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5391150"/>
            <a:ext cx="7410450" cy="495300"/>
          </a:xfrm>
          <a:prstGeom xmlns:a="http://schemas.openxmlformats.org/drawingml/2006/main" prst="roundRect">
            <a:avLst>
              <a:gd name="adj" fmla="val 26923"/>
            </a:avLst>
          </a:prstGeom>
          <a:solidFill xmlns:a="http://schemas.openxmlformats.org/drawingml/2006/main">
            <a:srgbClr val="FFF9F3"/>
          </a:solidFill>
          <a:ln xmlns:a="http://schemas.openxmlformats.org/drawingml/2006/main" w="9525">
            <a:solidFill>
              <a:srgbClr val="E2C8B0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12EF6A7-4CB0-4D1B-90EF-A66DCFD8C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5562600"/>
            <a:ext cx="68389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6C2E12"/>
                </a:solidFill>
                <a:latin typeface="Arial"/>
                <a:ea typeface="Arial"/>
                <a:cs typeface="Arial"/>
              </a:defRPr>
            </a:pPr>
            <a:r>
              <a:t>GraphRAG build path는 별도: RAG Admin FE → RAG Backend API → Task Queue → Worker → RelationshipCandidate → Human Review → Memgraph</a:t>
            </a:r>
          </a:p>
        </p:txBody>
      </p:sp>
    </p:spTree>
    <p:extLst>
      <p:ext uri="{BB962C8B-B14F-4D97-AF65-F5344CB8AC3E}">
        <p14:creationId xmlns:p14="http://schemas.microsoft.com/office/powerpoint/2010/main" val="334652562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02CD924-8D24-4172-8665-B27447279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7239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6C2E12"/>
                </a:solidFill>
                <a:latin typeface="Arial"/>
                <a:ea typeface="Arial"/>
                <a:cs typeface="Arial"/>
              </a:defRPr>
            </a:pPr>
            <a:r>
              <a:t>THREE SYSTEM BOUNDARIES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C4F344-265A-40C0-854F-F65F8F9DC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4350"/>
            <a:ext cx="96202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51126"/>
                </a:solidFill>
                <a:latin typeface="Arial"/>
                <a:ea typeface="Arial"/>
                <a:cs typeface="Arial"/>
              </a:defRPr>
            </a:pPr>
            <a:r>
              <a:t>각 영역은 서로 다른 책임을 가진다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47C2A2-86FF-455B-83DC-7D7E03FD5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43000"/>
            <a:ext cx="88582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38">
                <a:solidFill>
                  <a:srgbClr val="6F6878"/>
                </a:solidFill>
                <a:latin typeface="Arial"/>
                <a:ea typeface="Arial"/>
                <a:cs typeface="Arial"/>
              </a:defRPr>
            </a:pPr>
            <a:r>
              <a:t>최종 사용자 응답 runtime과 knowledge graph 구축 runtime을 분리한 것이 핵심 설계다.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02BFD8-E3EB-43F6-83C9-41149D33F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457200"/>
            <a:ext cx="3619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C2E12"/>
                </a:solidFill>
                <a:latin typeface="Arial"/>
                <a:ea typeface="Arial"/>
                <a:cs typeface="Arial"/>
              </a:defRPr>
            </a:pPr>
            <a: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9351DA-3173-4D75-BF53-E59B137D7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478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DCD5"/>
          </a:solidFill>
          <a:ln xmlns:a="http://schemas.openxmlformats.org/drawingml/2006/main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A0F8C9-C644-4116-A984-DE5052514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62150"/>
            <a:ext cx="3238500" cy="2971800"/>
          </a:xfrm>
          <a:prstGeom xmlns:a="http://schemas.openxmlformats.org/drawingml/2006/main" prst="roundRect">
            <a:avLst>
              <a:gd name="adj" fmla="val 6410"/>
            </a:avLst>
          </a:prstGeom>
          <a:solidFill xmlns:a="http://schemas.openxmlformats.org/drawingml/2006/main">
            <a:srgbClr val="E8F0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9521CF-B0B6-40C8-AF65-17DF9292D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2669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7CA454-6153-42C8-A6A1-17B5E515E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381250"/>
            <a:ext cx="1524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79716D-97FE-400C-8503-4FAB5D297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209800"/>
            <a:ext cx="2095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51126"/>
                </a:solidFill>
                <a:latin typeface="Arial"/>
                <a:ea typeface="Arial"/>
                <a:cs typeface="Arial"/>
              </a:defRPr>
            </a:pPr>
            <a:r>
              <a:t>Streaming Frontend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1DFCAD-E102-44BD-ADCD-D3E93C4E6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876550"/>
            <a:ext cx="25717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51126"/>
                </a:solidFill>
                <a:latin typeface="Arial"/>
                <a:ea typeface="Arial"/>
                <a:cs typeface="Arial"/>
              </a:defRPr>
            </a:pPr>
            <a:r>
              <a:t>사용자 질문 입력, token delta 렌더링, tool status/citation 표시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319DC73-6EF1-4462-BCD7-704B1E578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00500"/>
            <a:ext cx="2381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15B954-730D-4D1E-B23F-076567611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267200"/>
            <a:ext cx="23812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t>Presentation layer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E38E30E-5D1C-49C4-AA32-EC613F22A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962150"/>
            <a:ext cx="3238500" cy="2971800"/>
          </a:xfrm>
          <a:prstGeom xmlns:a="http://schemas.openxmlformats.org/drawingml/2006/main" prst="roundRect">
            <a:avLst>
              <a:gd name="adj" fmla="val 6410"/>
            </a:avLst>
          </a:prstGeom>
          <a:solidFill xmlns:a="http://schemas.openxmlformats.org/drawingml/2006/main">
            <a:srgbClr val="EEEAFE"/>
          </a:solidFill>
          <a:ln xmlns:a="http://schemas.openxmlformats.org/drawingml/2006/main" w="9525">
            <a:solidFill>
              <a:srgbClr val="6655E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5E2DB04-0CA9-4EF1-A93E-2B85F2E8D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22669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655E8"/>
          </a:solidFill>
          <a:ln xmlns:a="http://schemas.openxmlformats.org/drawingml/2006/main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FB61274-2477-46A7-B639-30642EE06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381250"/>
            <a:ext cx="1524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6F33519-01D5-4F98-BF9B-3D8A5E4A6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9225" y="2209800"/>
            <a:ext cx="2095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51126"/>
                </a:solidFill>
                <a:latin typeface="Arial"/>
                <a:ea typeface="Arial"/>
                <a:cs typeface="Arial"/>
              </a:defRPr>
            </a:pPr>
            <a:r>
              <a:t>Main Backend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41CA579-E9FC-4F69-A3E1-C9DBD893F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2876550"/>
            <a:ext cx="25717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51126"/>
                </a:solidFill>
                <a:latin typeface="Arial"/>
                <a:ea typeface="Arial"/>
                <a:cs typeface="Arial"/>
              </a:defRPr>
            </a:pPr>
            <a:r>
              <a:t>session/context 구성, prompt policy, LLM 호출, MCP tool routing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F26153E-97D6-4B0D-AA9F-CF11508F8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4000500"/>
            <a:ext cx="2381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55E8"/>
          </a:solidFill>
          <a:ln xmlns:a="http://schemas.openxmlformats.org/drawingml/2006/main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05FDE99-FE2F-4F60-A78B-F7CF8BB86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4267200"/>
            <a:ext cx="23812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655E8"/>
                </a:solidFill>
                <a:latin typeface="Arial"/>
                <a:ea typeface="Arial"/>
                <a:cs typeface="Arial"/>
              </a:defRPr>
            </a:pPr>
            <a:r>
              <a:t>Answer generation runtime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A9C4CD6-DC3B-4ACE-ADA5-983450153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962150"/>
            <a:ext cx="3238500" cy="2971800"/>
          </a:xfrm>
          <a:prstGeom xmlns:a="http://schemas.openxmlformats.org/drawingml/2006/main" prst="roundRect">
            <a:avLst>
              <a:gd name="adj" fmla="val 6410"/>
            </a:avLst>
          </a:prstGeom>
          <a:solidFill xmlns:a="http://schemas.openxmlformats.org/drawingml/2006/main">
            <a:srgbClr val="DDF6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F7B3080-75D2-4CEB-BCEE-9A80E7A86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2669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73B56BF-3845-45EB-B40F-22B025219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2381250"/>
            <a:ext cx="1524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D5F4DDD-08D8-4F59-A959-3D5436255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209800"/>
            <a:ext cx="2095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51126"/>
                </a:solidFill>
                <a:latin typeface="Arial"/>
                <a:ea typeface="Arial"/>
                <a:cs typeface="Arial"/>
              </a:defRPr>
            </a:pPr>
            <a:r>
              <a:t>GraphRAG System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F3D98CB-93F2-43B4-99F3-B34519606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876550"/>
            <a:ext cx="25717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51126"/>
                </a:solidFill>
                <a:latin typeface="Arial"/>
                <a:ea typeface="Arial"/>
                <a:cs typeface="Arial"/>
              </a:defRPr>
            </a:pPr>
            <a:r>
              <a:t>문서 업로드, graph build, review queue, memory, read-only MCP 제공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59CD7DA-95F9-4B7C-8882-F8A8040F1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000500"/>
            <a:ext cx="2381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B0804C8-8B12-4F66-AB0C-BFEDABCD2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267200"/>
            <a:ext cx="23812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t>Knowledge construction layer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68FBF58-B710-443B-BE07-A4800EE43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657850"/>
            <a:ext cx="9144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51126"/>
                </a:solidFill>
                <a:latin typeface="Arial"/>
                <a:ea typeface="Arial"/>
                <a:cs typeface="Arial"/>
              </a:defRPr>
            </a:pPr>
            <a:r>
              <a:t>한 줄 정리: RAG system은 knowledge layer이고, Main Backend는 answer generation runtime이다.</a:t>
            </a:r>
          </a:p>
        </p:txBody>
      </p:sp>
    </p:spTree>
    <p:extLst>
      <p:ext uri="{BB962C8B-B14F-4D97-AF65-F5344CB8AC3E}">
        <p14:creationId xmlns:p14="http://schemas.microsoft.com/office/powerpoint/2010/main" val="536979777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4034D14-47C1-4909-9B59-152565FCB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7239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6C2E12"/>
                </a:solidFill>
                <a:latin typeface="Arial"/>
                <a:ea typeface="Arial"/>
                <a:cs typeface="Arial"/>
              </a:defRPr>
            </a:pPr>
            <a:r>
              <a:t>STREAMING FRONTEND RUNTIME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0026F4-EB70-442E-B05D-F53FA0F8B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4350"/>
            <a:ext cx="96202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51126"/>
                </a:solidFill>
                <a:latin typeface="Arial"/>
                <a:ea typeface="Arial"/>
                <a:cs typeface="Arial"/>
              </a:defRPr>
            </a:pPr>
            <a:r>
              <a:t>Frontend는 RAG 내부를 직접 실행하지 않고 backend stream을 UX로 변환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E73152-421B-48AF-81EC-E83FAB0EB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43000"/>
            <a:ext cx="88582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38">
                <a:solidFill>
                  <a:srgbClr val="6F6878"/>
                </a:solidFill>
                <a:latin typeface="Arial"/>
                <a:ea typeface="Arial"/>
                <a:cs typeface="Arial"/>
              </a:defRPr>
            </a:pPr>
            <a:r>
              <a:t>사용자는 긴 답변을 기다리는 대신 token, tool status, evidence event를 순차적으로 본다.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01E241-CF55-4182-959B-EE169B292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457200"/>
            <a:ext cx="3619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C2E12"/>
                </a:solidFill>
                <a:latin typeface="Arial"/>
                <a:ea typeface="Arial"/>
                <a:cs typeface="Arial"/>
              </a:defRPr>
            </a:pPr>
            <a: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6A9A81-A0E1-4B2C-98C8-499AC3028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478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DCD5"/>
          </a:solidFill>
          <a:ln xmlns:a="http://schemas.openxmlformats.org/drawingml/2006/main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C28191-9889-4E18-AD9D-8A4A80E26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76550"/>
            <a:ext cx="161925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7ECE4"/>
          </a:solidFill>
          <a:ln xmlns:a="http://schemas.openxmlformats.org/drawingml/2006/main" w="9525">
            <a:solidFill>
              <a:srgbClr val="6C2E1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E48566-38F7-4B13-A0CD-36055F951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09900"/>
            <a:ext cx="13144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51126"/>
                </a:solidFill>
                <a:latin typeface="Arial"/>
                <a:ea typeface="Arial"/>
                <a:cs typeface="Arial"/>
              </a:defRPr>
            </a:pPr>
            <a:r>
              <a:t>Question Input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9A52BA-F680-4333-AD6A-4FC902C04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95650"/>
            <a:ext cx="1314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F6878"/>
                </a:solidFill>
                <a:latin typeface="Arial"/>
                <a:ea typeface="Arial"/>
                <a:cs typeface="Arial"/>
              </a:defRPr>
            </a:pPr>
            <a:r>
              <a:t>사용자가 질문 입력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00725D-6EFA-4B2F-A3AD-F76865749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105150"/>
            <a:ext cx="3048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6C2E12"/>
                </a:solidFill>
                <a:latin typeface="Arial"/>
                <a:ea typeface="Arial"/>
                <a:cs typeface="Arial"/>
              </a:defRPr>
            </a:pPr>
            <a: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A074A5-5363-419D-813C-197BF093D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876550"/>
            <a:ext cx="17145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E8F0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4BEF99-6EA9-4698-856B-D2D540D04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009900"/>
            <a:ext cx="14097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51126"/>
                </a:solidFill>
                <a:latin typeface="Arial"/>
                <a:ea typeface="Arial"/>
                <a:cs typeface="Arial"/>
              </a:defRPr>
            </a:pPr>
            <a:r>
              <a:t>Stream Request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583CAE-FC42-4735-BE64-699A5139B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295650"/>
            <a:ext cx="14097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F6878"/>
                </a:solidFill>
                <a:latin typeface="Arial"/>
                <a:ea typeface="Arial"/>
                <a:cs typeface="Arial"/>
              </a:defRPr>
            </a:pPr>
            <a:r>
              <a:t>chat stream endpoint 호출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4848D91-7E96-42EC-B8D5-4F528264F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3105150"/>
            <a:ext cx="3048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6C2E12"/>
                </a:solidFill>
                <a:latin typeface="Arial"/>
                <a:ea typeface="Arial"/>
                <a:cs typeface="Arial"/>
              </a:defRPr>
            </a:pPr>
            <a: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E949C0F-5F25-4269-A4C7-A45113E65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876550"/>
            <a:ext cx="161925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EEEAFE"/>
          </a:solidFill>
          <a:ln xmlns:a="http://schemas.openxmlformats.org/drawingml/2006/main" w="9525">
            <a:solidFill>
              <a:srgbClr val="6655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F48F61B-6D92-4560-B344-3AAF0FED2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3009900"/>
            <a:ext cx="13144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51126"/>
                </a:solidFill>
                <a:latin typeface="Arial"/>
                <a:ea typeface="Arial"/>
                <a:cs typeface="Arial"/>
              </a:defRPr>
            </a:pPr>
            <a:r>
              <a:t>Main Backend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1B7F015-461B-4A18-97D1-2597B6932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3295650"/>
            <a:ext cx="1314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F6878"/>
                </a:solidFill>
                <a:latin typeface="Arial"/>
                <a:ea typeface="Arial"/>
                <a:cs typeface="Arial"/>
              </a:defRPr>
            </a:pPr>
            <a:r>
              <a:t>agent loop 실행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9EF9254-5EFE-44BE-9C79-CFBDB8809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105150"/>
            <a:ext cx="3048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6C2E12"/>
                </a:solidFill>
                <a:latin typeface="Arial"/>
                <a:ea typeface="Arial"/>
                <a:cs typeface="Arial"/>
              </a:defRPr>
            </a:pPr>
            <a: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4CE7F03-B974-4767-AFFE-5F80B34ED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876550"/>
            <a:ext cx="17145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E4F8EF"/>
          </a:solidFill>
          <a:ln xmlns:a="http://schemas.openxmlformats.org/drawingml/2006/main" w="9525">
            <a:solidFill>
              <a:srgbClr val="0F9F6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355F89D-3201-479F-9AE1-DAAAFACED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009900"/>
            <a:ext cx="14097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51126"/>
                </a:solidFill>
                <a:latin typeface="Arial"/>
                <a:ea typeface="Arial"/>
                <a:cs typeface="Arial"/>
              </a:defRPr>
            </a:pPr>
            <a:r>
              <a:t>Event Builder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E7CC22F-FE24-4836-A5B9-BDD5E0DCE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295650"/>
            <a:ext cx="14097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F6878"/>
                </a:solidFill>
                <a:latin typeface="Arial"/>
                <a:ea typeface="Arial"/>
                <a:cs typeface="Arial"/>
              </a:defRPr>
            </a:pPr>
            <a:r>
              <a:t>stream event serialize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AFE626C-2958-4360-921D-4FC7F29DB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105150"/>
            <a:ext cx="3048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6C2E12"/>
                </a:solidFill>
                <a:latin typeface="Arial"/>
                <a:ea typeface="Arial"/>
                <a:cs typeface="Arial"/>
              </a:defRPr>
            </a:pPr>
            <a:r>
              <a:t>→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F338A83-5029-49E7-A0C7-83B3FBAD8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2876550"/>
            <a:ext cx="161925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DDF6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84F10B9-2E7E-4AB9-8720-AECC276E0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3009900"/>
            <a:ext cx="13144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51126"/>
                </a:solidFill>
                <a:latin typeface="Arial"/>
                <a:ea typeface="Arial"/>
                <a:cs typeface="Arial"/>
              </a:defRPr>
            </a:pPr>
            <a:r>
              <a:t>Live UI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E86AC2D-B5EB-4120-BF98-59377E9CF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3295650"/>
            <a:ext cx="1314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F6878"/>
                </a:solidFill>
                <a:latin typeface="Arial"/>
                <a:ea typeface="Arial"/>
                <a:cs typeface="Arial"/>
              </a:defRPr>
            </a:pPr>
            <a:r>
              <a:t>token/tool/citation 렌더링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7CCB505-F385-4706-BD14-7DD9ED43F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419600"/>
            <a:ext cx="8991600" cy="781050"/>
          </a:xfrm>
          <a:prstGeom xmlns:a="http://schemas.openxmlformats.org/drawingml/2006/main" prst="roundRect">
            <a:avLst>
              <a:gd name="adj" fmla="val 219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D8D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F05F3B9-78DA-430F-9005-C6F4FEAFE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667250"/>
            <a:ext cx="12382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F0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776C140-F2C9-4803-86E6-6F8423B56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4743450"/>
            <a:ext cx="10096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t>message.started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73C0295-C22D-4055-92AD-32707FCF7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4667250"/>
            <a:ext cx="12382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F0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EA1B4E2-8033-48DC-B2B6-AA808CA64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4743450"/>
            <a:ext cx="10096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t>token.delta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4A84D12-40CB-4462-8A88-74245A845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667250"/>
            <a:ext cx="12382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EEAFE"/>
          </a:solidFill>
          <a:ln xmlns:a="http://schemas.openxmlformats.org/drawingml/2006/main" w="9525">
            <a:solidFill>
              <a:srgbClr val="6655E8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CBA57D6-E838-4E3C-9031-86CCF5688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4743450"/>
            <a:ext cx="10096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6655E8"/>
                </a:solidFill>
                <a:latin typeface="Arial"/>
                <a:ea typeface="Arial"/>
                <a:cs typeface="Arial"/>
              </a:defRPr>
            </a:pPr>
            <a:r>
              <a:t>tool.started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B3461F0-42F0-497B-8474-B7A850181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4667250"/>
            <a:ext cx="12382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EEAFE"/>
          </a:solidFill>
          <a:ln xmlns:a="http://schemas.openxmlformats.org/drawingml/2006/main" w="9525">
            <a:solidFill>
              <a:srgbClr val="6655E8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A7B3ED0-D722-4246-B9C4-C6D9E9AF0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4743450"/>
            <a:ext cx="10096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6655E8"/>
                </a:solidFill>
                <a:latin typeface="Arial"/>
                <a:ea typeface="Arial"/>
                <a:cs typeface="Arial"/>
              </a:defRPr>
            </a:pPr>
            <a:r>
              <a:t>tool.result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08985FB-37A9-4052-98AC-3F4C9DC07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667250"/>
            <a:ext cx="12382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4F8EF"/>
          </a:solidFill>
          <a:ln xmlns:a="http://schemas.openxmlformats.org/drawingml/2006/main" w="9525">
            <a:solidFill>
              <a:srgbClr val="0F9F6E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7B7B451-6B5E-46EC-A0DA-9AF6E2342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4743450"/>
            <a:ext cx="10096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0F9F6E"/>
                </a:solidFill>
                <a:latin typeface="Arial"/>
                <a:ea typeface="Arial"/>
                <a:cs typeface="Arial"/>
              </a:defRPr>
            </a:pPr>
            <a:r>
              <a:t>citation.ready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A6707F8-0614-47AA-8738-0E7588CA3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4667250"/>
            <a:ext cx="12382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4F8EF"/>
          </a:solidFill>
          <a:ln xmlns:a="http://schemas.openxmlformats.org/drawingml/2006/main" w="9525">
            <a:solidFill>
              <a:srgbClr val="0F9F6E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3826457-F11B-485B-8CED-B27EBA1E1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4743450"/>
            <a:ext cx="10096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0F9F6E"/>
                </a:solidFill>
                <a:latin typeface="Arial"/>
                <a:ea typeface="Arial"/>
                <a:cs typeface="Arial"/>
              </a:defRPr>
            </a:pPr>
            <a:r>
              <a:t>message.completed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98CA9E7-E348-42E8-B5A2-DB6291C9B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5657850"/>
            <a:ext cx="77343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6F6878"/>
                </a:solidFill>
                <a:latin typeface="Arial"/>
                <a:ea typeface="Arial"/>
                <a:cs typeface="Arial"/>
              </a:defRPr>
            </a:pPr>
            <a:r>
              <a:t>Frontend slide에서는 RAG 구조를 설명하지 않고, stream lifecycle과 사용자 경험만 설명한다.</a:t>
            </a:r>
          </a:p>
        </p:txBody>
      </p:sp>
    </p:spTree>
    <p:extLst>
      <p:ext uri="{BB962C8B-B14F-4D97-AF65-F5344CB8AC3E}">
        <p14:creationId xmlns:p14="http://schemas.microsoft.com/office/powerpoint/2010/main" val="1508924115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992D880-281E-4DEE-B67A-F47AB3237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7239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6C2E12"/>
                </a:solidFill>
                <a:latin typeface="Arial"/>
                <a:ea typeface="Arial"/>
                <a:cs typeface="Arial"/>
              </a:defRPr>
            </a:pPr>
            <a:r>
              <a:t>MAIN BACKEND: LLM CHAT RUNTIME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968D2F-35DE-43E3-A553-FC5AD5646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4350"/>
            <a:ext cx="96202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51126"/>
                </a:solidFill>
                <a:latin typeface="Arial"/>
                <a:ea typeface="Arial"/>
                <a:cs typeface="Arial"/>
              </a:defRPr>
            </a:pPr>
            <a:r>
              <a:t>최종 답변 생성은 backend가 담당하고 RAG는 MCP tool로 호출된다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67BCA8-AFFC-46F6-8A5F-5E37E0094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43000"/>
            <a:ext cx="88582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38">
                <a:solidFill>
                  <a:srgbClr val="6F6878"/>
                </a:solidFill>
                <a:latin typeface="Arial"/>
                <a:ea typeface="Arial"/>
                <a:cs typeface="Arial"/>
              </a:defRPr>
            </a:pPr>
            <a:r>
              <a:t>backend는 prompt, session context, tool routing, LLM provider 호출, stream response를 조율한다.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78C757-C7B0-4159-A75B-229E53D4D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457200"/>
            <a:ext cx="3619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C2E12"/>
                </a:solidFill>
                <a:latin typeface="Arial"/>
                <a:ea typeface="Arial"/>
                <a:cs typeface="Arial"/>
              </a:defRPr>
            </a:pPr>
            <a: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BCD22C-2D63-4C87-A245-7B91E3714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478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DCD5"/>
          </a:solidFill>
          <a:ln xmlns:a="http://schemas.openxmlformats.org/drawingml/2006/main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42F443-4DBF-4E49-BE70-6750BA953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09750"/>
            <a:ext cx="4762500" cy="3524250"/>
          </a:xfrm>
          <a:prstGeom xmlns:a="http://schemas.openxmlformats.org/drawingml/2006/main" prst="roundRect">
            <a:avLst>
              <a:gd name="adj" fmla="val 48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D8D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ACD574-9FC1-4757-B98E-D569BF18E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95500"/>
            <a:ext cx="2667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51126"/>
                </a:solidFill>
                <a:latin typeface="Arial"/>
                <a:ea typeface="Arial"/>
                <a:cs typeface="Arial"/>
              </a:defRPr>
            </a:pPr>
            <a:r>
              <a:t>Runtime responsibilities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00AA0A-9BC6-451F-BCD0-951E76D1A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86050"/>
            <a:ext cx="1714500" cy="457200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E8F0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323723-8C61-4F27-9585-D8E025313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838450"/>
            <a:ext cx="15240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151126"/>
                </a:solidFill>
                <a:latin typeface="Arial"/>
                <a:ea typeface="Arial"/>
                <a:cs typeface="Arial"/>
              </a:defRPr>
            </a:pPr>
            <a:r>
              <a:t>Chat Stream API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AB8861-D347-4BD2-8DDE-AA80A6DDF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686050"/>
            <a:ext cx="1714500" cy="457200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EEEAFE"/>
          </a:solidFill>
          <a:ln xmlns:a="http://schemas.openxmlformats.org/drawingml/2006/main" w="9525">
            <a:solidFill>
              <a:srgbClr val="6655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0A3F42E-D66F-4D10-A473-96C318AE4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838450"/>
            <a:ext cx="15240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151126"/>
                </a:solidFill>
                <a:latin typeface="Arial"/>
                <a:ea typeface="Arial"/>
                <a:cs typeface="Arial"/>
              </a:defRPr>
            </a:pPr>
            <a:r>
              <a:t>Session / Conversation Context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021177A-DB8B-4EBC-9BA2-4F544BACC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524250"/>
            <a:ext cx="1714500" cy="457200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F7ECE4"/>
          </a:solidFill>
          <a:ln xmlns:a="http://schemas.openxmlformats.org/drawingml/2006/main" w="9525">
            <a:solidFill>
              <a:srgbClr val="6C2E1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11AEC35-4414-4F86-9532-93F78EE20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676650"/>
            <a:ext cx="15240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151126"/>
                </a:solidFill>
                <a:latin typeface="Arial"/>
                <a:ea typeface="Arial"/>
                <a:cs typeface="Arial"/>
              </a:defRPr>
            </a:pPr>
            <a:r>
              <a:t>Prompt + Policy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92820B7-57EE-485D-A79D-F664DF6C0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524250"/>
            <a:ext cx="1714500" cy="457200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EEEAFE"/>
          </a:solidFill>
          <a:ln xmlns:a="http://schemas.openxmlformats.org/drawingml/2006/main" w="9525">
            <a:solidFill>
              <a:srgbClr val="6655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1C7B276-9DD3-4726-B451-1C6F595F3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676650"/>
            <a:ext cx="15240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151126"/>
                </a:solidFill>
                <a:latin typeface="Arial"/>
                <a:ea typeface="Arial"/>
                <a:cs typeface="Arial"/>
              </a:defRPr>
            </a:pPr>
            <a:r>
              <a:t>LLM Agent Orchestrator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DBF886C-B5EF-4EAB-9930-00FC79D61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362450"/>
            <a:ext cx="1714500" cy="457200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FFF1D6"/>
          </a:solidFill>
          <a:ln xmlns:a="http://schemas.openxmlformats.org/drawingml/2006/main" w="9525">
            <a:solidFill>
              <a:srgbClr val="C777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2D29D13-AE7E-4A48-8C7E-51B8C4AC8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514850"/>
            <a:ext cx="15240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151126"/>
                </a:solidFill>
                <a:latin typeface="Arial"/>
                <a:ea typeface="Arial"/>
                <a:cs typeface="Arial"/>
              </a:defRPr>
            </a:pPr>
            <a:r>
              <a:t>MCP Tool Router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B6A149A-086A-4F68-869C-252AFEF79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4362450"/>
            <a:ext cx="1714500" cy="457200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E4F8EF"/>
          </a:solidFill>
          <a:ln xmlns:a="http://schemas.openxmlformats.org/drawingml/2006/main" w="9525">
            <a:solidFill>
              <a:srgbClr val="0F9F6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3E6F16D-540A-45A7-BF66-078E37B5D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4514850"/>
            <a:ext cx="15240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151126"/>
                </a:solidFill>
                <a:latin typeface="Arial"/>
                <a:ea typeface="Arial"/>
                <a:cs typeface="Arial"/>
              </a:defRPr>
            </a:pPr>
            <a:r>
              <a:t>Stream Event Builder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E5A7A28-F20A-4F4E-AD07-E75011D2B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800350"/>
            <a:ext cx="3048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6655E8"/>
                </a:solidFill>
                <a:latin typeface="Arial"/>
                <a:ea typeface="Arial"/>
                <a:cs typeface="Arial"/>
              </a:defRPr>
            </a:pPr>
            <a:r>
              <a:t>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D853777-DE15-4B80-B850-1194D0917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3638550"/>
            <a:ext cx="3048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6655E8"/>
                </a:solidFill>
                <a:latin typeface="Arial"/>
                <a:ea typeface="Arial"/>
                <a:cs typeface="Arial"/>
              </a:defRPr>
            </a:pPr>
            <a:r>
              <a:t>→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3BA49C1-3CFE-4941-9D0D-4C458E7C5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4476750"/>
            <a:ext cx="3048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6655E8"/>
                </a:solidFill>
                <a:latin typeface="Arial"/>
                <a:ea typeface="Arial"/>
                <a:cs typeface="Arial"/>
              </a:defRPr>
            </a:pPr>
            <a:r>
              <a:t>→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A2DEAF8-F90D-4C32-8C00-1B70CFCBF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1809750"/>
            <a:ext cx="5810250" cy="3524250"/>
          </a:xfrm>
          <a:prstGeom xmlns:a="http://schemas.openxmlformats.org/drawingml/2006/main" prst="roundRect">
            <a:avLst>
              <a:gd name="adj" fmla="val 4865"/>
            </a:avLst>
          </a:prstGeom>
          <a:solidFill xmlns:a="http://schemas.openxmlformats.org/drawingml/2006/main">
            <a:srgbClr val="FAF9F7"/>
          </a:solidFill>
          <a:ln xmlns:a="http://schemas.openxmlformats.org/drawingml/2006/main" w="9525">
            <a:solidFill>
              <a:srgbClr val="D8CBC2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0AD7BBA-6EEF-4F63-B852-D756D86AB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038350"/>
            <a:ext cx="2286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6C2E12"/>
                </a:solidFill>
                <a:latin typeface="Arial"/>
                <a:ea typeface="Arial"/>
                <a:cs typeface="Arial"/>
              </a:defRPr>
            </a:pPr>
            <a:r>
              <a:t>실제 backend flow reference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7B73325-51DC-4A65-B8AC-23CA69995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057400"/>
            <a:ext cx="16192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788">
                <a:solidFill>
                  <a:srgbClr val="6F6878"/>
                </a:solidFill>
                <a:latin typeface="Arial"/>
                <a:ea typeface="Arial"/>
                <a:cs typeface="Arial"/>
              </a:defRPr>
            </a:pPr>
            <a:r>
              <a:t>source: backend/flow.PNG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FBCFDD0-9072-46FA-BD9F-5280470CD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343150"/>
            <a:ext cx="5505450" cy="2800350"/>
          </a:xfrm>
          <a:prstGeom xmlns:a="http://schemas.openxmlformats.org/drawingml/2006/main" prst="roundRect">
            <a:avLst>
              <a:gd name="adj" fmla="val 40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DCD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27FE983-3F64-4974-AF4A-9BA3A261C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562350"/>
            <a:ext cx="1333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975">
                <a:solidFill>
                  <a:srgbClr val="6F6878"/>
                </a:solidFill>
                <a:latin typeface="Arial"/>
                <a:ea typeface="Arial"/>
                <a:cs typeface="Arial"/>
              </a:defRPr>
            </a:pPr>
            <a:r>
              <a:t>image loading...</a:t>
            </a:r>
          </a:p>
        </p:txBody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89aeaf0131547ff"/>
          <a:stretch xmlns:a="http://schemas.openxmlformats.org/drawingml/2006/main"/>
        </p:blipFill>
        <p:spPr>
          <a:xfrm xmlns:a="http://schemas.openxmlformats.org/drawingml/2006/main">
            <a:off x="6797810" y="2381250"/>
            <a:ext cx="3682730" cy="27241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8143643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EBE37C6-2984-4FBB-BEB9-A6C162BD7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7239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6C2E12"/>
                </a:solidFill>
                <a:latin typeface="Arial"/>
                <a:ea typeface="Arial"/>
                <a:cs typeface="Arial"/>
              </a:defRPr>
            </a:pPr>
            <a:r>
              <a:t>BACKEND TO RAG VIA MCP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0A58DD-40D6-438B-BD3D-1FE4D0C6B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4350"/>
            <a:ext cx="96202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51126"/>
                </a:solidFill>
                <a:latin typeface="Arial"/>
                <a:ea typeface="Arial"/>
                <a:cs typeface="Arial"/>
              </a:defRPr>
            </a:pPr>
            <a:r>
              <a:t>MCP는 answer runtime과 GraphRAG system 사이의 read-only boundary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F91D4F-1A39-4D8F-91A3-21AA70B91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43000"/>
            <a:ext cx="88582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38">
                <a:solidFill>
                  <a:srgbClr val="6F6878"/>
                </a:solidFill>
                <a:latin typeface="Arial"/>
                <a:ea typeface="Arial"/>
                <a:cs typeface="Arial"/>
              </a:defRPr>
            </a:pPr>
            <a:r>
              <a:t>Main Backend는 graph를 수정하지 않고, RAG MCP server의 조회 tool만 호출한다.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558C5C-1031-43B3-B748-6A460EE3B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457200"/>
            <a:ext cx="3619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C2E12"/>
                </a:solidFill>
                <a:latin typeface="Arial"/>
                <a:ea typeface="Arial"/>
                <a:cs typeface="Arial"/>
              </a:defRPr>
            </a:pPr>
            <a: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566F62-7622-49EE-BD5C-10C017B20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478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DCD5"/>
          </a:solidFill>
          <a:ln xmlns:a="http://schemas.openxmlformats.org/drawingml/2006/main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592B3B-E7BF-431B-A967-81C2BF266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05100"/>
            <a:ext cx="219075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EEEAFE"/>
          </a:solidFill>
          <a:ln xmlns:a="http://schemas.openxmlformats.org/drawingml/2006/main" w="9525">
            <a:solidFill>
              <a:srgbClr val="6655E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462723-2669-40CE-AF25-C5AADEC47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838450"/>
            <a:ext cx="18859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51126"/>
                </a:solidFill>
                <a:latin typeface="Arial"/>
                <a:ea typeface="Arial"/>
                <a:cs typeface="Arial"/>
              </a:defRPr>
            </a:pPr>
            <a:r>
              <a:t>Main Backend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EAE673-D3A2-43CA-9CBB-F57677796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124200"/>
            <a:ext cx="18859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F6878"/>
                </a:solidFill>
                <a:latin typeface="Arial"/>
                <a:ea typeface="Arial"/>
                <a:cs typeface="Arial"/>
              </a:defRPr>
            </a:pPr>
            <a:r>
              <a:t>Answer Runtime</a:t>
            </a:r>
          </a:p>
          <a:p xmlns:a="http://schemas.openxmlformats.org/drawingml/2006/main">
            <a:pPr>
              <a:defRPr sz="900">
                <a:solidFill>
                  <a:srgbClr val="6F6878"/>
                </a:solidFill>
                <a:latin typeface="Arial"/>
                <a:ea typeface="Arial"/>
                <a:cs typeface="Arial"/>
              </a:defRPr>
            </a:pPr>
            <a:r>
              <a:t>LLM agent · prompt · stream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F2F98D-2412-4C52-B5D2-61A22D42D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067050"/>
            <a:ext cx="3048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6655E8"/>
                </a:solidFill>
                <a:latin typeface="Arial"/>
                <a:ea typeface="Arial"/>
                <a:cs typeface="Arial"/>
              </a:defRPr>
            </a:pPr>
            <a: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D4CA91-26F5-4045-97E5-79A9AD51F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895600"/>
            <a:ext cx="15240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FF1D6"/>
          </a:solidFill>
          <a:ln xmlns:a="http://schemas.openxmlformats.org/drawingml/2006/main" w="9525">
            <a:solidFill>
              <a:srgbClr val="C777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C2D51F-57D7-4419-BDD4-5C926D4E4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3028950"/>
            <a:ext cx="12192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51126"/>
                </a:solidFill>
                <a:latin typeface="Arial"/>
                <a:ea typeface="Arial"/>
                <a:cs typeface="Arial"/>
              </a:defRPr>
            </a:pPr>
            <a:r>
              <a:t>MCP Client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86A9E03-7549-45B2-B8BE-1653892F7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3314700"/>
            <a:ext cx="12192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F6878"/>
                </a:solidFill>
                <a:latin typeface="Arial"/>
                <a:ea typeface="Arial"/>
                <a:cs typeface="Arial"/>
              </a:defRPr>
            </a:pPr>
            <a:r>
              <a:t>tool call adapter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4D77C25-568B-4364-8E0E-717F1DD2F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067050"/>
            <a:ext cx="3048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C77700"/>
                </a:solidFill>
                <a:latin typeface="Arial"/>
                <a:ea typeface="Arial"/>
                <a:cs typeface="Arial"/>
              </a:defRPr>
            </a:pPr>
            <a: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0B380C6-0709-483C-9828-B42629AE0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057400"/>
            <a:ext cx="2476500" cy="2362200"/>
          </a:xfrm>
          <a:prstGeom xmlns:a="http://schemas.openxmlformats.org/drawingml/2006/main" prst="roundRect">
            <a:avLst>
              <a:gd name="adj" fmla="val 725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AFEA951-372C-4802-BD66-7D4C2D62B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362200"/>
            <a:ext cx="1905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51126"/>
                </a:solidFill>
                <a:latin typeface="Arial"/>
                <a:ea typeface="Arial"/>
                <a:cs typeface="Arial"/>
              </a:defRPr>
            </a:pPr>
            <a:r>
              <a:t>RAG MCP Server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CAA3BB8-6E7A-41C4-8162-661B4C819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838450"/>
            <a:ext cx="12382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F0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E0ED159-0057-48AB-A89B-A85A25140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914650"/>
            <a:ext cx="10096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t>schema_read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8EC8841-BA93-4260-8C7D-336CB2847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257550"/>
            <a:ext cx="12382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F0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43436C6-31C2-43E9-B7D0-ED6501831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333750"/>
            <a:ext cx="10096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t>text_search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B17FF8C-4BDD-4A10-ACAA-BF8F66E7B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676650"/>
            <a:ext cx="12382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F0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39A5BAF-2C96-4B97-8B62-738B2BA60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752850"/>
            <a:ext cx="10096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t>vector_search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32A2DAE-5E18-41E7-9FEA-0764E0A11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095750"/>
            <a:ext cx="13716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F0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FDD19A4-FA7E-4C25-9806-8DA6F1616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171950"/>
            <a:ext cx="11430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t>graph_traverse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DE1B091-B251-4B3A-8D81-F455BB9D4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067050"/>
            <a:ext cx="3048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t>→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B6FC2B0-B65E-4BB9-8D43-99DDF8961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724150"/>
            <a:ext cx="20955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DDF6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1277879-9BF8-4EF8-8E4B-74A171530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857500"/>
            <a:ext cx="17907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51126"/>
                </a:solidFill>
                <a:latin typeface="Arial"/>
                <a:ea typeface="Arial"/>
                <a:cs typeface="Arial"/>
              </a:defRPr>
            </a:pPr>
            <a:r>
              <a:t>Memgraph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D37FAE4-E662-4996-A837-4A007A771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143250"/>
            <a:ext cx="17907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F6878"/>
                </a:solidFill>
                <a:latin typeface="Arial"/>
                <a:ea typeface="Arial"/>
                <a:cs typeface="Arial"/>
              </a:defRPr>
            </a:pPr>
            <a:r>
              <a:t>Document · Chunk · Edge · Memory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CC5CDB9-292F-4609-8AA1-EEFD0B0C0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914900"/>
            <a:ext cx="314325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E4F8EF"/>
          </a:solidFill>
          <a:ln xmlns:a="http://schemas.openxmlformats.org/drawingml/2006/main" w="9525">
            <a:solidFill>
              <a:srgbClr val="0F9F6E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CED9AC3-273B-42E8-88CC-308C42670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5048250"/>
            <a:ext cx="28384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51126"/>
                </a:solidFill>
                <a:latin typeface="Arial"/>
                <a:ea typeface="Arial"/>
                <a:cs typeface="Arial"/>
              </a:defRPr>
            </a:pPr>
            <a:r>
              <a:t>GraphRAG Builder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C02B0AF-92A3-47A7-BFFE-D0321107E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5334000"/>
            <a:ext cx="28384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F6878"/>
                </a:solidFill>
                <a:latin typeface="Arial"/>
                <a:ea typeface="Arial"/>
                <a:cs typeface="Arial"/>
              </a:defRPr>
            </a:pPr>
            <a:r>
              <a:t>Ingest / Review / Memory pipeline만 approved graph write 수행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B5EECE3-5C30-4292-B603-BE781D0A3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191000"/>
            <a:ext cx="2095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BE3455"/>
                </a:solidFill>
                <a:latin typeface="Arial"/>
                <a:ea typeface="Arial"/>
                <a:cs typeface="Arial"/>
              </a:defRPr>
            </a:pPr>
            <a:r>
              <a:t>no write from answer runtime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313ED4C-00E1-46C4-8399-28B917769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5753100"/>
            <a:ext cx="8096250" cy="4000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FF9F3"/>
          </a:solidFill>
          <a:ln xmlns:a="http://schemas.openxmlformats.org/drawingml/2006/main" w="9525">
            <a:solidFill>
              <a:srgbClr val="E2C8B0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486B0A7-3F75-49ED-B1FC-5D9893EF8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5867400"/>
            <a:ext cx="75247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6C2E12"/>
                </a:solidFill>
                <a:latin typeface="Arial"/>
                <a:ea typeface="Arial"/>
                <a:cs typeface="Arial"/>
              </a:defRPr>
            </a:pPr>
            <a:r>
              <a:t>이 구조 덕분에 외부 agent나 최종 backend가 같은 graph를 안정적으로 조회할 수 있다.</a:t>
            </a:r>
          </a:p>
        </p:txBody>
      </p:sp>
    </p:spTree>
    <p:extLst>
      <p:ext uri="{BB962C8B-B14F-4D97-AF65-F5344CB8AC3E}">
        <p14:creationId xmlns:p14="http://schemas.microsoft.com/office/powerpoint/2010/main" val="1496386542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77522A3-5412-46E9-8D65-3295CE839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7239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6C2E12"/>
                </a:solidFill>
                <a:latin typeface="Arial"/>
                <a:ea typeface="Arial"/>
                <a:cs typeface="Arial"/>
              </a:defRPr>
            </a:pPr>
            <a:r>
              <a:t>ACTUAL MEMGRAPH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6F26F0-7E09-4C5E-867C-B2EE66CBD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4350"/>
            <a:ext cx="96202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51126"/>
                </a:solidFill>
                <a:latin typeface="Arial"/>
                <a:ea typeface="Arial"/>
                <a:cs typeface="Arial"/>
              </a:defRPr>
            </a:pPr>
            <a:r>
              <a:t>실제 DB에는 검수 후보, chunk, review note, memory가 graph로 연결되어 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E4FD83-D1C2-42C6-BCC9-CC4128740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43000"/>
            <a:ext cx="88582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38">
                <a:solidFill>
                  <a:srgbClr val="6F6878"/>
                </a:solidFill>
                <a:latin typeface="Arial"/>
                <a:ea typeface="Arial"/>
                <a:cs typeface="Arial"/>
              </a:defRPr>
            </a:pPr>
            <a:r>
              <a:t>Memgraph Lab에서 같은 쿼리로 확인한 결과다. 발표용 mock이 아니라 현재 DB의 graph results 화면을 사용한다.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79640E-4B60-49A5-BB89-D0606C9ED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457200"/>
            <a:ext cx="3619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C2E12"/>
                </a:solidFill>
                <a:latin typeface="Arial"/>
                <a:ea typeface="Arial"/>
                <a:cs typeface="Arial"/>
              </a:defRPr>
            </a:pPr>
            <a: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485385-0554-405F-B0EC-0D90B578C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478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DCD5"/>
          </a:solidFill>
          <a:ln xmlns:a="http://schemas.openxmlformats.org/drawingml/2006/main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178117-F9E8-4181-92F6-DDDA43E53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5810250" cy="371475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D8D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2FD373-60C9-4A2B-B97B-69A29AE32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76450"/>
            <a:ext cx="2857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51126"/>
                </a:solidFill>
                <a:latin typeface="Arial"/>
                <a:ea typeface="Arial"/>
                <a:cs typeface="Arial"/>
              </a:defRPr>
            </a:pPr>
            <a:r>
              <a:t>Memgraph Lab graph result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73FD90-A834-4230-B225-4AA864EB8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133600"/>
            <a:ext cx="20002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825">
                <a:solidFill>
                  <a:srgbClr val="6F6878"/>
                </a:solidFill>
                <a:latin typeface="Arial"/>
                <a:ea typeface="Arial"/>
                <a:cs typeface="Arial"/>
              </a:defRPr>
            </a:pPr>
            <a:r>
              <a:t>MATCH p=()-[]-() RETURN 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4ECC17-F52C-493C-A775-70E353F14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57450"/>
            <a:ext cx="5219700" cy="2705100"/>
          </a:xfrm>
          <a:prstGeom xmlns:a="http://schemas.openxmlformats.org/drawingml/2006/main" prst="roundRect">
            <a:avLst>
              <a:gd name="adj" fmla="val 4225"/>
            </a:avLst>
          </a:prstGeom>
          <a:solidFill xmlns:a="http://schemas.openxmlformats.org/drawingml/2006/main">
            <a:srgbClr val="FBFAF8"/>
          </a:solidFill>
          <a:ln xmlns:a="http://schemas.openxmlformats.org/drawingml/2006/main" w="9525">
            <a:solidFill>
              <a:srgbClr val="EFE7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707CB4-5334-44D5-AAEB-39F8110A6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3695700"/>
            <a:ext cx="1714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975">
                <a:solidFill>
                  <a:srgbClr val="6F6878"/>
                </a:solidFill>
                <a:latin typeface="Arial"/>
                <a:ea typeface="Arial"/>
                <a:cs typeface="Arial"/>
              </a:defRPr>
            </a:pPr>
            <a:r>
              <a:t>graph image loading...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3B3957-D858-4EB7-A041-349E194E7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1809750"/>
            <a:ext cx="4762500" cy="371475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FFCF8"/>
          </a:solidFill>
          <a:ln xmlns:a="http://schemas.openxmlformats.org/drawingml/2006/main" w="9525">
            <a:solidFill>
              <a:srgbClr val="E2D8D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AE4A458-9750-4D2A-A342-86F2EF65D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076450"/>
            <a:ext cx="2381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51126"/>
                </a:solidFill>
                <a:latin typeface="Arial"/>
                <a:ea typeface="Arial"/>
                <a:cs typeface="Arial"/>
              </a:defRPr>
            </a:pPr>
            <a:r>
              <a:t>Current graph facts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8EE6F97-27F5-4586-B212-A0362EDCF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552700"/>
            <a:ext cx="1295400" cy="742950"/>
          </a:xfrm>
          <a:prstGeom xmlns:a="http://schemas.openxmlformats.org/drawingml/2006/main" prst="roundRect">
            <a:avLst>
              <a:gd name="adj" fmla="val 128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D8D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2D31B9D-5182-4813-8E60-492202BD1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686050"/>
            <a:ext cx="952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6655E8"/>
                </a:solidFill>
                <a:latin typeface="Arial"/>
                <a:ea typeface="Arial"/>
                <a:cs typeface="Arial"/>
              </a:defRPr>
            </a:pPr>
            <a:r>
              <a:t>87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E02A4AD-5251-4701-9514-481DC79B0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009900"/>
            <a:ext cx="952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788">
                <a:solidFill>
                  <a:srgbClr val="6F6878"/>
                </a:solidFill>
                <a:latin typeface="Arial"/>
                <a:ea typeface="Arial"/>
                <a:cs typeface="Arial"/>
              </a:defRPr>
            </a:pPr>
            <a:r>
              <a:t>nodes in current Memgraph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A33A704-DBB6-4289-8C75-7048F05CB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552700"/>
            <a:ext cx="1295400" cy="742950"/>
          </a:xfrm>
          <a:prstGeom xmlns:a="http://schemas.openxmlformats.org/drawingml/2006/main" prst="roundRect">
            <a:avLst>
              <a:gd name="adj" fmla="val 128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D8D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C23B759-25B0-423B-B89B-AC4AA43A6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686050"/>
            <a:ext cx="952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t>213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22D3D85-5899-4E3B-B6EF-BEB167F78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009900"/>
            <a:ext cx="952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788">
                <a:solidFill>
                  <a:srgbClr val="6F6878"/>
                </a:solidFill>
                <a:latin typeface="Arial"/>
                <a:ea typeface="Arial"/>
                <a:cs typeface="Arial"/>
              </a:defRPr>
            </a:pPr>
            <a:r>
              <a:t>edges in current Memgraph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08AEFD1-14E3-4377-BC42-214BC9838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2552700"/>
            <a:ext cx="1295400" cy="742950"/>
          </a:xfrm>
          <a:prstGeom xmlns:a="http://schemas.openxmlformats.org/drawingml/2006/main" prst="roundRect">
            <a:avLst>
              <a:gd name="adj" fmla="val 128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D8D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57B4272-A09F-4979-A63B-F41D11C9D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2686050"/>
            <a:ext cx="952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C77700"/>
                </a:solidFill>
                <a:latin typeface="Arial"/>
                <a:ea typeface="Arial"/>
                <a:cs typeface="Arial"/>
              </a:defRPr>
            </a:pPr>
            <a:r>
              <a:t>42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B48B50F-7367-4D71-8A9A-7EAB15C74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3009900"/>
            <a:ext cx="952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788">
                <a:solidFill>
                  <a:srgbClr val="6F6878"/>
                </a:solidFill>
                <a:latin typeface="Arial"/>
                <a:ea typeface="Arial"/>
                <a:cs typeface="Arial"/>
              </a:defRPr>
            </a:pPr>
            <a:r>
              <a:t>RelationshipCandidate nodes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C201F33-76D5-48CC-98BF-F37EDF1F8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562350"/>
            <a:ext cx="1143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F6878"/>
                </a:solidFill>
                <a:latin typeface="Arial"/>
                <a:ea typeface="Arial"/>
                <a:cs typeface="Arial"/>
              </a:defRPr>
            </a:pPr>
            <a:r>
              <a:t>Node labels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EFD34F0-9E7C-4CA9-9ABF-A008C3738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829050"/>
            <a:ext cx="1047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F0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718AA66-D6F6-4468-887C-4146BEAAC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905250"/>
            <a:ext cx="8191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t>Document 2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D7D063C-40D3-4C8E-90D5-AC2B499EC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829050"/>
            <a:ext cx="9525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F6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30DB2EB-D067-48B8-9A85-B15CF1F2C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905250"/>
            <a:ext cx="7239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t>Chunk 35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AE9F5D0-E490-45F3-8F74-AD948E01C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829050"/>
            <a:ext cx="11811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1D6"/>
          </a:solidFill>
          <a:ln xmlns:a="http://schemas.openxmlformats.org/drawingml/2006/main" w="9525">
            <a:solidFill>
              <a:srgbClr val="C7770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6120A65-26CC-4AF1-AF00-D68EEE230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905250"/>
            <a:ext cx="9525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C77700"/>
                </a:solidFill>
                <a:latin typeface="Arial"/>
                <a:ea typeface="Arial"/>
                <a:cs typeface="Arial"/>
              </a:defRPr>
            </a:pPr>
            <a:r>
              <a:t>Candidate 42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98BA079-48B8-44BD-9194-DC3CC8087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210050"/>
            <a:ext cx="11811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E7EF"/>
          </a:solidFill>
          <a:ln xmlns:a="http://schemas.openxmlformats.org/drawingml/2006/main" w="9525">
            <a:solidFill>
              <a:srgbClr val="BE3455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D02D64D-9860-4ED6-8BD4-4309CE255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286250"/>
            <a:ext cx="9525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BE3455"/>
                </a:solidFill>
                <a:latin typeface="Arial"/>
                <a:ea typeface="Arial"/>
                <a:cs typeface="Arial"/>
              </a:defRPr>
            </a:pPr>
            <a:r>
              <a:t>ReviewNote 5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341C159-50C2-4D37-B479-4AC7D63C3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210050"/>
            <a:ext cx="9525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EEAFE"/>
          </a:solidFill>
          <a:ln xmlns:a="http://schemas.openxmlformats.org/drawingml/2006/main" w="9525">
            <a:solidFill>
              <a:srgbClr val="6655E8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A6B9ADD-30D3-43E8-B2B4-D01FD5BE7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286250"/>
            <a:ext cx="7239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6655E8"/>
                </a:solidFill>
                <a:latin typeface="Arial"/>
                <a:ea typeface="Arial"/>
                <a:cs typeface="Arial"/>
              </a:defRPr>
            </a:pPr>
            <a:r>
              <a:t>Memory 1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C458F76-EF74-46AE-A825-5B5FEDE07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4210050"/>
            <a:ext cx="10668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4F8EF"/>
          </a:solidFill>
          <a:ln xmlns:a="http://schemas.openxmlformats.org/drawingml/2006/main" w="9525">
            <a:solidFill>
              <a:srgbClr val="0F9F6E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0942145-3335-4B82-AFCC-DECAA294F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4286250"/>
            <a:ext cx="8382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0F9F6E"/>
                </a:solidFill>
                <a:latin typeface="Arial"/>
                <a:ea typeface="Arial"/>
                <a:cs typeface="Arial"/>
              </a:defRPr>
            </a:pPr>
            <a:r>
              <a:t>IngestJob 2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4F3491B-E65A-4E84-83B4-D1747B704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762500"/>
            <a:ext cx="1143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F6878"/>
                </a:solidFill>
                <a:latin typeface="Arial"/>
                <a:ea typeface="Arial"/>
                <a:cs typeface="Arial"/>
              </a:defRPr>
            </a:pPr>
            <a:r>
              <a:t>Top edge types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C12FDB6-3976-44AA-A7CC-4956018DA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5029200"/>
            <a:ext cx="36766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151126"/>
                </a:solidFill>
                <a:latin typeface="Arial"/>
                <a:ea typeface="Arial"/>
                <a:cs typeface="Arial"/>
              </a:defRPr>
            </a:pPr>
            <a:r>
              <a:t>CANDIDATE_LEFT / CANDIDATE_RIGHT / EVIDENCES_RELATIONSHIP_CANDIDATE / HAS_CHUNK / RELATED_TO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DC73BA3-4931-42BF-9775-22A2809E4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753100"/>
            <a:ext cx="8763000" cy="4000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FF9F3"/>
          </a:solidFill>
          <a:ln xmlns:a="http://schemas.openxmlformats.org/drawingml/2006/main" w="9525">
            <a:solidFill>
              <a:srgbClr val="E2C8B0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2DF677A-5A22-4E88-846D-5762315B8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867400"/>
            <a:ext cx="8191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088" b="1">
                <a:solidFill>
                  <a:srgbClr val="6C2E12"/>
                </a:solidFill>
                <a:latin typeface="Arial"/>
                <a:ea typeface="Arial"/>
                <a:cs typeface="Arial"/>
              </a:defRPr>
            </a:pPr>
            <a:r>
              <a:t>핵심 증거: LLM output이 곧 edge가 아니라, Candidate와 ReviewNote를 거쳐 Memory/approved edge로 이어지는 graph 구조가 실제 DB에 존재한다.</a:t>
            </a:r>
          </a:p>
        </p:txBody>
      </p:sp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acf70faef64c2c"/>
          <a:stretch xmlns:a="http://schemas.openxmlformats.org/drawingml/2006/main"/>
        </p:blipFill>
        <p:spPr>
          <a:xfrm xmlns:a="http://schemas.openxmlformats.org/drawingml/2006/main">
            <a:off x="2027001" y="2514600"/>
            <a:ext cx="2918298" cy="25717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1118387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C212F23-B112-4EDA-BA23-9F824C35D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7239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6C2E12"/>
                </a:solidFill>
                <a:latin typeface="Arial"/>
                <a:ea typeface="Arial"/>
                <a:cs typeface="Arial"/>
              </a:defRPr>
            </a:pPr>
            <a:r>
              <a:t>NODE / EDGE SCHEMA AND CONSTRUCTION PIPELINE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FC4FFA-B125-474C-B15D-D0A65A09F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4350"/>
            <a:ext cx="96202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51126"/>
                </a:solidFill>
                <a:latin typeface="Arial"/>
                <a:ea typeface="Arial"/>
                <a:cs typeface="Arial"/>
              </a:defRPr>
            </a:pPr>
            <a:r>
              <a:t>DB schema는 document chunking, candidate review, memory feedback을 분리한다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34D226-A5DB-4BAA-8D01-F07A4F259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43000"/>
            <a:ext cx="88582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38">
                <a:solidFill>
                  <a:srgbClr val="6F6878"/>
                </a:solidFill>
                <a:latin typeface="Arial"/>
                <a:ea typeface="Arial"/>
                <a:cs typeface="Arial"/>
              </a:defRPr>
            </a:pPr>
            <a:r>
              <a:t>pipeline은 같은 graph DB에 쓰지만, candidate와 approved edge의 의미를 다르게 유지한다.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AD22D5-8E43-4D86-9A0F-B38B21E16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457200"/>
            <a:ext cx="3619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C2E12"/>
                </a:solidFill>
                <a:latin typeface="Arial"/>
                <a:ea typeface="Arial"/>
                <a:cs typeface="Arial"/>
              </a:defRPr>
            </a:pPr>
            <a: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399FA5-0732-41A9-BB72-6AE528E48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478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DCD5"/>
          </a:solidFill>
          <a:ln xmlns:a="http://schemas.openxmlformats.org/drawingml/2006/main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D1919D-114A-40CC-8E51-D650ECDF9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09750"/>
            <a:ext cx="5334000" cy="371475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D8D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5B0BB9-B0DC-464C-AD9C-C57FB9807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76450"/>
            <a:ext cx="2857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51126"/>
                </a:solidFill>
                <a:latin typeface="Arial"/>
                <a:ea typeface="Arial"/>
                <a:cs typeface="Arial"/>
              </a:defRPr>
            </a:pPr>
            <a:r>
              <a:t>Clean node / edge structure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061E0D-098A-4311-9F6D-91EE7464C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81250"/>
            <a:ext cx="40957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F6878"/>
                </a:solidFill>
                <a:latin typeface="Arial"/>
                <a:ea typeface="Arial"/>
                <a:cs typeface="Arial"/>
              </a:defRPr>
            </a:pPr>
            <a:r>
              <a:t>candidate는 검수용 artifact, approved edge는 별도 graph truth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742558-E4B9-4F92-853C-0FCB5F348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81300"/>
            <a:ext cx="146685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8F0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0AF93D-4B37-4740-B6ED-DE4FDB5C4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971800"/>
            <a:ext cx="11239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51126"/>
                </a:solidFill>
                <a:latin typeface="Arial"/>
                <a:ea typeface="Arial"/>
                <a:cs typeface="Arial"/>
              </a:defRPr>
            </a:pPr>
            <a:r>
              <a:t>Document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707B1C-BA0D-4268-8286-C534766F9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219450"/>
            <a:ext cx="9906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788">
                <a:solidFill>
                  <a:srgbClr val="6F6878"/>
                </a:solidFill>
                <a:latin typeface="Arial"/>
                <a:ea typeface="Arial"/>
                <a:cs typeface="Arial"/>
              </a:defRPr>
            </a:pPr>
            <a:r>
              <a:t>raw content</a:t>
            </a:r>
          </a:p>
          <a:p xmlns:a="http://schemas.openxmlformats.org/drawingml/2006/main">
            <a:pPr>
              <a:defRPr sz="788">
                <a:solidFill>
                  <a:srgbClr val="6F6878"/>
                </a:solidFill>
                <a:latin typeface="Arial"/>
                <a:ea typeface="Arial"/>
                <a:cs typeface="Arial"/>
              </a:defRPr>
            </a:pPr>
            <a:r>
              <a:t>metadata</a:t>
            </a:r>
          </a:p>
          <a:p xmlns:a="http://schemas.openxmlformats.org/drawingml/2006/main">
            <a:pPr>
              <a:defRPr sz="788">
                <a:solidFill>
                  <a:srgbClr val="6F6878"/>
                </a:solidFill>
                <a:latin typeface="Arial"/>
                <a:ea typeface="Arial"/>
                <a:cs typeface="Arial"/>
              </a:defRPr>
            </a:pPr>
            <a:r>
              <a:t>DB UUID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C2C0B9C-2656-49C8-AD39-DC0467B85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781300"/>
            <a:ext cx="15621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DF6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577E744-5999-420B-A5B2-97129EC3A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971800"/>
            <a:ext cx="11239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51126"/>
                </a:solidFill>
                <a:latin typeface="Arial"/>
                <a:ea typeface="Arial"/>
                <a:cs typeface="Arial"/>
              </a:defRPr>
            </a:pPr>
            <a:r>
              <a:t>Chunk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EFE53DC-6CFB-4C3F-A758-E09685F37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219450"/>
            <a:ext cx="12192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788">
                <a:solidFill>
                  <a:srgbClr val="6F6878"/>
                </a:solidFill>
                <a:latin typeface="Arial"/>
                <a:ea typeface="Arial"/>
                <a:cs typeface="Arial"/>
              </a:defRPr>
            </a:pPr>
            <a:r>
              <a:t>text + embedding</a:t>
            </a:r>
          </a:p>
          <a:p xmlns:a="http://schemas.openxmlformats.org/drawingml/2006/main">
            <a:pPr>
              <a:defRPr sz="788">
                <a:solidFill>
                  <a:srgbClr val="6F6878"/>
                </a:solidFill>
                <a:latin typeface="Arial"/>
                <a:ea typeface="Arial"/>
                <a:cs typeface="Arial"/>
              </a:defRPr>
            </a:pPr>
            <a:r>
              <a:t>name + description</a:t>
            </a:r>
          </a:p>
          <a:p xmlns:a="http://schemas.openxmlformats.org/drawingml/2006/main">
            <a:pPr>
              <a:defRPr sz="788">
                <a:solidFill>
                  <a:srgbClr val="6F6878"/>
                </a:solidFill>
                <a:latin typeface="Arial"/>
                <a:ea typeface="Arial"/>
                <a:cs typeface="Arial"/>
              </a:defRPr>
            </a:pPr>
            <a:r>
              <a:t>DB UUID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9D0711E-BCBF-409F-A505-8DB723F3F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162300"/>
            <a:ext cx="1047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1CBBA51-B58C-47CD-A9D8-2BBE48268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914650"/>
            <a:ext cx="81915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t>HAS_CHUNK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4D9A19C-32F7-4153-8A40-E9C66AAA5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3009900"/>
            <a:ext cx="3048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A9C32EB-890B-4F42-B7B5-2916280AD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3943350"/>
            <a:ext cx="232410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FFF1D6"/>
          </a:solidFill>
          <a:ln xmlns:a="http://schemas.openxmlformats.org/drawingml/2006/main" w="9525">
            <a:solidFill>
              <a:srgbClr val="C7770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1D67DA9-E103-4B5D-8418-986C524B5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4114800"/>
            <a:ext cx="19812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51126"/>
                </a:solidFill>
                <a:latin typeface="Arial"/>
                <a:ea typeface="Arial"/>
                <a:cs typeface="Arial"/>
              </a:defRPr>
            </a:pPr>
            <a:r>
              <a:t>RelationshipCandidate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414188C-43B8-4E3D-91D9-4FE1DFCF8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4362450"/>
            <a:ext cx="19431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88">
                <a:solidFill>
                  <a:srgbClr val="6F6878"/>
                </a:solidFill>
                <a:latin typeface="Arial"/>
                <a:ea typeface="Arial"/>
                <a:cs typeface="Arial"/>
              </a:defRPr>
            </a:pPr>
            <a:r>
              <a:t>left/right chunks · evidence · rationale · status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A180956-6B01-437F-8FA9-E50A2DB56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524250"/>
            <a:ext cx="190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7700"/>
          </a:solidFill>
          <a:ln xmlns:a="http://schemas.openxmlformats.org/drawingml/2006/main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45192B3-B118-4E4C-AD76-5C9EBE724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943350"/>
            <a:ext cx="19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7700"/>
          </a:solidFill>
          <a:ln xmlns:a="http://schemas.openxmlformats.org/drawingml/2006/main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21DAC55-D11D-41F0-BDEF-67F393F20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524250"/>
            <a:ext cx="190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7700"/>
          </a:solidFill>
          <a:ln xmlns:a="http://schemas.openxmlformats.org/drawingml/2006/main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F4D5392-E848-47CF-A449-7DD72ADEF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943350"/>
            <a:ext cx="19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7700"/>
          </a:solidFill>
          <a:ln xmlns:a="http://schemas.openxmlformats.org/drawingml/2006/main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EB6DF4F-DAFA-4193-9F25-FE75BC465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676650"/>
            <a:ext cx="106680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C77700"/>
                </a:solidFill>
                <a:latin typeface="Arial"/>
                <a:ea typeface="Arial"/>
                <a:cs typeface="Arial"/>
              </a:defRPr>
            </a:pPr>
            <a:r>
              <a:t>CANDIDATE_LEFT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0255A46-E4E9-4290-AE6F-CEA401CD9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676650"/>
            <a:ext cx="114300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C77700"/>
                </a:solidFill>
                <a:latin typeface="Arial"/>
                <a:ea typeface="Arial"/>
                <a:cs typeface="Arial"/>
              </a:defRPr>
            </a:pPr>
            <a:r>
              <a:t>CANDIDATE_RIGHT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EE88C2C-E7E9-4A22-AB8C-7A7440998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838700"/>
            <a:ext cx="14287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E7EF"/>
          </a:solidFill>
          <a:ln xmlns:a="http://schemas.openxmlformats.org/drawingml/2006/main" w="9525">
            <a:solidFill>
              <a:srgbClr val="BE345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760C9AA-D20A-4329-8434-A7461F78E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991100"/>
            <a:ext cx="11239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51126"/>
                </a:solidFill>
                <a:latin typeface="Arial"/>
                <a:ea typeface="Arial"/>
                <a:cs typeface="Arial"/>
              </a:defRPr>
            </a:pPr>
            <a:r>
              <a:t>ReviewNote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8015F24-09CD-44FE-A8FA-8F0F91A49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181600"/>
            <a:ext cx="1085850" cy="114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35">
                <a:solidFill>
                  <a:srgbClr val="6F6878"/>
                </a:solidFill>
                <a:latin typeface="Arial"/>
                <a:ea typeface="Arial"/>
                <a:cs typeface="Arial"/>
              </a:defRPr>
            </a:pPr>
            <a:r>
              <a:t>user feedback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AFD3BA8-BCBC-42C7-834E-A2484651B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5105400"/>
            <a:ext cx="685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E3455"/>
          </a:solidFill>
          <a:ln xmlns:a="http://schemas.openxmlformats.org/drawingml/2006/main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DEA0CDB-2409-4E16-B5C2-26DFED535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4781550"/>
            <a:ext cx="1123950" cy="114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BE3455"/>
                </a:solidFill>
                <a:latin typeface="Arial"/>
                <a:ea typeface="Arial"/>
                <a:cs typeface="Arial"/>
              </a:defRPr>
            </a:pPr>
            <a:r>
              <a:t>HAS_REVIEW_NOTE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0A4327E-82FD-46D8-97E2-649DA019C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4838700"/>
            <a:ext cx="13525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EEAFE"/>
          </a:solidFill>
          <a:ln xmlns:a="http://schemas.openxmlformats.org/drawingml/2006/main" w="9525">
            <a:solidFill>
              <a:srgbClr val="6655E8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B3B1DA4-CE31-434A-9E84-D931162FC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991100"/>
            <a:ext cx="9906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51126"/>
                </a:solidFill>
                <a:latin typeface="Arial"/>
                <a:ea typeface="Arial"/>
                <a:cs typeface="Arial"/>
              </a:defRPr>
            </a:pPr>
            <a:r>
              <a:t>Memory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D53B8AE-5938-45AF-A31B-DE30A92C1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181600"/>
            <a:ext cx="1066800" cy="114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35">
                <a:solidFill>
                  <a:srgbClr val="6F6878"/>
                </a:solidFill>
                <a:latin typeface="Arial"/>
                <a:ea typeface="Arial"/>
                <a:cs typeface="Arial"/>
              </a:defRPr>
            </a:pPr>
            <a:r>
              <a:t>next agent context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85B409D-A9CB-4042-9FA4-620EB6BAD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105400"/>
            <a:ext cx="857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55E8"/>
          </a:solidFill>
          <a:ln xmlns:a="http://schemas.openxmlformats.org/drawingml/2006/main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EC6CCFF-412E-42EB-B5CB-7D46ED0ED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781550"/>
            <a:ext cx="1219200" cy="114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6655E8"/>
                </a:solidFill>
                <a:latin typeface="Arial"/>
                <a:ea typeface="Arial"/>
                <a:cs typeface="Arial"/>
              </a:defRPr>
            </a:pPr>
            <a:r>
              <a:t>EVIDENCES_MEMORY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00F1A10-3416-437F-B0EA-15DF70002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095500"/>
            <a:ext cx="1809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4F8EF"/>
          </a:solidFill>
          <a:ln xmlns:a="http://schemas.openxmlformats.org/drawingml/2006/main" w="9525">
            <a:solidFill>
              <a:srgbClr val="0F9F6E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80D63DA-3AD8-448B-9CC4-83948BC60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171700"/>
            <a:ext cx="15811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0F9F6E"/>
                </a:solidFill>
                <a:latin typeface="Arial"/>
                <a:ea typeface="Arial"/>
                <a:cs typeface="Arial"/>
              </a:defRPr>
            </a:pPr>
            <a:r>
              <a:t>approved edge is graph truth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52A8668-F467-4CED-90EE-F85EECB7B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809750"/>
            <a:ext cx="5334000" cy="371475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FFCF8"/>
          </a:solidFill>
          <a:ln xmlns:a="http://schemas.openxmlformats.org/drawingml/2006/main" w="9525">
            <a:solidFill>
              <a:srgbClr val="E2D8D0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30A1D16-8EA3-4A4F-BF3C-D45A37A3C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076450"/>
            <a:ext cx="2476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51126"/>
                </a:solidFill>
                <a:latin typeface="Arial"/>
                <a:ea typeface="Arial"/>
                <a:cs typeface="Arial"/>
              </a:defRPr>
            </a:pPr>
            <a:r>
              <a:t>Construction pipeline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2A9D475-6855-4D98-828F-52C66EFF7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724150"/>
            <a:ext cx="1047750" cy="457200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F7ECE4"/>
          </a:solidFill>
          <a:ln xmlns:a="http://schemas.openxmlformats.org/drawingml/2006/main" w="9525">
            <a:solidFill>
              <a:srgbClr val="6C2E12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3A0EE17-7C18-4708-96B2-96CE61224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876550"/>
            <a:ext cx="8572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151126"/>
                </a:solidFill>
                <a:latin typeface="Arial"/>
                <a:ea typeface="Arial"/>
                <a:cs typeface="Arial"/>
              </a:defRPr>
            </a:pPr>
            <a:r>
              <a:t>upload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E26EE9B-0EC5-4954-8E2E-FF620187C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838450"/>
            <a:ext cx="3048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6C2E12"/>
                </a:solidFill>
                <a:latin typeface="Arial"/>
                <a:ea typeface="Arial"/>
                <a:cs typeface="Arial"/>
              </a:defRPr>
            </a:pPr>
            <a:r>
              <a:t>→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A331D82-42F9-472C-9537-9AF6FB458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724150"/>
            <a:ext cx="1428750" cy="457200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E8F0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981F441-03B1-4FB8-B35A-A6DAFEB4C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876550"/>
            <a:ext cx="12382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151126"/>
                </a:solidFill>
                <a:latin typeface="Arial"/>
                <a:ea typeface="Arial"/>
                <a:cs typeface="Arial"/>
              </a:defRPr>
            </a:pPr>
            <a:r>
              <a:t>register Document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9485FF8-CEB3-40E2-9F78-9254114D6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838450"/>
            <a:ext cx="3048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6C2E12"/>
                </a:solidFill>
                <a:latin typeface="Arial"/>
                <a:ea typeface="Arial"/>
                <a:cs typeface="Arial"/>
              </a:defRPr>
            </a:pPr>
            <a:r>
              <a:t>→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2933D6E-5A3D-4F13-BDC2-79C7D5D24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724150"/>
            <a:ext cx="1143000" cy="457200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EEEAFE"/>
          </a:solidFill>
          <a:ln xmlns:a="http://schemas.openxmlformats.org/drawingml/2006/main" w="9525">
            <a:solidFill>
              <a:srgbClr val="6655E8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9B3B54D-189B-442A-A177-3F2C95C6B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876550"/>
            <a:ext cx="9525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151126"/>
                </a:solidFill>
                <a:latin typeface="Arial"/>
                <a:ea typeface="Arial"/>
                <a:cs typeface="Arial"/>
              </a:defRPr>
            </a:pPr>
            <a:r>
              <a:t>enqueue job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9C95F9DE-88DF-4F54-9F20-6421164EC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714750"/>
            <a:ext cx="1238250" cy="457200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F7ECE4"/>
          </a:solidFill>
          <a:ln xmlns:a="http://schemas.openxmlformats.org/drawingml/2006/main" w="9525">
            <a:solidFill>
              <a:srgbClr val="6C2E12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D218FB3F-CB18-4243-94E9-8FBCF868B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867150"/>
            <a:ext cx="10477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151126"/>
                </a:solidFill>
                <a:latin typeface="Arial"/>
                <a:ea typeface="Arial"/>
                <a:cs typeface="Arial"/>
              </a:defRPr>
            </a:pPr>
            <a:r>
              <a:t>document_load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EEE570B-2718-4081-B892-FBADA0EE7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829050"/>
            <a:ext cx="3048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6C2E12"/>
                </a:solidFill>
                <a:latin typeface="Arial"/>
                <a:ea typeface="Arial"/>
                <a:cs typeface="Arial"/>
              </a:defRPr>
            </a:pPr>
            <a:r>
              <a:t>→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C73A209A-F348-46C2-B05D-C5F75A422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714750"/>
            <a:ext cx="1381125" cy="457200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DDF6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CFAF1DFE-C3A0-43F7-BB1C-B8DC65211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867150"/>
            <a:ext cx="1190625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151126"/>
                </a:solidFill>
                <a:latin typeface="Arial"/>
                <a:ea typeface="Arial"/>
                <a:cs typeface="Arial"/>
              </a:defRPr>
            </a:pPr>
            <a:r>
              <a:t>chunking_agent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83BD7B7C-46BA-469D-B9E7-8694D24B0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3829050"/>
            <a:ext cx="3048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6C2E12"/>
                </a:solidFill>
                <a:latin typeface="Arial"/>
                <a:ea typeface="Arial"/>
                <a:cs typeface="Arial"/>
              </a:defRPr>
            </a:pPr>
            <a:r>
              <a:t>→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8B66B8E1-72A5-4DB7-A446-1FD09B47A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3714750"/>
            <a:ext cx="1047750" cy="457200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E8F0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77F8B101-D5C0-407B-9D88-08CF5A439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3867150"/>
            <a:ext cx="8572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151126"/>
                </a:solidFill>
                <a:latin typeface="Arial"/>
                <a:ea typeface="Arial"/>
                <a:cs typeface="Arial"/>
              </a:defRPr>
            </a:pPr>
            <a:r>
              <a:t>embedding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93118492-CADB-4FC5-AFF7-A4F45D2FD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705350"/>
            <a:ext cx="1428750" cy="457200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EEEAFE"/>
          </a:solidFill>
          <a:ln xmlns:a="http://schemas.openxmlformats.org/drawingml/2006/main" w="9525">
            <a:solidFill>
              <a:srgbClr val="6655E8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18F4E484-7737-42E5-9F96-928351F0D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4857750"/>
            <a:ext cx="12382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151126"/>
                </a:solidFill>
                <a:latin typeface="Arial"/>
                <a:ea typeface="Arial"/>
                <a:cs typeface="Arial"/>
              </a:defRPr>
            </a:pPr>
            <a:r>
              <a:t>graph_candidate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55C01372-AE54-4402-93A7-C1C7816D6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4819650"/>
            <a:ext cx="3048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6C2E12"/>
                </a:solidFill>
                <a:latin typeface="Arial"/>
                <a:ea typeface="Arial"/>
                <a:cs typeface="Arial"/>
              </a:defRPr>
            </a:pPr>
            <a:r>
              <a:t>→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EC801317-9B89-4C0E-9FB1-F899D4437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4705350"/>
            <a:ext cx="1238250" cy="457200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FFF1D6"/>
          </a:solidFill>
          <a:ln xmlns:a="http://schemas.openxmlformats.org/drawingml/2006/main" w="9525">
            <a:solidFill>
              <a:srgbClr val="C77700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5A26AC36-C477-42AF-B02A-744CBE9E9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4857750"/>
            <a:ext cx="10477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151126"/>
                </a:solidFill>
                <a:latin typeface="Arial"/>
                <a:ea typeface="Arial"/>
                <a:cs typeface="Arial"/>
              </a:defRPr>
            </a:pPr>
            <a:r>
              <a:t>pending review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7581D4C1-B4E8-4EB6-8E55-A89FE838F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5753100"/>
            <a:ext cx="46672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6C2E12"/>
                </a:solidFill>
                <a:latin typeface="Arial"/>
                <a:ea typeface="Arial"/>
                <a:cs typeface="Arial"/>
              </a:defRPr>
            </a:pPr>
            <a:r>
              <a:t>state: job_id + document_id + chunk_ids only</a:t>
            </a:r>
          </a:p>
        </p:txBody>
      </p:sp>
    </p:spTree>
    <p:extLst>
      <p:ext uri="{BB962C8B-B14F-4D97-AF65-F5344CB8AC3E}">
        <p14:creationId xmlns:p14="http://schemas.microsoft.com/office/powerpoint/2010/main" val="1660642717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1FCC835-3854-4BB3-B7C1-E557CDF81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7239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6C2E12"/>
                </a:solidFill>
                <a:latin typeface="Arial"/>
                <a:ea typeface="Arial"/>
                <a:cs typeface="Arial"/>
              </a:defRPr>
            </a:pPr>
            <a:r>
              <a:t>AGENT HARNESS AND TOOL SURFACE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B3E007-F299-498E-97E7-5902BC7C4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4350"/>
            <a:ext cx="96202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51126"/>
                </a:solidFill>
                <a:latin typeface="Arial"/>
                <a:ea typeface="Arial"/>
                <a:cs typeface="Arial"/>
              </a:defRPr>
            </a:pPr>
            <a:r>
              <a:t>Graph candidate agent의 권한을 context/read/search/write로 제어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488199-8EC6-4985-AB61-886682C70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43000"/>
            <a:ext cx="88582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38">
                <a:solidFill>
                  <a:srgbClr val="6F6878"/>
                </a:solidFill>
                <a:latin typeface="Arial"/>
                <a:ea typeface="Arial"/>
                <a:cs typeface="Arial"/>
              </a:defRPr>
            </a:pPr>
            <a:r>
              <a:t>agent가 DB를 마음대로 수정하지 않고 검수 대상 RelationshipCandidate만 만들도록 tool surface를 좁혔다.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F85443-79C7-4D52-B24D-CF6F4F50E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457200"/>
            <a:ext cx="3619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C2E12"/>
                </a:solidFill>
                <a:latin typeface="Arial"/>
                <a:ea typeface="Arial"/>
                <a:cs typeface="Arial"/>
              </a:defRPr>
            </a:pPr>
            <a: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66770D-E53A-46B8-AEC0-111460E19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478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DCD5"/>
          </a:solidFill>
          <a:ln xmlns:a="http://schemas.openxmlformats.org/drawingml/2006/main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7C31DD-ECCF-42ED-82CD-36EE61934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762250"/>
            <a:ext cx="3143250" cy="1066800"/>
          </a:xfrm>
          <a:prstGeom xmlns:a="http://schemas.openxmlformats.org/drawingml/2006/main" prst="roundRect">
            <a:avLst>
              <a:gd name="adj" fmla="val 17857"/>
            </a:avLst>
          </a:prstGeom>
          <a:solidFill xmlns:a="http://schemas.openxmlformats.org/drawingml/2006/main">
            <a:srgbClr val="17151D"/>
          </a:solidFill>
          <a:ln xmlns:a="http://schemas.openxmlformats.org/drawingml/2006/main" w="9525">
            <a:solidFill>
              <a:srgbClr val="17151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EB45B2-ABB7-44D8-8B51-C36F6D8C2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048000"/>
            <a:ext cx="2857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graph_candidate_agent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C2B89E-EBD1-4391-B72F-F9794EEA8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390900"/>
            <a:ext cx="21907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D8D4E0"/>
                </a:solidFill>
                <a:latin typeface="Arial"/>
                <a:ea typeface="Arial"/>
                <a:cs typeface="Arial"/>
              </a:defRPr>
            </a:pPr>
            <a:r>
              <a:t>given job_id · document_id · chunk_ids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F34A42-BEA2-4CE1-A3B3-A428D957A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00250"/>
            <a:ext cx="295275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7ECE4"/>
          </a:solidFill>
          <a:ln xmlns:a="http://schemas.openxmlformats.org/drawingml/2006/main" w="9525">
            <a:solidFill>
              <a:srgbClr val="6C2E1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51863A-48AB-4BBE-947C-5F4102BBA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133600"/>
            <a:ext cx="26479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51126"/>
                </a:solidFill>
                <a:latin typeface="Arial"/>
                <a:ea typeface="Arial"/>
                <a:cs typeface="Arial"/>
              </a:defRPr>
            </a:pPr>
            <a:r>
              <a:t>Injected context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1E5C1D-0CEA-499F-8226-E760D364B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19350"/>
            <a:ext cx="26479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F6878"/>
                </a:solidFill>
                <a:latin typeface="Arial"/>
                <a:ea typeface="Arial"/>
                <a:cs typeface="Arial"/>
              </a:defRPr>
            </a:pPr>
            <a:r>
              <a:t>Memory document is injected automatically, not hidden behind optional tool usage.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2138B3-D52E-4AA8-B067-271CFFDD7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86200"/>
            <a:ext cx="295275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DDF6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B096E84-01AA-4E46-9E40-9E814B034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19550"/>
            <a:ext cx="26479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51126"/>
                </a:solidFill>
                <a:latin typeface="Arial"/>
                <a:ea typeface="Arial"/>
                <a:cs typeface="Arial"/>
              </a:defRPr>
            </a:pPr>
            <a:r>
              <a:t>Memgraph read tools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751DE94-C79C-40BB-9071-ACA776033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305300"/>
            <a:ext cx="26479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F6878"/>
                </a:solidFill>
                <a:latin typeface="Arial"/>
                <a:ea typeface="Arial"/>
                <a:cs typeface="Arial"/>
              </a:defRPr>
            </a:pPr>
            <a:r>
              <a:t>schema, text, vector, traverse, read query primitives.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CA48551-4F67-4A37-B6D6-740FCFA1D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000250"/>
            <a:ext cx="295275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E8F0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4459957-0C82-4FF6-AD39-CA3F302AD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133600"/>
            <a:ext cx="26479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51126"/>
                </a:solidFill>
                <a:latin typeface="Arial"/>
                <a:ea typeface="Arial"/>
                <a:cs typeface="Arial"/>
              </a:defRPr>
            </a:pPr>
            <a:r>
              <a:t>Firecrawl web search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38525FB-CCA4-4936-8EFB-13EB42DF4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419350"/>
            <a:ext cx="26479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F6878"/>
                </a:solidFill>
                <a:latin typeface="Arial"/>
                <a:ea typeface="Arial"/>
                <a:cs typeface="Arial"/>
              </a:defRPr>
            </a:pPr>
            <a:r>
              <a:t>외부 근거가 필요할 때 보조 검색. graph evidence보다 우선하지 않음.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F68F9E5-FF22-4417-9B2F-DB7A7BA40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886200"/>
            <a:ext cx="295275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1D6"/>
          </a:solidFill>
          <a:ln xmlns:a="http://schemas.openxmlformats.org/drawingml/2006/main" w="9525">
            <a:solidFill>
              <a:srgbClr val="C7770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34D2E0D-ADFC-4555-9215-BE98BEC43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019550"/>
            <a:ext cx="26479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51126"/>
                </a:solidFill>
                <a:latin typeface="Arial"/>
                <a:ea typeface="Arial"/>
                <a:cs typeface="Arial"/>
              </a:defRPr>
            </a:pPr>
            <a:r>
              <a:t>Candidate write only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9240962-B5BF-43F7-B6EB-6B6278FED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305300"/>
            <a:ext cx="26479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F6878"/>
                </a:solidFill>
                <a:latin typeface="Arial"/>
                <a:ea typeface="Arial"/>
                <a:cs typeface="Arial"/>
              </a:defRPr>
            </a:pPr>
            <a:r>
              <a:t>write_relationship_candidate_tool만 DB write surface로 제공.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8D791D0-F607-484A-93BA-8598B83CF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400300"/>
            <a:ext cx="3048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6C2E12"/>
                </a:solidFill>
                <a:latin typeface="Arial"/>
                <a:ea typeface="Arial"/>
                <a:cs typeface="Arial"/>
              </a:defRPr>
            </a:pPr>
            <a:r>
              <a:t>→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134C2AC-3638-45F9-A681-F7C61790C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4305300"/>
            <a:ext cx="3048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t>→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18D4712-D85F-497E-9C8A-282C8AD23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400300"/>
            <a:ext cx="3048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t>→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BECD971-E3C9-4C1E-AC2E-6C17FFA4F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305300"/>
            <a:ext cx="3048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C77700"/>
                </a:solidFill>
                <a:latin typeface="Arial"/>
                <a:ea typeface="Arial"/>
                <a:cs typeface="Arial"/>
              </a:defRPr>
            </a:pPr>
            <a:r>
              <a:t>→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F9D4122-5ECD-4EDA-986A-F68B20FDA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5467350"/>
            <a:ext cx="7524750" cy="514350"/>
          </a:xfrm>
          <a:prstGeom xmlns:a="http://schemas.openxmlformats.org/drawingml/2006/main" prst="roundRect">
            <a:avLst>
              <a:gd name="adj" fmla="val 25926"/>
            </a:avLst>
          </a:prstGeom>
          <a:solidFill xmlns:a="http://schemas.openxmlformats.org/drawingml/2006/main">
            <a:srgbClr val="FFF9F3"/>
          </a:solidFill>
          <a:ln xmlns:a="http://schemas.openxmlformats.org/drawingml/2006/main" w="9525">
            <a:solidFill>
              <a:srgbClr val="E2C8B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06D3B22-59B5-4E46-8AE3-CF92DBE28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5638800"/>
            <a:ext cx="6953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6C2E12"/>
                </a:solidFill>
                <a:latin typeface="Arial"/>
                <a:ea typeface="Arial"/>
                <a:cs typeface="Arial"/>
              </a:defRPr>
            </a:pPr>
            <a:r>
              <a:t>원본 document 전체를 LLM context에 싣지 않고 chunk/document id 기반 query로 필요한 부분만 읽게 한다.</a:t>
            </a:r>
          </a:p>
        </p:txBody>
      </p:sp>
    </p:spTree>
    <p:extLst>
      <p:ext uri="{BB962C8B-B14F-4D97-AF65-F5344CB8AC3E}">
        <p14:creationId xmlns:p14="http://schemas.microsoft.com/office/powerpoint/2010/main" val="2007078082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938954B-B7A6-47A4-9F09-EDDC87885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7239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6C2E12"/>
                </a:solidFill>
                <a:latin typeface="Arial"/>
                <a:ea typeface="Arial"/>
                <a:cs typeface="Arial"/>
              </a:defRPr>
            </a:pPr>
            <a:r>
              <a:t>REVIEW QUEUE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4D1B63-EC5B-4D4B-AACB-E8CF67312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4350"/>
            <a:ext cx="96202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51126"/>
                </a:solidFill>
                <a:latin typeface="Arial"/>
                <a:ea typeface="Arial"/>
                <a:cs typeface="Arial"/>
              </a:defRPr>
            </a:pPr>
            <a:r>
              <a:t>Candidate first, edge later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0B7F97-3961-4A58-81EE-DC89ECF67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43000"/>
            <a:ext cx="88582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38">
                <a:solidFill>
                  <a:srgbClr val="6F6878"/>
                </a:solidFill>
                <a:latin typeface="Arial"/>
                <a:ea typeface="Arial"/>
                <a:cs typeface="Arial"/>
              </a:defRPr>
            </a:pPr>
            <a:r>
              <a:t>LLM이 만든 관계는 바로 graph edge가 아니라 사람이 승인하는 RelationshipCandidate가 된다.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9F6289-945A-45DC-9D73-77678EEB4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457200"/>
            <a:ext cx="3619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C2E12"/>
                </a:solidFill>
                <a:latin typeface="Arial"/>
                <a:ea typeface="Arial"/>
                <a:cs typeface="Arial"/>
              </a:defRPr>
            </a:pPr>
            <a:r>
              <a:t>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B1A561-3D00-44E8-A6D2-C4CBD7E51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478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DCD5"/>
          </a:solidFill>
          <a:ln xmlns:a="http://schemas.openxmlformats.org/drawingml/2006/main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977CB4-82BE-4C25-AB29-5D65E0FF3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76550"/>
            <a:ext cx="15240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EEEAFE"/>
          </a:solidFill>
          <a:ln xmlns:a="http://schemas.openxmlformats.org/drawingml/2006/main" w="9525">
            <a:solidFill>
              <a:srgbClr val="6655E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03F1A8-F9E2-44D5-A02D-196666300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009900"/>
            <a:ext cx="12192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51126"/>
                </a:solidFill>
                <a:latin typeface="Arial"/>
                <a:ea typeface="Arial"/>
                <a:cs typeface="Arial"/>
              </a:defRPr>
            </a:pPr>
            <a:r>
              <a:t>LLM Agent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87B826-601A-4903-8204-80E64F439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95650"/>
            <a:ext cx="12192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F6878"/>
                </a:solidFill>
                <a:latin typeface="Arial"/>
                <a:ea typeface="Arial"/>
                <a:cs typeface="Arial"/>
              </a:defRPr>
            </a:pPr>
            <a:r>
              <a:t>관계 후보 제안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F305BA-0885-490F-93D4-BBEC1F427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3105150"/>
            <a:ext cx="3048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6655E8"/>
                </a:solidFill>
                <a:latin typeface="Arial"/>
                <a:ea typeface="Arial"/>
                <a:cs typeface="Arial"/>
              </a:defRPr>
            </a:pPr>
            <a: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E32786-08A8-4F04-A610-3E2660F17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667000"/>
            <a:ext cx="219075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1D6"/>
          </a:solidFill>
          <a:ln xmlns:a="http://schemas.openxmlformats.org/drawingml/2006/main" w="9525">
            <a:solidFill>
              <a:srgbClr val="C777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9A6F59-BFD8-4469-A055-FBDDA99C0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800350"/>
            <a:ext cx="18859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51126"/>
                </a:solidFill>
                <a:latin typeface="Arial"/>
                <a:ea typeface="Arial"/>
                <a:cs typeface="Arial"/>
              </a:defRPr>
            </a:pPr>
            <a:r>
              <a:t>RelationshipCandidate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3C72F62-7407-474E-B5A9-CCAF015EB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086100"/>
            <a:ext cx="188595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F6878"/>
                </a:solidFill>
                <a:latin typeface="Arial"/>
                <a:ea typeface="Arial"/>
                <a:cs typeface="Arial"/>
              </a:defRPr>
            </a:pPr>
            <a:r>
              <a:t>pending_review</a:t>
            </a:r>
          </a:p>
          <a:p xmlns:a="http://schemas.openxmlformats.org/drawingml/2006/main">
            <a:pPr>
              <a:defRPr sz="900">
                <a:solidFill>
                  <a:srgbClr val="6F6878"/>
                </a:solidFill>
                <a:latin typeface="Arial"/>
                <a:ea typeface="Arial"/>
                <a:cs typeface="Arial"/>
              </a:defRPr>
            </a:pPr>
            <a:r>
              <a:t>source/target/rationale/evidence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2ACBD56-0DD5-4AD0-B48F-D960E8782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3105150"/>
            <a:ext cx="3048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C77700"/>
                </a:solidFill>
                <a:latin typeface="Arial"/>
                <a:ea typeface="Arial"/>
                <a:cs typeface="Arial"/>
              </a:defRPr>
            </a:pPr>
            <a: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8B1181F-C609-4432-9CAB-B499688C5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095500"/>
            <a:ext cx="2476500" cy="234315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C8B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65CEE7B-D6CE-4E05-918D-CED65C0D1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400300"/>
            <a:ext cx="1809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6C2E12"/>
                </a:solidFill>
                <a:latin typeface="Arial"/>
                <a:ea typeface="Arial"/>
                <a:cs typeface="Arial"/>
              </a:defRPr>
            </a:pPr>
            <a:r>
              <a:t>Human Review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A7B3A71-31AB-4372-A634-74CB9E215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895600"/>
            <a:ext cx="177165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151126"/>
                </a:solidFill>
                <a:latin typeface="Arial"/>
                <a:ea typeface="Arial"/>
                <a:cs typeface="Arial"/>
              </a:defRPr>
            </a:pPr>
            <a:r>
              <a:t>source chunk, target chunk, AI rationale, evidence, confidence를 보고 approve/deny를 staging한다.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BE9FDCD-018F-4988-9D59-AA76E8542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771900"/>
            <a:ext cx="9525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4F8EF"/>
          </a:solidFill>
          <a:ln xmlns:a="http://schemas.openxmlformats.org/drawingml/2006/main" w="9525">
            <a:solidFill>
              <a:srgbClr val="0F9F6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52B8CBF-A17B-4ECD-9683-E46C6362D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48100"/>
            <a:ext cx="7239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0F9F6E"/>
                </a:solidFill>
                <a:latin typeface="Arial"/>
                <a:ea typeface="Arial"/>
                <a:cs typeface="Arial"/>
              </a:defRPr>
            </a:pPr>
            <a:r>
              <a:t>Approve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1B9688F-9825-4812-A79F-88336EF9A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771900"/>
            <a:ext cx="7620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E7EF"/>
          </a:solidFill>
          <a:ln xmlns:a="http://schemas.openxmlformats.org/drawingml/2006/main" w="9525">
            <a:solidFill>
              <a:srgbClr val="BE345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73773B7-6705-4BA4-85B1-9A55472EC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848100"/>
            <a:ext cx="5334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BE3455"/>
                </a:solidFill>
                <a:latin typeface="Arial"/>
                <a:ea typeface="Arial"/>
                <a:cs typeface="Arial"/>
              </a:defRPr>
            </a:pPr>
            <a:r>
              <a:t>Deny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6AF0CEC-6537-4F7D-9CA0-A9A788755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105150"/>
            <a:ext cx="3048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6C2E12"/>
                </a:solidFill>
                <a:latin typeface="Arial"/>
                <a:ea typeface="Arial"/>
                <a:cs typeface="Arial"/>
              </a:defRPr>
            </a:pPr>
            <a:r>
              <a:t>→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BEF8024-3856-4D6C-9B0D-837798FD7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552700"/>
            <a:ext cx="200025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E4F8EF"/>
          </a:solidFill>
          <a:ln xmlns:a="http://schemas.openxmlformats.org/drawingml/2006/main" w="9525">
            <a:solidFill>
              <a:srgbClr val="0F9F6E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D1E7984-1987-4DA5-8B54-77AE1A346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686050"/>
            <a:ext cx="16954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51126"/>
                </a:solidFill>
                <a:latin typeface="Arial"/>
                <a:ea typeface="Arial"/>
                <a:cs typeface="Arial"/>
              </a:defRPr>
            </a:pPr>
            <a:r>
              <a:t>Atomic Commit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3937339-9797-4088-B716-A33A980C4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971800"/>
            <a:ext cx="16954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F6878"/>
                </a:solidFill>
                <a:latin typeface="Arial"/>
                <a:ea typeface="Arial"/>
                <a:cs typeface="Arial"/>
              </a:defRPr>
            </a:pPr>
            <a:r>
              <a:t>approve된 후보만 실제 edge로 materialize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54F4C10-FB26-41D1-B776-212CF7708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714750"/>
            <a:ext cx="200025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FE7EF"/>
          </a:solidFill>
          <a:ln xmlns:a="http://schemas.openxmlformats.org/drawingml/2006/main" w="9525">
            <a:solidFill>
              <a:srgbClr val="BE345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20BC9B8-33FF-486E-9179-C4531AD0D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848100"/>
            <a:ext cx="16954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51126"/>
                </a:solidFill>
                <a:latin typeface="Arial"/>
                <a:ea typeface="Arial"/>
                <a:cs typeface="Arial"/>
              </a:defRPr>
            </a:pPr>
            <a:r>
              <a:t>Rejected Artifact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F3A3F43-75A5-4B3F-9CC9-B6640DC51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133850"/>
            <a:ext cx="16954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F6878"/>
                </a:solidFill>
                <a:latin typeface="Arial"/>
                <a:ea typeface="Arial"/>
                <a:cs typeface="Arial"/>
              </a:defRPr>
            </a:pPr>
            <a:r>
              <a:t>deny된 후보도 판단 이력으로 보존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6827CE5-17A7-49F7-B0A5-D53603810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562600"/>
            <a:ext cx="8572500" cy="4000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FF9F3"/>
          </a:solidFill>
          <a:ln xmlns:a="http://schemas.openxmlformats.org/drawingml/2006/main" w="9525">
            <a:solidFill>
              <a:srgbClr val="E2C8B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D602E43-6383-4975-93D1-CC2276545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676900"/>
            <a:ext cx="8001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6C2E12"/>
                </a:solidFill>
                <a:latin typeface="Arial"/>
                <a:ea typeface="Arial"/>
                <a:cs typeface="Arial"/>
              </a:defRPr>
            </a:pPr>
            <a:r>
              <a:t>검수 가능한 자동화: LLM output은 제안이고 DB graph truth는 review 이후에만 바뀐다.</a:t>
            </a:r>
          </a:p>
        </p:txBody>
      </p:sp>
    </p:spTree>
    <p:extLst>
      <p:ext uri="{BB962C8B-B14F-4D97-AF65-F5344CB8AC3E}">
        <p14:creationId xmlns:p14="http://schemas.microsoft.com/office/powerpoint/2010/main" val="2142539988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7462A93-BFA6-4799-9D9A-222CDB742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7239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6C2E12"/>
                </a:solidFill>
                <a:latin typeface="Arial"/>
                <a:ea typeface="Arial"/>
                <a:cs typeface="Arial"/>
              </a:defRPr>
            </a:pPr>
            <a:r>
              <a:t>MEMORY FEEDBACK AND OBSERVABILITY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5B3769-A178-4BCC-9BB0-83DF4E6B8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4350"/>
            <a:ext cx="96202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51126"/>
                </a:solidFill>
                <a:latin typeface="Arial"/>
                <a:ea typeface="Arial"/>
                <a:cs typeface="Arial"/>
              </a:defRPr>
            </a:pPr>
            <a:r>
              <a:t>Reviewer note는 다음 agent 판단 기준이 되고, agent event는 Redis Stream으로 보인다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582198-1251-4384-BF4F-FDF9A0645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43000"/>
            <a:ext cx="88582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38">
                <a:solidFill>
                  <a:srgbClr val="6F6878"/>
                </a:solidFill>
                <a:latin typeface="Arial"/>
                <a:ea typeface="Arial"/>
                <a:cs typeface="Arial"/>
              </a:defRPr>
            </a:pPr>
            <a:r>
              <a:t>운영하면서 개선 가능하게 만드는 memory layer와 debugging visibility를 한 장에 묶었다.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83D92F-1981-4104-A6A0-E50F99C3C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457200"/>
            <a:ext cx="3619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C2E12"/>
                </a:solidFill>
                <a:latin typeface="Arial"/>
                <a:ea typeface="Arial"/>
                <a:cs typeface="Arial"/>
              </a:defRPr>
            </a:pPr>
            <a:r>
              <a:t>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1B86C5-B30E-4CF6-B1E8-C310C91BB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478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DCD5"/>
          </a:solidFill>
          <a:ln xmlns:a="http://schemas.openxmlformats.org/drawingml/2006/main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80BA3D-1153-41BD-B0E4-05A4E8887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20002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1D6"/>
          </a:solidFill>
          <a:ln xmlns:a="http://schemas.openxmlformats.org/drawingml/2006/main" w="9525">
            <a:solidFill>
              <a:srgbClr val="C7770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71E651-1D58-43C2-98AD-D96840230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00300"/>
            <a:ext cx="16954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51126"/>
                </a:solidFill>
                <a:latin typeface="Arial"/>
                <a:ea typeface="Arial"/>
                <a:cs typeface="Arial"/>
              </a:defRPr>
            </a:pPr>
            <a:r>
              <a:t>RelationshipCandidate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AA3694-96FA-4EE7-B652-EE4C111A8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86050"/>
            <a:ext cx="16954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F6878"/>
                </a:solidFill>
                <a:latin typeface="Arial"/>
                <a:ea typeface="Arial"/>
                <a:cs typeface="Arial"/>
              </a:defRPr>
            </a:pPr>
            <a:r>
              <a:t>approve/deny 대상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3577DB-901E-4C7B-AD21-18A2AFEEB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476500"/>
            <a:ext cx="3048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6C2E12"/>
                </a:solidFill>
                <a:latin typeface="Arial"/>
                <a:ea typeface="Arial"/>
                <a:cs typeface="Arial"/>
              </a:defRPr>
            </a:pPr>
            <a: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D48769-2D00-4E1C-AE1F-C18D66E22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266950"/>
            <a:ext cx="18097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7ECE4"/>
          </a:solidFill>
          <a:ln xmlns:a="http://schemas.openxmlformats.org/drawingml/2006/main" w="9525">
            <a:solidFill>
              <a:srgbClr val="6C2E1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FE0709-B72A-4B08-A65D-08C058DAB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400300"/>
            <a:ext cx="15049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51126"/>
                </a:solidFill>
                <a:latin typeface="Arial"/>
                <a:ea typeface="Arial"/>
                <a:cs typeface="Arial"/>
              </a:defRPr>
            </a:pPr>
            <a:r>
              <a:t>ReviewNote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D6957D-2D8D-4E05-AD56-F6CC41AD0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686050"/>
            <a:ext cx="15049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F6878"/>
                </a:solidFill>
                <a:latin typeface="Arial"/>
                <a:ea typeface="Arial"/>
                <a:cs typeface="Arial"/>
              </a:defRPr>
            </a:pPr>
            <a:r>
              <a:t>사용자 판단 이유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5165042-FF78-4484-B1C3-34D856049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476500"/>
            <a:ext cx="3048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6C2E12"/>
                </a:solidFill>
                <a:latin typeface="Arial"/>
                <a:ea typeface="Arial"/>
                <a:cs typeface="Arial"/>
              </a:defRPr>
            </a:pPr>
            <a: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A03F8BE-7C8D-4E79-A007-065C39627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266950"/>
            <a:ext cx="22860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EEEAFE"/>
          </a:solidFill>
          <a:ln xmlns:a="http://schemas.openxmlformats.org/drawingml/2006/main" w="9525">
            <a:solidFill>
              <a:srgbClr val="6655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9A47B54-0F03-46DA-B02E-582840015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400300"/>
            <a:ext cx="19812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51126"/>
                </a:solidFill>
                <a:latin typeface="Arial"/>
                <a:ea typeface="Arial"/>
                <a:cs typeface="Arial"/>
              </a:defRPr>
            </a:pPr>
            <a:r>
              <a:t>memory_update_agent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31BEDB6-C12A-4A36-ABF7-B13B3625C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686050"/>
            <a:ext cx="19812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F6878"/>
                </a:solidFill>
                <a:latin typeface="Arial"/>
                <a:ea typeface="Arial"/>
                <a:cs typeface="Arial"/>
              </a:defRPr>
            </a:pPr>
            <a:r>
              <a:t>job note와 candidate context를 보고 Memory 재작성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3826871-0ABC-4B2E-9AE9-82EB3CD41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476500"/>
            <a:ext cx="3048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6C2E12"/>
                </a:solidFill>
                <a:latin typeface="Arial"/>
                <a:ea typeface="Arial"/>
                <a:cs typeface="Arial"/>
              </a:defRPr>
            </a:pPr>
            <a: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527E3BF-7AF8-469F-BCE9-393ACD29B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266950"/>
            <a:ext cx="21907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DDF6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F5F6898-58D5-4BF4-A917-61D33D211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400300"/>
            <a:ext cx="18859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51126"/>
                </a:solidFill>
                <a:latin typeface="Arial"/>
                <a:ea typeface="Arial"/>
                <a:cs typeface="Arial"/>
              </a:defRPr>
            </a:pPr>
            <a:r>
              <a:t>Memory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D6B7556-1983-4E2A-971F-6975E1219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686050"/>
            <a:ext cx="18859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F6878"/>
                </a:solidFill>
                <a:latin typeface="Arial"/>
                <a:ea typeface="Arial"/>
                <a:cs typeface="Arial"/>
              </a:defRPr>
            </a:pPr>
            <a:r>
              <a:t>다음 candidate agent context에 자동 주입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1A18661-FAD4-4ABD-953F-8A3473734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562350"/>
            <a:ext cx="8705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621EC01-0DCA-41F3-A325-315A95CE5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733800"/>
            <a:ext cx="5334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t>모델 파라미터 학습이 아니라 system memory document 업데이트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0A1F715-B198-4DB5-B309-679628833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743450"/>
            <a:ext cx="171450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F7ECE4"/>
          </a:solidFill>
          <a:ln xmlns:a="http://schemas.openxmlformats.org/drawingml/2006/main" w="9525">
            <a:solidFill>
              <a:srgbClr val="6C2E12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30CB277-FD83-4476-90C0-54A534077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876800"/>
            <a:ext cx="14097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51126"/>
                </a:solidFill>
                <a:latin typeface="Arial"/>
                <a:ea typeface="Arial"/>
                <a:cs typeface="Arial"/>
              </a:defRPr>
            </a:pPr>
            <a:r>
              <a:t>Worker runner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68894AE-925C-4193-A568-018CA0854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162550"/>
            <a:ext cx="14097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F6878"/>
                </a:solidFill>
                <a:latin typeface="Arial"/>
                <a:ea typeface="Arial"/>
                <a:cs typeface="Arial"/>
              </a:defRPr>
            </a:pPr>
            <a:r>
              <a:t>task lifecycle event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D7D7CEC-A14D-42CF-8DDE-CAFFE0D23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657850"/>
            <a:ext cx="171450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EEAFE"/>
          </a:solidFill>
          <a:ln xmlns:a="http://schemas.openxmlformats.org/drawingml/2006/main" w="9525">
            <a:solidFill>
              <a:srgbClr val="6655E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8EF6882-2558-4843-9576-D32757916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791200"/>
            <a:ext cx="14097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51126"/>
                </a:solidFill>
                <a:latin typeface="Arial"/>
                <a:ea typeface="Arial"/>
                <a:cs typeface="Arial"/>
              </a:defRPr>
            </a:pPr>
            <a:r>
              <a:t>Agent runtime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E212A1D-BD1F-430E-974D-1B4E32843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6076950"/>
            <a:ext cx="14097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F6878"/>
                </a:solidFill>
                <a:latin typeface="Arial"/>
                <a:ea typeface="Arial"/>
                <a:cs typeface="Arial"/>
              </a:defRPr>
            </a:pPr>
            <a:r>
              <a:t>model token · tool call · transcript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A4DE168-373A-44D5-8ED7-4187C8CBD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5048250"/>
            <a:ext cx="3048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6C2E12"/>
                </a:solidFill>
                <a:latin typeface="Arial"/>
                <a:ea typeface="Arial"/>
                <a:cs typeface="Arial"/>
              </a:defRPr>
            </a:pPr>
            <a:r>
              <a:t>→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94D0D8A-2D9C-431F-9D89-2C82CC263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4800600"/>
            <a:ext cx="2000250" cy="990600"/>
          </a:xfrm>
          <a:prstGeom xmlns:a="http://schemas.openxmlformats.org/drawingml/2006/main" prst="roundRect">
            <a:avLst>
              <a:gd name="adj" fmla="val 17308"/>
            </a:avLst>
          </a:prstGeom>
          <a:solidFill xmlns:a="http://schemas.openxmlformats.org/drawingml/2006/main">
            <a:srgbClr val="17151D"/>
          </a:solidFill>
          <a:ln xmlns:a="http://schemas.openxmlformats.org/drawingml/2006/main" w="9525">
            <a:solidFill>
              <a:srgbClr val="17151D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EB2BDCF-6541-483B-BA6F-6AEAD47C8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5086350"/>
            <a:ext cx="1333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Redis Streams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57F7477-06E2-43F1-8752-0EF04A387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5410200"/>
            <a:ext cx="1381125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D7D2DE"/>
                </a:solidFill>
                <a:latin typeface="Arial"/>
                <a:ea typeface="Arial"/>
                <a:cs typeface="Arial"/>
              </a:defRPr>
            </a:pPr>
            <a:r>
              <a:t>recent observability events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8ACC9DB-F6BB-46F9-8308-DA23A2F08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5067300"/>
            <a:ext cx="3048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6C2E12"/>
                </a:solidFill>
                <a:latin typeface="Arial"/>
                <a:ea typeface="Arial"/>
                <a:cs typeface="Arial"/>
              </a:defRPr>
            </a:pPr>
            <a:r>
              <a:t>→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A0CEB67-C8C2-4C94-9596-C503BCF04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914900"/>
            <a:ext cx="180975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E8F0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A03D36D-1B2B-4F54-A17A-0F9D2C82F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5048250"/>
            <a:ext cx="15049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51126"/>
                </a:solidFill>
                <a:latin typeface="Arial"/>
                <a:ea typeface="Arial"/>
                <a:cs typeface="Arial"/>
              </a:defRPr>
            </a:pPr>
            <a:r>
              <a:t>SSE / Polling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C7D1633-DB5A-41F1-B4AD-8B7656A08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5334000"/>
            <a:ext cx="15049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F6878"/>
                </a:solidFill>
                <a:latin typeface="Arial"/>
                <a:ea typeface="Arial"/>
                <a:cs typeface="Arial"/>
              </a:defRPr>
            </a:pPr>
            <a:r>
              <a:t>event stream + status refresh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6BDE1CE-B404-41D6-A373-042893C5F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5067300"/>
            <a:ext cx="3048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6C2E12"/>
                </a:solidFill>
                <a:latin typeface="Arial"/>
                <a:ea typeface="Arial"/>
                <a:cs typeface="Arial"/>
              </a:defRPr>
            </a:pPr>
            <a:r>
              <a:t>→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A22F9D5-C692-43EF-A9B1-8370516D3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914900"/>
            <a:ext cx="200025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E4F8EF"/>
          </a:solidFill>
          <a:ln xmlns:a="http://schemas.openxmlformats.org/drawingml/2006/main" w="9525">
            <a:solidFill>
              <a:srgbClr val="0F9F6E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51D6CC5-B606-43F2-AE17-B3CF5FFAC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048250"/>
            <a:ext cx="16954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51126"/>
                </a:solidFill>
                <a:latin typeface="Arial"/>
                <a:ea typeface="Arial"/>
                <a:cs typeface="Arial"/>
              </a:defRPr>
            </a:pPr>
            <a:r>
              <a:t>Diagnostics Studio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2CDCF42-78B7-4937-BB97-328F47AFB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334000"/>
            <a:ext cx="1695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F6878"/>
                </a:solidFill>
                <a:latin typeface="Arial"/>
                <a:ea typeface="Arial"/>
                <a:cs typeface="Arial"/>
              </a:defRPr>
            </a:pPr>
            <a:r>
              <a:t>agent event terminal</a:t>
            </a:r>
          </a:p>
        </p:txBody>
      </p:sp>
    </p:spTree>
    <p:extLst>
      <p:ext uri="{BB962C8B-B14F-4D97-AF65-F5344CB8AC3E}">
        <p14:creationId xmlns:p14="http://schemas.microsoft.com/office/powerpoint/2010/main" val="510298412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4183A77-BC6B-4E84-B305-0D3711F10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7239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6C2E12"/>
                </a:solidFill>
                <a:latin typeface="Arial"/>
                <a:ea typeface="Arial"/>
                <a:cs typeface="Arial"/>
              </a:defRPr>
            </a:pPr>
            <a:r>
              <a:t>VALIDATION PLAN AND CLOSING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41A106-44CC-40AE-AC3C-924007FAE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4350"/>
            <a:ext cx="96202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51126"/>
                </a:solidFill>
                <a:latin typeface="Arial"/>
                <a:ea typeface="Arial"/>
                <a:cs typeface="Arial"/>
              </a:defRPr>
            </a:pPr>
            <a:r>
              <a:t>360개 테스트 셋과 no-tool benchmark는 확보, tool-attached 검증은 다음 단계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CEF0CD-DDC0-451D-864D-F9465AB51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43000"/>
            <a:ext cx="88582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38">
                <a:solidFill>
                  <a:srgbClr val="6F6878"/>
                </a:solidFill>
                <a:latin typeface="Arial"/>
                <a:ea typeface="Arial"/>
                <a:cs typeface="Arial"/>
              </a:defRPr>
            </a:pPr>
            <a:r>
              <a:t>시스템 프롬프트와 edge case 질문을 hallucination/source grounding 검증 근거로 연결한다.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09D283-76E2-40CC-A3A3-82E9293C4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457200"/>
            <a:ext cx="3619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C2E12"/>
                </a:solidFill>
                <a:latin typeface="Arial"/>
                <a:ea typeface="Arial"/>
                <a:cs typeface="Arial"/>
              </a:defRPr>
            </a:pPr>
            <a:r>
              <a:t>14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029A26-D3FA-48A9-B1AF-17737A5A3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478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DCD5"/>
          </a:solidFill>
          <a:ln xmlns:a="http://schemas.openxmlformats.org/drawingml/2006/main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58B0BD-5F9A-4EA4-8977-FACD48BFF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52600"/>
            <a:ext cx="4953000" cy="3524250"/>
          </a:xfrm>
          <a:prstGeom xmlns:a="http://schemas.openxmlformats.org/drawingml/2006/main" prst="roundRect">
            <a:avLst>
              <a:gd name="adj" fmla="val 48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D8D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BF896B-2D0A-4CE3-891C-16CFEDC73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038350"/>
            <a:ext cx="3048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51126"/>
                </a:solidFill>
                <a:latin typeface="Arial"/>
                <a:ea typeface="Arial"/>
                <a:cs typeface="Arial"/>
              </a:defRPr>
            </a:pPr>
            <a:r>
              <a:t>Representative edge cases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B8956D-4192-49A1-B354-D215863B8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14600"/>
            <a:ext cx="8763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655E8"/>
                </a:solidFill>
                <a:latin typeface="Arial"/>
                <a:ea typeface="Arial"/>
                <a:cs typeface="Arial"/>
              </a:defRPr>
            </a:pPr>
            <a:r>
              <a:t>RAG-Q-008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08C792-D917-43B4-B42A-C7902F24A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2514600"/>
            <a:ext cx="952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C2E12"/>
                </a:solidFill>
                <a:latin typeface="Arial"/>
                <a:ea typeface="Arial"/>
                <a:cs typeface="Arial"/>
              </a:defRPr>
            </a:pPr>
            <a:r>
              <a:t>과도한 일반화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0D510E-CB00-46C4-AFA0-33668BAC8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514600"/>
            <a:ext cx="2095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F6878"/>
                </a:solidFill>
                <a:latin typeface="Arial"/>
                <a:ea typeface="Arial"/>
                <a:cs typeface="Arial"/>
              </a:defRPr>
            </a:pPr>
            <a:r>
              <a:t>기초연금 무조건 지급 단정 방지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4A87AB-C1E2-4C24-865C-8175D5898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819400"/>
            <a:ext cx="4095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7E1"/>
          </a:solidFill>
          <a:ln xmlns:a="http://schemas.openxmlformats.org/drawingml/2006/main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16650E-4806-4B36-86BF-B7124A203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009900"/>
            <a:ext cx="8763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655E8"/>
                </a:solidFill>
                <a:latin typeface="Arial"/>
                <a:ea typeface="Arial"/>
                <a:cs typeface="Arial"/>
              </a:defRPr>
            </a:pPr>
            <a:r>
              <a:t>RAG-Q-009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8CA6064-32A8-4335-9D66-90E6FEF62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3009900"/>
            <a:ext cx="952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C2E12"/>
                </a:solidFill>
                <a:latin typeface="Arial"/>
                <a:ea typeface="Arial"/>
                <a:cs typeface="Arial"/>
              </a:defRPr>
            </a:pPr>
            <a:r>
              <a:t>법률 단정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0A3A982-7A21-4F41-B651-5A45D8F59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009900"/>
            <a:ext cx="2095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F6878"/>
                </a:solidFill>
                <a:latin typeface="Arial"/>
                <a:ea typeface="Arial"/>
                <a:cs typeface="Arial"/>
              </a:defRPr>
            </a:pPr>
            <a:r>
              <a:t>나이 제한 전부 불법 단정 방지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4F8304F-95E3-441A-887D-3C236D289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314700"/>
            <a:ext cx="4095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7E1"/>
          </a:solidFill>
          <a:ln xmlns:a="http://schemas.openxmlformats.org/drawingml/2006/main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A63A309-97DB-4F38-A7D0-EBD09750F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505200"/>
            <a:ext cx="8763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655E8"/>
                </a:solidFill>
                <a:latin typeface="Arial"/>
                <a:ea typeface="Arial"/>
                <a:cs typeface="Arial"/>
              </a:defRPr>
            </a:pPr>
            <a:r>
              <a:t>RAG-Q-012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90FAE4E-8978-41C3-8F7A-425552033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3505200"/>
            <a:ext cx="952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C2E12"/>
                </a:solidFill>
                <a:latin typeface="Arial"/>
                <a:ea typeface="Arial"/>
                <a:cs typeface="Arial"/>
              </a:defRPr>
            </a:pPr>
            <a:r>
              <a:t>문서 범위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FD72594-E066-4368-BC71-8788DA313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505200"/>
            <a:ext cx="2095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F6878"/>
                </a:solidFill>
                <a:latin typeface="Arial"/>
                <a:ea typeface="Arial"/>
                <a:cs typeface="Arial"/>
              </a:defRPr>
            </a:pPr>
            <a:r>
              <a:t>법령과 시설 데이터 혼동 방지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69867EB-A9A0-4BAA-8E8B-97E0094DF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810000"/>
            <a:ext cx="4095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7E1"/>
          </a:solidFill>
          <a:ln xmlns:a="http://schemas.openxmlformats.org/drawingml/2006/main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89EA5A7-F227-41ED-B258-774A0961E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00500"/>
            <a:ext cx="8763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655E8"/>
                </a:solidFill>
                <a:latin typeface="Arial"/>
                <a:ea typeface="Arial"/>
                <a:cs typeface="Arial"/>
              </a:defRPr>
            </a:pPr>
            <a:r>
              <a:t>RAG-Q-334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4CF81A5-D798-4CC8-9E47-E04DBD4AC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4000500"/>
            <a:ext cx="952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C2E12"/>
                </a:solidFill>
                <a:latin typeface="Arial"/>
                <a:ea typeface="Arial"/>
                <a:cs typeface="Arial"/>
              </a:defRPr>
            </a:pPr>
            <a:r>
              <a:t>가짜 연락처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0CC75EE-179D-499E-89AE-8E4D0F645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4000500"/>
            <a:ext cx="2095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F6878"/>
                </a:solidFill>
                <a:latin typeface="Arial"/>
                <a:ea typeface="Arial"/>
                <a:cs typeface="Arial"/>
              </a:defRPr>
            </a:pPr>
            <a:r>
              <a:t>없는 전화번호 생성 금지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9C2D8F2-2EA8-4EB6-946E-5CF9DE3AF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05300"/>
            <a:ext cx="4095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7E1"/>
          </a:solidFill>
          <a:ln xmlns:a="http://schemas.openxmlformats.org/drawingml/2006/main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7BFF940-4B5D-4A01-9008-33FE6BB95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495800"/>
            <a:ext cx="8763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655E8"/>
                </a:solidFill>
                <a:latin typeface="Arial"/>
                <a:ea typeface="Arial"/>
                <a:cs typeface="Arial"/>
              </a:defRPr>
            </a:pPr>
            <a:r>
              <a:t>RAG-Q-351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6F61D80-5E20-4782-B59D-C8D072F7D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4495800"/>
            <a:ext cx="952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C2E12"/>
                </a:solidFill>
                <a:latin typeface="Arial"/>
                <a:ea typeface="Arial"/>
                <a:cs typeface="Arial"/>
              </a:defRPr>
            </a:pPr>
            <a:r>
              <a:t>통계 추론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BB79A6B-76B8-4C7E-A783-8FB3B7FE1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4495800"/>
            <a:ext cx="2095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F6878"/>
                </a:solidFill>
                <a:latin typeface="Arial"/>
                <a:ea typeface="Arial"/>
                <a:cs typeface="Arial"/>
              </a:defRPr>
            </a:pPr>
            <a:r>
              <a:t>집계 감소를 폐쇄로 단정 금지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2FA56A9-534D-4749-A4BB-5FBC7CA85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800600"/>
            <a:ext cx="4095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7E1"/>
          </a:solidFill>
          <a:ln xmlns:a="http://schemas.openxmlformats.org/drawingml/2006/main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3067BF0-24E9-4D4F-9F32-E03A39AFF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52600"/>
            <a:ext cx="4953000" cy="3048000"/>
          </a:xfrm>
          <a:prstGeom xmlns:a="http://schemas.openxmlformats.org/drawingml/2006/main" prst="roundRect">
            <a:avLst>
              <a:gd name="adj" fmla="val 562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D8D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D088007-4974-4D05-A54D-8D2FFACFB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19300"/>
            <a:ext cx="2286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51126"/>
                </a:solidFill>
                <a:latin typeface="Arial"/>
                <a:ea typeface="Arial"/>
                <a:cs typeface="Arial"/>
              </a:defRPr>
            </a:pPr>
            <a:r>
              <a:t>Actual benchmark chart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202A5F2-5854-4992-974F-58EBB6FC7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038350"/>
            <a:ext cx="18097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788">
                <a:solidFill>
                  <a:srgbClr val="6F6878"/>
                </a:solidFill>
                <a:latin typeface="Arial"/>
                <a:ea typeface="Arial"/>
                <a:cs typeface="Arial"/>
              </a:defRPr>
            </a:pPr>
            <a:r>
              <a:t>source: cost_vs_latency_scatter.png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06D240B-6DB5-4D02-AF57-EC5E37CC4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324100"/>
            <a:ext cx="4457700" cy="2209800"/>
          </a:xfrm>
          <a:prstGeom xmlns:a="http://schemas.openxmlformats.org/drawingml/2006/main" prst="roundRect">
            <a:avLst>
              <a:gd name="adj" fmla="val 43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FE7E1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AA8ED37-5FF4-4C40-B778-7E2C26FF1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333750"/>
            <a:ext cx="1333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975">
                <a:solidFill>
                  <a:srgbClr val="6F6878"/>
                </a:solidFill>
                <a:latin typeface="Arial"/>
                <a:ea typeface="Arial"/>
                <a:cs typeface="Arial"/>
              </a:defRPr>
            </a:pPr>
            <a:r>
              <a:t>image loading...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B46B1F1-C53E-41EE-9E24-4B443497B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010150"/>
            <a:ext cx="4953000" cy="628650"/>
          </a:xfrm>
          <a:prstGeom xmlns:a="http://schemas.openxmlformats.org/drawingml/2006/main" prst="roundRect">
            <a:avLst>
              <a:gd name="adj" fmla="val 24242"/>
            </a:avLst>
          </a:prstGeom>
          <a:solidFill xmlns:a="http://schemas.openxmlformats.org/drawingml/2006/main">
            <a:srgbClr val="FFF9F3"/>
          </a:solidFill>
          <a:ln xmlns:a="http://schemas.openxmlformats.org/drawingml/2006/main" w="9525">
            <a:solidFill>
              <a:srgbClr val="E2C8B0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962E93B-6686-4E74-94BE-53BECCA1E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200650"/>
            <a:ext cx="952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6C2E12"/>
                </a:solidFill>
                <a:latin typeface="Arial"/>
                <a:ea typeface="Arial"/>
                <a:cs typeface="Arial"/>
              </a:defRPr>
            </a:pPr>
            <a:r>
              <a:t>남은 검증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8D3356F-A126-4394-BA09-CB44671A4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143500"/>
            <a:ext cx="3333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F6878"/>
                </a:solidFill>
                <a:latin typeface="Arial"/>
                <a:ea typeface="Arial"/>
                <a:cs typeface="Arial"/>
              </a:defRPr>
            </a:pPr>
            <a:r>
              <a:t>MCP tool을 붙인 동일 360개 질문 재실행 → retrieval quality, citation grounding, tool error/latency/cost 비교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B63B90B-EDF9-464A-B755-24869EC5B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962650"/>
            <a:ext cx="9334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F6878"/>
                </a:solidFill>
                <a:latin typeface="Arial"/>
                <a:ea typeface="Arial"/>
                <a:cs typeface="Arial"/>
              </a:defRPr>
            </a:pPr>
            <a:r>
              <a:t>근거: backend system prompt, rag_agent_question_test_cases_360.md, no_tool_provider_summary.csv</a:t>
            </a:r>
          </a:p>
        </p:txBody>
      </p:sp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b56225ba3a4d03"/>
          <a:stretch xmlns:a="http://schemas.openxmlformats.org/drawingml/2006/main"/>
        </p:blipFill>
        <p:spPr>
          <a:xfrm xmlns:a="http://schemas.openxmlformats.org/drawingml/2006/main">
            <a:off x="6889750" y="2362200"/>
            <a:ext cx="3556000" cy="21336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172589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2026-06-04T01:27:22.1570000Z</dcterms:created>
  <dcterms:modified xsi:type="dcterms:W3CDTF">2026-06-04T01:27:22.1570000Z</dcterms:modified>
</coreProperties>
</file>