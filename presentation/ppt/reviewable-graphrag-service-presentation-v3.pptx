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84"/>
    <p:restoredTop sz="94677"/>
  </p:normalViewPr>
  <p:slideViewPr>
    <p:cSldViewPr snapToGrid="0">
      <p:cViewPr varScale="1">
        <p:scale>
          <a:sx n="92" d="100"/>
          <a:sy n="92" d="100"/>
        </p:scale>
        <p:origin x="18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7B8B9D11-8F2A-4691-83A0-570463668D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51D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DA2040-E8BF-4CFB-B653-C4C1D8ADAF22}"/>
              </a:ext>
            </a:extLst>
          </p:cNvPr>
          <p:cNvSpPr>
            <a:spLocks noGrp="1"/>
          </p:cNvSpPr>
          <p:nvPr/>
        </p:nvSpPr>
        <p:spPr>
          <a:xfrm>
            <a:off x="7353300" y="0"/>
            <a:ext cx="4838700" cy="6858000"/>
          </a:xfrm>
          <a:prstGeom prst="rect">
            <a:avLst/>
          </a:prstGeom>
          <a:solidFill>
            <a:srgbClr val="F4EDE7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245A94-3525-4852-AF50-B415F3DAD234}"/>
              </a:ext>
            </a:extLst>
          </p:cNvPr>
          <p:cNvSpPr>
            <a:spLocks noGrp="1"/>
          </p:cNvSpPr>
          <p:nvPr/>
        </p:nvSpPr>
        <p:spPr>
          <a:xfrm>
            <a:off x="647700" y="704850"/>
            <a:ext cx="6096000" cy="12001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검수 가능한 GraphRAG 서비스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0DF6A7-F322-4C1F-951E-DF5394C4AFC4}"/>
              </a:ext>
            </a:extLst>
          </p:cNvPr>
          <p:cNvSpPr>
            <a:spLocks noGrp="1"/>
          </p:cNvSpPr>
          <p:nvPr/>
        </p:nvSpPr>
        <p:spPr>
          <a:xfrm>
            <a:off x="685800" y="2038350"/>
            <a:ext cx="57150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D8D2DC"/>
                </a:solidFill>
                <a:latin typeface="Arial"/>
                <a:ea typeface="Arial"/>
                <a:cs typeface="Arial"/>
              </a:defRPr>
            </a:pPr>
            <a:r>
              <a:t>Streaming Frontend, LLM Runtime Backend, GraphRAG Knowledge Layer를 분리한 법령/조례 RAG 시스템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0510B65-C502-4F75-90CE-D5277F28C992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5334000" cy="285750"/>
          </a:xfrm>
          <a:prstGeom prst="roundRect">
            <a:avLst>
              <a:gd name="adj" fmla="val 50000"/>
            </a:avLst>
          </a:prstGeom>
          <a:solidFill>
            <a:srgbClr val="122E28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6C25D1-17EB-4DE9-B0B5-313FC0C3B276}"/>
              </a:ext>
            </a:extLst>
          </p:cNvPr>
          <p:cNvSpPr>
            <a:spLocks noGrp="1"/>
          </p:cNvSpPr>
          <p:nvPr/>
        </p:nvSpPr>
        <p:spPr>
          <a:xfrm>
            <a:off x="800100" y="3124200"/>
            <a:ext cx="51054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Streaming FE → Main Backend → MCP → GraphRAG → Memgraph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16B1A4-FF67-493A-AB12-ED407710406A}"/>
              </a:ext>
            </a:extLst>
          </p:cNvPr>
          <p:cNvSpPr>
            <a:spLocks noGrp="1"/>
          </p:cNvSpPr>
          <p:nvPr/>
        </p:nvSpPr>
        <p:spPr>
          <a:xfrm>
            <a:off x="685800" y="40386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 b="1">
                <a:solidFill>
                  <a:srgbClr val="C9B6A8"/>
                </a:solidFill>
                <a:latin typeface="Arial"/>
                <a:ea typeface="Arial"/>
                <a:cs typeface="Arial"/>
              </a:defRPr>
            </a:pPr>
            <a:r>
              <a:t>핵심 주장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C3D72F-3C60-4D73-A6D7-DF5EEEE39947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59055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RAG system은 knowledge layer이고, Main Backend는 answer generation runtime이다. 두 영역은 MCP read-only tool boundary로 분리했다.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14BECD-BE3F-4B29-BD8E-89788BE6838E}"/>
              </a:ext>
            </a:extLst>
          </p:cNvPr>
          <p:cNvSpPr>
            <a:spLocks noGrp="1"/>
          </p:cNvSpPr>
          <p:nvPr/>
        </p:nvSpPr>
        <p:spPr>
          <a:xfrm>
            <a:off x="7924800" y="952500"/>
            <a:ext cx="30480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C06831-887A-433B-AF4F-7969483EFF26}"/>
              </a:ext>
            </a:extLst>
          </p:cNvPr>
          <p:cNvSpPr>
            <a:spLocks noGrp="1"/>
          </p:cNvSpPr>
          <p:nvPr/>
        </p:nvSpPr>
        <p:spPr>
          <a:xfrm>
            <a:off x="8096250" y="1085850"/>
            <a:ext cx="2705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40.81%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6D638A-F885-46CC-9FA2-6C62F87E665A}"/>
              </a:ext>
            </a:extLst>
          </p:cNvPr>
          <p:cNvSpPr>
            <a:spLocks noGrp="1"/>
          </p:cNvSpPr>
          <p:nvPr/>
        </p:nvSpPr>
        <p:spPr>
          <a:xfrm>
            <a:off x="8096250" y="1409700"/>
            <a:ext cx="2705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TOON 전처리 전체 토큰 절감률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94CFB4-EB47-4C37-8EF9-4C0BB52E8E85}"/>
              </a:ext>
            </a:extLst>
          </p:cNvPr>
          <p:cNvSpPr>
            <a:spLocks noGrp="1"/>
          </p:cNvSpPr>
          <p:nvPr/>
        </p:nvSpPr>
        <p:spPr>
          <a:xfrm>
            <a:off x="7924800" y="1924050"/>
            <a:ext cx="30480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5FC230-1735-470A-B510-E96F8AB67E9F}"/>
              </a:ext>
            </a:extLst>
          </p:cNvPr>
          <p:cNvSpPr>
            <a:spLocks noGrp="1"/>
          </p:cNvSpPr>
          <p:nvPr/>
        </p:nvSpPr>
        <p:spPr>
          <a:xfrm>
            <a:off x="8096250" y="2057400"/>
            <a:ext cx="2705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360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A345C-40C9-4D26-8ED8-103B15C31617}"/>
              </a:ext>
            </a:extLst>
          </p:cNvPr>
          <p:cNvSpPr>
            <a:spLocks noGrp="1"/>
          </p:cNvSpPr>
          <p:nvPr/>
        </p:nvSpPr>
        <p:spPr>
          <a:xfrm>
            <a:off x="8096250" y="2381250"/>
            <a:ext cx="2705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대표/엣지 질문 테스트 케이스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67AAB4E-6473-4BFD-B9CE-D380FB377F03}"/>
              </a:ext>
            </a:extLst>
          </p:cNvPr>
          <p:cNvSpPr>
            <a:spLocks noGrp="1"/>
          </p:cNvSpPr>
          <p:nvPr/>
        </p:nvSpPr>
        <p:spPr>
          <a:xfrm>
            <a:off x="7924800" y="2895600"/>
            <a:ext cx="30480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EF944A-E870-41A4-889E-B5E4DF8EB294}"/>
              </a:ext>
            </a:extLst>
          </p:cNvPr>
          <p:cNvSpPr>
            <a:spLocks noGrp="1"/>
          </p:cNvSpPr>
          <p:nvPr/>
        </p:nvSpPr>
        <p:spPr>
          <a:xfrm>
            <a:off x="8096250" y="3028950"/>
            <a:ext cx="2705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reviewable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ECFA0C-5498-492A-BA86-B5525D4C97B9}"/>
              </a:ext>
            </a:extLst>
          </p:cNvPr>
          <p:cNvSpPr>
            <a:spLocks noGrp="1"/>
          </p:cNvSpPr>
          <p:nvPr/>
        </p:nvSpPr>
        <p:spPr>
          <a:xfrm>
            <a:off x="8096250" y="3352800"/>
            <a:ext cx="2705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candidate first, edge later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002AA42-F7E9-4684-B285-8B3B93A5169C}"/>
              </a:ext>
            </a:extLst>
          </p:cNvPr>
          <p:cNvSpPr>
            <a:spLocks noGrp="1"/>
          </p:cNvSpPr>
          <p:nvPr/>
        </p:nvSpPr>
        <p:spPr>
          <a:xfrm>
            <a:off x="7924800" y="3867150"/>
            <a:ext cx="30480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750F2C1-1CC3-4522-A9F2-AF2BA0BAF78F}"/>
              </a:ext>
            </a:extLst>
          </p:cNvPr>
          <p:cNvSpPr>
            <a:spLocks noGrp="1"/>
          </p:cNvSpPr>
          <p:nvPr/>
        </p:nvSpPr>
        <p:spPr>
          <a:xfrm>
            <a:off x="8096250" y="4000500"/>
            <a:ext cx="27051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read-only MCP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DC3A58-069C-40B1-9166-4975AEF4408C}"/>
              </a:ext>
            </a:extLst>
          </p:cNvPr>
          <p:cNvSpPr>
            <a:spLocks noGrp="1"/>
          </p:cNvSpPr>
          <p:nvPr/>
        </p:nvSpPr>
        <p:spPr>
          <a:xfrm>
            <a:off x="8096250" y="4324350"/>
            <a:ext cx="27051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최종 backend graph query boundary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8B0177-CB49-4A98-AFAE-F8481F904BE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476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9D96A8"/>
                </a:solidFill>
                <a:latin typeface="Arial"/>
                <a:ea typeface="Arial"/>
                <a:cs typeface="Arial"/>
              </a:defRPr>
            </a:pPr>
            <a:r>
              <a:t>SKN28 3rd 1Team · GraphRAG Presentation v3</a:t>
            </a:r>
          </a:p>
        </p:txBody>
      </p:sp>
    </p:spTree>
    <p:extLst>
      <p:ext uri="{BB962C8B-B14F-4D97-AF65-F5344CB8AC3E}">
        <p14:creationId xmlns:p14="http://schemas.microsoft.com/office/powerpoint/2010/main" val="2066516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ED1396E-D39C-4605-9539-8C99B2E79E5A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PROBLEM FRAMING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21178E-60AC-4022-B972-1006411A19C6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Why vector-only RAG is not enough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177EE7-059F-42F5-AAA5-F6458ABEBAAD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법령/조례 도메인은 의미 유사도뿐 아니라 조항 간 관계, 예외, 근거 검수가 필요하다.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B7CC0-CDCA-4D75-A067-DBE6AB27DCDC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0ED966-AC99-4DCC-9619-D2305CCE45F5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D82E1F-B374-4599-94E2-DFD37DB174A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762500" cy="373380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9525">
            <a:solidFill>
              <a:srgbClr val="E2D7C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CD578-52D4-4E16-A992-CC29E46BAA17}"/>
              </a:ext>
            </a:extLst>
          </p:cNvPr>
          <p:cNvSpPr>
            <a:spLocks noGrp="1"/>
          </p:cNvSpPr>
          <p:nvPr/>
        </p:nvSpPr>
        <p:spPr>
          <a:xfrm>
            <a:off x="1009650" y="2095500"/>
            <a:ext cx="2476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일반 vector RAG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30C3D87-6C07-44F9-A362-77CC6F01DC00}"/>
              </a:ext>
            </a:extLst>
          </p:cNvPr>
          <p:cNvSpPr>
            <a:spLocks noGrp="1"/>
          </p:cNvSpPr>
          <p:nvPr/>
        </p:nvSpPr>
        <p:spPr>
          <a:xfrm>
            <a:off x="1066800" y="2686050"/>
            <a:ext cx="1428750" cy="819150"/>
          </a:xfrm>
          <a:prstGeom prst="roundRect">
            <a:avLst>
              <a:gd name="adj" fmla="val 13953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8E0BA0-5F38-4170-B887-67A975CE4F71}"/>
              </a:ext>
            </a:extLst>
          </p:cNvPr>
          <p:cNvSpPr>
            <a:spLocks noGrp="1"/>
          </p:cNvSpPr>
          <p:nvPr/>
        </p:nvSpPr>
        <p:spPr>
          <a:xfrm>
            <a:off x="1219200" y="2819400"/>
            <a:ext cx="1123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Chunk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4746C4-2B4D-47E5-9AEF-DE68A608E986}"/>
              </a:ext>
            </a:extLst>
          </p:cNvPr>
          <p:cNvSpPr>
            <a:spLocks noGrp="1"/>
          </p:cNvSpPr>
          <p:nvPr/>
        </p:nvSpPr>
        <p:spPr>
          <a:xfrm>
            <a:off x="1219200" y="3105150"/>
            <a:ext cx="11239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문서를 조각으로 나눔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FFD413-142E-43C4-B799-5F61617E13BC}"/>
              </a:ext>
            </a:extLst>
          </p:cNvPr>
          <p:cNvSpPr>
            <a:spLocks noGrp="1"/>
          </p:cNvSpPr>
          <p:nvPr/>
        </p:nvSpPr>
        <p:spPr>
          <a:xfrm>
            <a:off x="2667000" y="2981325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FC9E7E-8D0A-4D32-8486-DA11B6D27CD7}"/>
              </a:ext>
            </a:extLst>
          </p:cNvPr>
          <p:cNvSpPr>
            <a:spLocks noGrp="1"/>
          </p:cNvSpPr>
          <p:nvPr/>
        </p:nvSpPr>
        <p:spPr>
          <a:xfrm>
            <a:off x="3105150" y="2686050"/>
            <a:ext cx="1619250" cy="819150"/>
          </a:xfrm>
          <a:prstGeom prst="roundRect">
            <a:avLst>
              <a:gd name="adj" fmla="val 13953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D8ACE9-380F-42C2-8442-58E701CE3E3B}"/>
              </a:ext>
            </a:extLst>
          </p:cNvPr>
          <p:cNvSpPr>
            <a:spLocks noGrp="1"/>
          </p:cNvSpPr>
          <p:nvPr/>
        </p:nvSpPr>
        <p:spPr>
          <a:xfrm>
            <a:off x="3257550" y="2819400"/>
            <a:ext cx="1314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Embedding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73D331-F556-43C8-A42D-6908F32F4045}"/>
              </a:ext>
            </a:extLst>
          </p:cNvPr>
          <p:cNvSpPr>
            <a:spLocks noGrp="1"/>
          </p:cNvSpPr>
          <p:nvPr/>
        </p:nvSpPr>
        <p:spPr>
          <a:xfrm>
            <a:off x="3257550" y="3105150"/>
            <a:ext cx="131445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벡터화 후 top-k 검색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00DA10-B638-4B5C-BC26-90800A8D4AB5}"/>
              </a:ext>
            </a:extLst>
          </p:cNvPr>
          <p:cNvSpPr>
            <a:spLocks noGrp="1"/>
          </p:cNvSpPr>
          <p:nvPr/>
        </p:nvSpPr>
        <p:spPr>
          <a:xfrm>
            <a:off x="2228850" y="38100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61C2852-DA64-4F84-89D0-C9794BFD9DFF}"/>
              </a:ext>
            </a:extLst>
          </p:cNvPr>
          <p:cNvSpPr>
            <a:spLocks noGrp="1"/>
          </p:cNvSpPr>
          <p:nvPr/>
        </p:nvSpPr>
        <p:spPr>
          <a:xfrm>
            <a:off x="1924050" y="417195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FFE7EF"/>
          </a:solidFill>
          <a:ln w="9525">
            <a:solidFill>
              <a:srgbClr val="BE345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576528-7705-421F-BB53-DAB55B0F62D6}"/>
              </a:ext>
            </a:extLst>
          </p:cNvPr>
          <p:cNvSpPr>
            <a:spLocks noGrp="1"/>
          </p:cNvSpPr>
          <p:nvPr/>
        </p:nvSpPr>
        <p:spPr>
          <a:xfrm>
            <a:off x="2076450" y="4305300"/>
            <a:ext cx="1695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Answer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8B96F8-DFAE-4684-AAE1-73FD1E462888}"/>
              </a:ext>
            </a:extLst>
          </p:cNvPr>
          <p:cNvSpPr>
            <a:spLocks noGrp="1"/>
          </p:cNvSpPr>
          <p:nvPr/>
        </p:nvSpPr>
        <p:spPr>
          <a:xfrm>
            <a:off x="2076450" y="4591050"/>
            <a:ext cx="169545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근거/관계 검수는 약함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DCA588-55C1-43B9-8E32-473A02A6CB79}"/>
              </a:ext>
            </a:extLst>
          </p:cNvPr>
          <p:cNvSpPr>
            <a:spLocks noGrp="1"/>
          </p:cNvSpPr>
          <p:nvPr/>
        </p:nvSpPr>
        <p:spPr>
          <a:xfrm>
            <a:off x="1047750" y="5143500"/>
            <a:ext cx="3714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13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유사 문장은 찾지만 조문 간 관계와 예외의 타당성을 검수하기 어렵다.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E2EBD0D-1225-4666-B89D-5F46FF1966B5}"/>
              </a:ext>
            </a:extLst>
          </p:cNvPr>
          <p:cNvSpPr>
            <a:spLocks noGrp="1"/>
          </p:cNvSpPr>
          <p:nvPr/>
        </p:nvSpPr>
        <p:spPr>
          <a:xfrm>
            <a:off x="6667500" y="1790700"/>
            <a:ext cx="4762500" cy="3733800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 w="9525">
            <a:solidFill>
              <a:srgbClr val="D8D0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0F5CCD-0E4B-4AC5-87BF-1A262A396756}"/>
              </a:ext>
            </a:extLst>
          </p:cNvPr>
          <p:cNvSpPr>
            <a:spLocks noGrp="1"/>
          </p:cNvSpPr>
          <p:nvPr/>
        </p:nvSpPr>
        <p:spPr>
          <a:xfrm>
            <a:off x="6991350" y="2095500"/>
            <a:ext cx="24765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725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이번 GraphRAG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967DC3F-ED0B-4235-B864-D6F4D0BE6E6C}"/>
              </a:ext>
            </a:extLst>
          </p:cNvPr>
          <p:cNvSpPr>
            <a:spLocks noGrp="1"/>
          </p:cNvSpPr>
          <p:nvPr/>
        </p:nvSpPr>
        <p:spPr>
          <a:xfrm>
            <a:off x="7105650" y="2628900"/>
            <a:ext cx="1905000" cy="781050"/>
          </a:xfrm>
          <a:prstGeom prst="roundRect">
            <a:avLst>
              <a:gd name="adj" fmla="val 14634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569B58-8FF0-4CCD-B8C1-12BC28A2D7DB}"/>
              </a:ext>
            </a:extLst>
          </p:cNvPr>
          <p:cNvSpPr>
            <a:spLocks noGrp="1"/>
          </p:cNvSpPr>
          <p:nvPr/>
        </p:nvSpPr>
        <p:spPr>
          <a:xfrm>
            <a:off x="7258050" y="2762250"/>
            <a:ext cx="1600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Chunk + Embedding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41E322-A28D-4DAF-93B9-E11D17B3D83F}"/>
              </a:ext>
            </a:extLst>
          </p:cNvPr>
          <p:cNvSpPr>
            <a:spLocks noGrp="1"/>
          </p:cNvSpPr>
          <p:nvPr/>
        </p:nvSpPr>
        <p:spPr>
          <a:xfrm>
            <a:off x="7258050" y="3048000"/>
            <a:ext cx="1600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의미 단위 chunk와 vector 저장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784E399-311A-4223-8EB7-919A3164355A}"/>
              </a:ext>
            </a:extLst>
          </p:cNvPr>
          <p:cNvSpPr>
            <a:spLocks noGrp="1"/>
          </p:cNvSpPr>
          <p:nvPr/>
        </p:nvSpPr>
        <p:spPr>
          <a:xfrm>
            <a:off x="9105900" y="29146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86A7BD7-5B03-48B0-BBF8-7E68E5679521}"/>
              </a:ext>
            </a:extLst>
          </p:cNvPr>
          <p:cNvSpPr>
            <a:spLocks noGrp="1"/>
          </p:cNvSpPr>
          <p:nvPr/>
        </p:nvSpPr>
        <p:spPr>
          <a:xfrm>
            <a:off x="9467850" y="2628900"/>
            <a:ext cx="1619250" cy="781050"/>
          </a:xfrm>
          <a:prstGeom prst="roundRect">
            <a:avLst>
              <a:gd name="adj" fmla="val 14634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796715-AB9F-4296-A1C5-10B175F8F53C}"/>
              </a:ext>
            </a:extLst>
          </p:cNvPr>
          <p:cNvSpPr>
            <a:spLocks noGrp="1"/>
          </p:cNvSpPr>
          <p:nvPr/>
        </p:nvSpPr>
        <p:spPr>
          <a:xfrm>
            <a:off x="9620250" y="2762250"/>
            <a:ext cx="1314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 Traverse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8D2D9B-59B9-4923-9CAA-E457FFF7B4CC}"/>
              </a:ext>
            </a:extLst>
          </p:cNvPr>
          <p:cNvSpPr>
            <a:spLocks noGrp="1"/>
          </p:cNvSpPr>
          <p:nvPr/>
        </p:nvSpPr>
        <p:spPr>
          <a:xfrm>
            <a:off x="9620250" y="3048000"/>
            <a:ext cx="1314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문서/조항/후보 관계 탐색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3F7F34-35F2-48D0-A627-3664211D41DC}"/>
              </a:ext>
            </a:extLst>
          </p:cNvPr>
          <p:cNvSpPr>
            <a:spLocks noGrp="1"/>
          </p:cNvSpPr>
          <p:nvPr/>
        </p:nvSpPr>
        <p:spPr>
          <a:xfrm>
            <a:off x="8153400" y="37338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C6D27CF8-1BA3-43A5-BA6C-99A4C6116760}"/>
              </a:ext>
            </a:extLst>
          </p:cNvPr>
          <p:cNvSpPr>
            <a:spLocks noGrp="1"/>
          </p:cNvSpPr>
          <p:nvPr/>
        </p:nvSpPr>
        <p:spPr>
          <a:xfrm>
            <a:off x="7105650" y="4095750"/>
            <a:ext cx="1714500" cy="781050"/>
          </a:xfrm>
          <a:prstGeom prst="roundRect">
            <a:avLst>
              <a:gd name="adj" fmla="val 14634"/>
            </a:avLst>
          </a:prstGeom>
          <a:solidFill>
            <a:srgbClr val="FFF1D6"/>
          </a:solidFill>
          <a:ln w="952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129322-304B-4961-AA0D-73187317BE63}"/>
              </a:ext>
            </a:extLst>
          </p:cNvPr>
          <p:cNvSpPr>
            <a:spLocks noGrp="1"/>
          </p:cNvSpPr>
          <p:nvPr/>
        </p:nvSpPr>
        <p:spPr>
          <a:xfrm>
            <a:off x="7258050" y="4229100"/>
            <a:ext cx="1409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Candidate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1ACBEC-F10C-41B1-85D8-2D194307ED3A}"/>
              </a:ext>
            </a:extLst>
          </p:cNvPr>
          <p:cNvSpPr>
            <a:spLocks noGrp="1"/>
          </p:cNvSpPr>
          <p:nvPr/>
        </p:nvSpPr>
        <p:spPr>
          <a:xfrm>
            <a:off x="7258050" y="4514850"/>
            <a:ext cx="1409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edge가 아닌 검수 artifact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26D97B-6A8F-4CBC-8253-50AA9259BD5E}"/>
              </a:ext>
            </a:extLst>
          </p:cNvPr>
          <p:cNvSpPr>
            <a:spLocks noGrp="1"/>
          </p:cNvSpPr>
          <p:nvPr/>
        </p:nvSpPr>
        <p:spPr>
          <a:xfrm>
            <a:off x="8972550" y="43815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A07A96D-461A-4DE2-8714-1FA10262C046}"/>
              </a:ext>
            </a:extLst>
          </p:cNvPr>
          <p:cNvSpPr>
            <a:spLocks noGrp="1"/>
          </p:cNvSpPr>
          <p:nvPr/>
        </p:nvSpPr>
        <p:spPr>
          <a:xfrm>
            <a:off x="9429750" y="4095750"/>
            <a:ext cx="1714500" cy="781050"/>
          </a:xfrm>
          <a:prstGeom prst="roundRect">
            <a:avLst>
              <a:gd name="adj" fmla="val 14634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256F74B-7B45-4902-BD49-A332F0F426EA}"/>
              </a:ext>
            </a:extLst>
          </p:cNvPr>
          <p:cNvSpPr>
            <a:spLocks noGrp="1"/>
          </p:cNvSpPr>
          <p:nvPr/>
        </p:nvSpPr>
        <p:spPr>
          <a:xfrm>
            <a:off x="9582150" y="4229100"/>
            <a:ext cx="1409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Human Review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6751E78-C328-4D38-8F9E-69B1ABF27810}"/>
              </a:ext>
            </a:extLst>
          </p:cNvPr>
          <p:cNvSpPr>
            <a:spLocks noGrp="1"/>
          </p:cNvSpPr>
          <p:nvPr/>
        </p:nvSpPr>
        <p:spPr>
          <a:xfrm>
            <a:off x="9582150" y="4514850"/>
            <a:ext cx="14097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승인 후보만 edge 확정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28B938D-864C-4BDA-93CF-C607F8EF1628}"/>
              </a:ext>
            </a:extLst>
          </p:cNvPr>
          <p:cNvSpPr>
            <a:spLocks noGrp="1"/>
          </p:cNvSpPr>
          <p:nvPr/>
        </p:nvSpPr>
        <p:spPr>
          <a:xfrm>
            <a:off x="7105650" y="5143500"/>
            <a:ext cx="3714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13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LLM은 제안하고, 사용자가 검수하며, DB에는 검증된 관계만 반영한다.</a:t>
            </a:r>
          </a:p>
        </p:txBody>
      </p:sp>
    </p:spTree>
    <p:extLst>
      <p:ext uri="{BB962C8B-B14F-4D97-AF65-F5344CB8AC3E}">
        <p14:creationId xmlns:p14="http://schemas.microsoft.com/office/powerpoint/2010/main" val="1684100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D4C0410-7FAA-4122-A732-E58A314F49B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DATA &amp; PREPROCESSING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9B2FB3-5940-4C84-B7AB-61F493719E35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law.go.kr JSON을 TOON으로 바꿔 전체 토큰 40.81% 절감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C10B6-1E24-4443-ACED-87C1F5CBE9B2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원본 API 구조를 보존하되 LLM 입력 비용을 줄이기 위해 JSON 문법 토큰을 제거했다.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631F98-DB63-4CCF-9679-0BDDA85324B1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639D5D-9BA3-439D-8DB0-C68886430431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489F764-1EBA-4328-BD36-2C08DE4CA5F0}"/>
              </a:ext>
            </a:extLst>
          </p:cNvPr>
          <p:cNvSpPr>
            <a:spLocks noGrp="1"/>
          </p:cNvSpPr>
          <p:nvPr/>
        </p:nvSpPr>
        <p:spPr>
          <a:xfrm>
            <a:off x="742950" y="1790700"/>
            <a:ext cx="2286000" cy="800100"/>
          </a:xfrm>
          <a:prstGeom prst="roundRect">
            <a:avLst>
              <a:gd name="adj" fmla="val 14286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E88B4F4-F0EC-4C7F-937C-8A18C45EFA94}"/>
              </a:ext>
            </a:extLst>
          </p:cNvPr>
          <p:cNvSpPr>
            <a:spLocks noGrp="1"/>
          </p:cNvSpPr>
          <p:nvPr/>
        </p:nvSpPr>
        <p:spPr>
          <a:xfrm>
            <a:off x="895350" y="1924050"/>
            <a:ext cx="1981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law.go.kr API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0AA8B8-38C5-4BA8-B036-8BDD552B9D20}"/>
              </a:ext>
            </a:extLst>
          </p:cNvPr>
          <p:cNvSpPr>
            <a:spLocks noGrp="1"/>
          </p:cNvSpPr>
          <p:nvPr/>
        </p:nvSpPr>
        <p:spPr>
          <a:xfrm>
            <a:off x="895350" y="2209800"/>
            <a:ext cx="19812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lawSearch.do / lawService.do / target=ordin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1EFC48-B776-42C8-A116-823A8A6CD359}"/>
              </a:ext>
            </a:extLst>
          </p:cNvPr>
          <p:cNvSpPr>
            <a:spLocks noGrp="1"/>
          </p:cNvSpPr>
          <p:nvPr/>
        </p:nvSpPr>
        <p:spPr>
          <a:xfrm>
            <a:off x="3181350" y="20764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1FFBFD-842C-4459-AD78-674F3E7723FF}"/>
              </a:ext>
            </a:extLst>
          </p:cNvPr>
          <p:cNvSpPr>
            <a:spLocks noGrp="1"/>
          </p:cNvSpPr>
          <p:nvPr/>
        </p:nvSpPr>
        <p:spPr>
          <a:xfrm>
            <a:off x="3714750" y="1790700"/>
            <a:ext cx="2000250" cy="800100"/>
          </a:xfrm>
          <a:prstGeom prst="roundRect">
            <a:avLst>
              <a:gd name="adj" fmla="val 14286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F1152A-8C75-4B47-B5BD-A1E12F237420}"/>
              </a:ext>
            </a:extLst>
          </p:cNvPr>
          <p:cNvSpPr>
            <a:spLocks noGrp="1"/>
          </p:cNvSpPr>
          <p:nvPr/>
        </p:nvSpPr>
        <p:spPr>
          <a:xfrm>
            <a:off x="3867150" y="1924050"/>
            <a:ext cx="1695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JSON 원본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04563C9-1339-4DEB-9317-334B63958F5A}"/>
              </a:ext>
            </a:extLst>
          </p:cNvPr>
          <p:cNvSpPr>
            <a:spLocks noGrp="1"/>
          </p:cNvSpPr>
          <p:nvPr/>
        </p:nvSpPr>
        <p:spPr>
          <a:xfrm>
            <a:off x="3867150" y="2209800"/>
            <a:ext cx="16954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법령/조례 원천 구조 저장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819496-A090-4D80-B187-7B12EDDE1CD0}"/>
              </a:ext>
            </a:extLst>
          </p:cNvPr>
          <p:cNvSpPr>
            <a:spLocks noGrp="1"/>
          </p:cNvSpPr>
          <p:nvPr/>
        </p:nvSpPr>
        <p:spPr>
          <a:xfrm>
            <a:off x="5867400" y="20764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0B67462-F98F-4D5E-AC5B-A06F22BFB5EB}"/>
              </a:ext>
            </a:extLst>
          </p:cNvPr>
          <p:cNvSpPr>
            <a:spLocks noGrp="1"/>
          </p:cNvSpPr>
          <p:nvPr/>
        </p:nvSpPr>
        <p:spPr>
          <a:xfrm>
            <a:off x="6400800" y="1790700"/>
            <a:ext cx="2190750" cy="800100"/>
          </a:xfrm>
          <a:prstGeom prst="roundRect">
            <a:avLst>
              <a:gd name="adj" fmla="val 14286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EC204D-7C7F-4F6E-B09A-086F6F19A24A}"/>
              </a:ext>
            </a:extLst>
          </p:cNvPr>
          <p:cNvSpPr>
            <a:spLocks noGrp="1"/>
          </p:cNvSpPr>
          <p:nvPr/>
        </p:nvSpPr>
        <p:spPr>
          <a:xfrm>
            <a:off x="6553200" y="1924050"/>
            <a:ext cx="1885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TOON 변환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2DE2BC-C549-427B-94DB-D80E5E65165A}"/>
              </a:ext>
            </a:extLst>
          </p:cNvPr>
          <p:cNvSpPr>
            <a:spLocks noGrp="1"/>
          </p:cNvSpPr>
          <p:nvPr/>
        </p:nvSpPr>
        <p:spPr>
          <a:xfrm>
            <a:off x="6553200" y="2209800"/>
            <a:ext cx="1885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LLM-friendly text representation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4F4D24-C6A8-4E65-B6EB-30F40D8027C7}"/>
              </a:ext>
            </a:extLst>
          </p:cNvPr>
          <p:cNvSpPr>
            <a:spLocks noGrp="1"/>
          </p:cNvSpPr>
          <p:nvPr/>
        </p:nvSpPr>
        <p:spPr>
          <a:xfrm>
            <a:off x="8743950" y="20764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F26C736-6B31-48DB-9DB2-718ACC981132}"/>
              </a:ext>
            </a:extLst>
          </p:cNvPr>
          <p:cNvSpPr>
            <a:spLocks noGrp="1"/>
          </p:cNvSpPr>
          <p:nvPr/>
        </p:nvSpPr>
        <p:spPr>
          <a:xfrm>
            <a:off x="9277350" y="1790700"/>
            <a:ext cx="2095500" cy="800100"/>
          </a:xfrm>
          <a:prstGeom prst="roundRect">
            <a:avLst>
              <a:gd name="adj" fmla="val 14286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DC93F6F-5AD3-4762-ACA5-1EB6ED41471B}"/>
              </a:ext>
            </a:extLst>
          </p:cNvPr>
          <p:cNvSpPr>
            <a:spLocks noGrp="1"/>
          </p:cNvSpPr>
          <p:nvPr/>
        </p:nvSpPr>
        <p:spPr>
          <a:xfrm>
            <a:off x="9429750" y="1924050"/>
            <a:ext cx="1790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입력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296141-3363-4DB1-B526-179E4AD3C641}"/>
              </a:ext>
            </a:extLst>
          </p:cNvPr>
          <p:cNvSpPr>
            <a:spLocks noGrp="1"/>
          </p:cNvSpPr>
          <p:nvPr/>
        </p:nvSpPr>
        <p:spPr>
          <a:xfrm>
            <a:off x="9429750" y="2209800"/>
            <a:ext cx="179070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chunking agent가 읽는 전처리 문서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307136D-228E-4E64-8E32-476804D14847}"/>
              </a:ext>
            </a:extLst>
          </p:cNvPr>
          <p:cNvSpPr>
            <a:spLocks noGrp="1"/>
          </p:cNvSpPr>
          <p:nvPr/>
        </p:nvSpPr>
        <p:spPr>
          <a:xfrm>
            <a:off x="762000" y="3238500"/>
            <a:ext cx="34290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Token compression proof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110E74-A75B-46FF-9C25-3F0D9049DDF3}"/>
              </a:ext>
            </a:extLst>
          </p:cNvPr>
          <p:cNvSpPr>
            <a:spLocks noGrp="1"/>
          </p:cNvSpPr>
          <p:nvPr/>
        </p:nvSpPr>
        <p:spPr>
          <a:xfrm>
            <a:off x="762000" y="3676650"/>
            <a:ext cx="1066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320,991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385F5C3-0FD5-41A6-AAE2-5EE17E09D462}"/>
              </a:ext>
            </a:extLst>
          </p:cNvPr>
          <p:cNvSpPr>
            <a:spLocks noGrp="1"/>
          </p:cNvSpPr>
          <p:nvPr/>
        </p:nvSpPr>
        <p:spPr>
          <a:xfrm>
            <a:off x="2000250" y="3714750"/>
            <a:ext cx="5334000" cy="209550"/>
          </a:xfrm>
          <a:prstGeom prst="roundRect">
            <a:avLst>
              <a:gd name="adj" fmla="val 50000"/>
            </a:avLst>
          </a:prstGeom>
          <a:solidFill>
            <a:srgbClr val="C49A82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E14444-00DB-413D-A245-20E3EE412DE5}"/>
              </a:ext>
            </a:extLst>
          </p:cNvPr>
          <p:cNvSpPr>
            <a:spLocks noGrp="1"/>
          </p:cNvSpPr>
          <p:nvPr/>
        </p:nvSpPr>
        <p:spPr>
          <a:xfrm>
            <a:off x="2000250" y="4000500"/>
            <a:ext cx="171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원본 JSON tokens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2C2BC8-6BB0-45D6-A06C-E0387EA1F678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10668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189,997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912F491-2F23-4D15-BB24-648B53928EE5}"/>
              </a:ext>
            </a:extLst>
          </p:cNvPr>
          <p:cNvSpPr>
            <a:spLocks noGrp="1"/>
          </p:cNvSpPr>
          <p:nvPr/>
        </p:nvSpPr>
        <p:spPr>
          <a:xfrm>
            <a:off x="2000250" y="4476750"/>
            <a:ext cx="3162300" cy="2095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EA1721-AA63-4C2B-9B55-0EC1AFFA2BB6}"/>
              </a:ext>
            </a:extLst>
          </p:cNvPr>
          <p:cNvSpPr>
            <a:spLocks noGrp="1"/>
          </p:cNvSpPr>
          <p:nvPr/>
        </p:nvSpPr>
        <p:spPr>
          <a:xfrm>
            <a:off x="2000250" y="4762500"/>
            <a:ext cx="1524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TOON tokens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C094831-EFBE-445C-842A-4E3AD575C391}"/>
              </a:ext>
            </a:extLst>
          </p:cNvPr>
          <p:cNvSpPr>
            <a:spLocks noGrp="1"/>
          </p:cNvSpPr>
          <p:nvPr/>
        </p:nvSpPr>
        <p:spPr>
          <a:xfrm>
            <a:off x="7524750" y="3352800"/>
            <a:ext cx="3429000" cy="161925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A22EB0-7DA8-4D82-9510-65065921F83B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절감 토큰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EC5FD6-B810-44B1-96CB-97F06713158D}"/>
              </a:ext>
            </a:extLst>
          </p:cNvPr>
          <p:cNvSpPr>
            <a:spLocks noGrp="1"/>
          </p:cNvSpPr>
          <p:nvPr/>
        </p:nvSpPr>
        <p:spPr>
          <a:xfrm>
            <a:off x="7848600" y="3886200"/>
            <a:ext cx="171450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850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130,994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3C0E75-DA4B-4B1F-974E-E73093EE2F45}"/>
              </a:ext>
            </a:extLst>
          </p:cNvPr>
          <p:cNvSpPr>
            <a:spLocks noGrp="1"/>
          </p:cNvSpPr>
          <p:nvPr/>
        </p:nvSpPr>
        <p:spPr>
          <a:xfrm>
            <a:off x="7848600" y="4438650"/>
            <a:ext cx="2667000" cy="3619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전체 합계 기준 절감률 40.81%. 문서별 평균이 아니라 전체 token sum 기준이다.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8B3123-C65D-436B-A325-13563038681A}"/>
              </a:ext>
            </a:extLst>
          </p:cNvPr>
          <p:cNvSpPr>
            <a:spLocks noGrp="1"/>
          </p:cNvSpPr>
          <p:nvPr/>
        </p:nvSpPr>
        <p:spPr>
          <a:xfrm>
            <a:off x="762000" y="5962650"/>
            <a:ext cx="7429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근거: rag/code_reference 수집/전처리 코드, rag/RAG_PREPROCESSED_DATA/README.md</a:t>
            </a:r>
          </a:p>
        </p:txBody>
      </p:sp>
    </p:spTree>
    <p:extLst>
      <p:ext uri="{BB962C8B-B14F-4D97-AF65-F5344CB8AC3E}">
        <p14:creationId xmlns:p14="http://schemas.microsoft.com/office/powerpoint/2010/main" val="410544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7C10A3D-0CBC-4912-8ECA-ED3DF2CA7D0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END-TO-END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21D9BF-CC03-405F-B4F6-6D7C335075A5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최종 서비스는 Frontend, LLM Runtime, GraphRAG Knowledge Layer로 분리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7D0A98-2041-4AD1-9764-319AD9E69156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사용자가 보는 stream UX와 graph를 구축하는 pipeline을 같은 runtime에 섞지 않았다.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E6EF17-0E4D-4AF2-B90B-FF874DB229FA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E63EB4-5E74-4632-AB9F-D959B559F749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CB0C7A6-7B31-4A7B-9C34-DC76B60573E2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143000" cy="723900"/>
          </a:xfrm>
          <a:prstGeom prst="roundRect">
            <a:avLst>
              <a:gd name="adj" fmla="val 15789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8F302F-7CFF-4229-8AB0-51B61DB45A0A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838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User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B50695-0853-47C8-A4B2-7684294EBCD5}"/>
              </a:ext>
            </a:extLst>
          </p:cNvPr>
          <p:cNvSpPr>
            <a:spLocks noGrp="1"/>
          </p:cNvSpPr>
          <p:nvPr/>
        </p:nvSpPr>
        <p:spPr>
          <a:xfrm>
            <a:off x="704850" y="3143250"/>
            <a:ext cx="838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질문 입력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609E4B-E113-4754-8985-B77E05D4C6F5}"/>
              </a:ext>
            </a:extLst>
          </p:cNvPr>
          <p:cNvSpPr>
            <a:spLocks noGrp="1"/>
          </p:cNvSpPr>
          <p:nvPr/>
        </p:nvSpPr>
        <p:spPr>
          <a:xfrm>
            <a:off x="1790700" y="29527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F00942D-BA4E-4C0D-9B0E-E3845895874E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1905000" cy="1028700"/>
          </a:xfrm>
          <a:prstGeom prst="roundRect">
            <a:avLst>
              <a:gd name="adj" fmla="val 11111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1EC99E-F867-4D2E-8406-B6F867EFCA49}"/>
              </a:ext>
            </a:extLst>
          </p:cNvPr>
          <p:cNvSpPr>
            <a:spLocks noGrp="1"/>
          </p:cNvSpPr>
          <p:nvPr/>
        </p:nvSpPr>
        <p:spPr>
          <a:xfrm>
            <a:off x="2343150" y="2705100"/>
            <a:ext cx="1600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Streaming Frontend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789B2F-8722-4225-BDEF-228B7CA06DE4}"/>
              </a:ext>
            </a:extLst>
          </p:cNvPr>
          <p:cNvSpPr>
            <a:spLocks noGrp="1"/>
          </p:cNvSpPr>
          <p:nvPr/>
        </p:nvSpPr>
        <p:spPr>
          <a:xfrm>
            <a:off x="2343150" y="2990850"/>
            <a:ext cx="16002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token/event stream 렌더링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ADD126-0F18-405A-ABB5-11CDB69F9814}"/>
              </a:ext>
            </a:extLst>
          </p:cNvPr>
          <p:cNvSpPr>
            <a:spLocks noGrp="1"/>
          </p:cNvSpPr>
          <p:nvPr/>
        </p:nvSpPr>
        <p:spPr>
          <a:xfrm>
            <a:off x="4267200" y="29527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D883E7B-4B2F-47BF-B9E5-519178CB69F1}"/>
              </a:ext>
            </a:extLst>
          </p:cNvPr>
          <p:cNvSpPr>
            <a:spLocks noGrp="1"/>
          </p:cNvSpPr>
          <p:nvPr/>
        </p:nvSpPr>
        <p:spPr>
          <a:xfrm>
            <a:off x="4686300" y="2381250"/>
            <a:ext cx="2095500" cy="1409700"/>
          </a:xfrm>
          <a:prstGeom prst="roundRect">
            <a:avLst>
              <a:gd name="adj" fmla="val 8108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CD6550-E2AF-4F88-BBCC-9F911353AFDC}"/>
              </a:ext>
            </a:extLst>
          </p:cNvPr>
          <p:cNvSpPr>
            <a:spLocks noGrp="1"/>
          </p:cNvSpPr>
          <p:nvPr/>
        </p:nvSpPr>
        <p:spPr>
          <a:xfrm>
            <a:off x="4838700" y="2514600"/>
            <a:ext cx="1790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Main Backend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8EC4C0-3300-4D65-BFDF-A1EF552F02E4}"/>
              </a:ext>
            </a:extLst>
          </p:cNvPr>
          <p:cNvSpPr>
            <a:spLocks noGrp="1"/>
          </p:cNvSpPr>
          <p:nvPr/>
        </p:nvSpPr>
        <p:spPr>
          <a:xfrm>
            <a:off x="4838700" y="2800350"/>
            <a:ext cx="1790700" cy="914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 chat runtime</a:t>
            </a:r>
          </a:p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prompt · session · stream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F112939-90E9-41E5-93BC-821377E36307}"/>
              </a:ext>
            </a:extLst>
          </p:cNvPr>
          <p:cNvSpPr>
            <a:spLocks noGrp="1"/>
          </p:cNvSpPr>
          <p:nvPr/>
        </p:nvSpPr>
        <p:spPr>
          <a:xfrm>
            <a:off x="4762500" y="4362450"/>
            <a:ext cx="1905000" cy="723900"/>
          </a:xfrm>
          <a:prstGeom prst="roundRect">
            <a:avLst>
              <a:gd name="adj" fmla="val 15789"/>
            </a:avLst>
          </a:prstGeom>
          <a:solidFill>
            <a:srgbClr val="F6F2FF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DC8639-C9CB-457F-BB7C-B19A30B90EA3}"/>
              </a:ext>
            </a:extLst>
          </p:cNvPr>
          <p:cNvSpPr>
            <a:spLocks noGrp="1"/>
          </p:cNvSpPr>
          <p:nvPr/>
        </p:nvSpPr>
        <p:spPr>
          <a:xfrm>
            <a:off x="4914900" y="4495800"/>
            <a:ext cx="1600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LLM Provider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7A0178-42FB-4F2B-BD6B-2B0068BBD58E}"/>
              </a:ext>
            </a:extLst>
          </p:cNvPr>
          <p:cNvSpPr>
            <a:spLocks noGrp="1"/>
          </p:cNvSpPr>
          <p:nvPr/>
        </p:nvSpPr>
        <p:spPr>
          <a:xfrm>
            <a:off x="4914900" y="4781550"/>
            <a:ext cx="1600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answer synthesis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926FDA-CD99-469A-B63D-C9E11BFE543A}"/>
              </a:ext>
            </a:extLst>
          </p:cNvPr>
          <p:cNvSpPr>
            <a:spLocks noGrp="1"/>
          </p:cNvSpPr>
          <p:nvPr/>
        </p:nvSpPr>
        <p:spPr>
          <a:xfrm>
            <a:off x="5753100" y="3857625"/>
            <a:ext cx="28575" cy="438150"/>
          </a:xfrm>
          <a:prstGeom prst="rect">
            <a:avLst/>
          </a:prstGeom>
          <a:solidFill>
            <a:srgbClr val="6655E8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61A414-E83D-48AA-BB05-2DEDBF34E1B5}"/>
              </a:ext>
            </a:extLst>
          </p:cNvPr>
          <p:cNvSpPr>
            <a:spLocks noGrp="1"/>
          </p:cNvSpPr>
          <p:nvPr/>
        </p:nvSpPr>
        <p:spPr>
          <a:xfrm>
            <a:off x="6953250" y="29527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FB36AE8-B6DE-4221-972F-E33BA1F2BFAF}"/>
              </a:ext>
            </a:extLst>
          </p:cNvPr>
          <p:cNvSpPr>
            <a:spLocks noGrp="1"/>
          </p:cNvSpPr>
          <p:nvPr/>
        </p:nvSpPr>
        <p:spPr>
          <a:xfrm>
            <a:off x="7372350" y="2724150"/>
            <a:ext cx="1428750" cy="723900"/>
          </a:xfrm>
          <a:prstGeom prst="roundRect">
            <a:avLst>
              <a:gd name="adj" fmla="val 15789"/>
            </a:avLst>
          </a:prstGeom>
          <a:solidFill>
            <a:srgbClr val="FFF1D6"/>
          </a:solidFill>
          <a:ln w="952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653A44-F2AA-4763-BF1B-7DA9F8A67F05}"/>
              </a:ext>
            </a:extLst>
          </p:cNvPr>
          <p:cNvSpPr>
            <a:spLocks noGrp="1"/>
          </p:cNvSpPr>
          <p:nvPr/>
        </p:nvSpPr>
        <p:spPr>
          <a:xfrm>
            <a:off x="7524750" y="2857500"/>
            <a:ext cx="1123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MCP Client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F04078-BDF5-4418-AD91-C54127847980}"/>
              </a:ext>
            </a:extLst>
          </p:cNvPr>
          <p:cNvSpPr>
            <a:spLocks noGrp="1"/>
          </p:cNvSpPr>
          <p:nvPr/>
        </p:nvSpPr>
        <p:spPr>
          <a:xfrm>
            <a:off x="7524750" y="3143250"/>
            <a:ext cx="1123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tool call boundary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C331CB-F610-4739-84B3-D067F559084E}"/>
              </a:ext>
            </a:extLst>
          </p:cNvPr>
          <p:cNvSpPr>
            <a:spLocks noGrp="1"/>
          </p:cNvSpPr>
          <p:nvPr/>
        </p:nvSpPr>
        <p:spPr>
          <a:xfrm>
            <a:off x="8972550" y="29527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9529501-AF52-4F04-9B06-DDBCAD229E09}"/>
              </a:ext>
            </a:extLst>
          </p:cNvPr>
          <p:cNvSpPr>
            <a:spLocks noGrp="1"/>
          </p:cNvSpPr>
          <p:nvPr/>
        </p:nvSpPr>
        <p:spPr>
          <a:xfrm>
            <a:off x="9372600" y="2590800"/>
            <a:ext cx="1809750" cy="990600"/>
          </a:xfrm>
          <a:prstGeom prst="roundRect">
            <a:avLst>
              <a:gd name="adj" fmla="val 11538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9EC42C6-A77C-4BDE-B54D-CC6B6D98FC4A}"/>
              </a:ext>
            </a:extLst>
          </p:cNvPr>
          <p:cNvSpPr>
            <a:spLocks noGrp="1"/>
          </p:cNvSpPr>
          <p:nvPr/>
        </p:nvSpPr>
        <p:spPr>
          <a:xfrm>
            <a:off x="9525000" y="2724150"/>
            <a:ext cx="1504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MCP Server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21761AC-FF9F-4A5A-A9CF-6E81E86DF694}"/>
              </a:ext>
            </a:extLst>
          </p:cNvPr>
          <p:cNvSpPr>
            <a:spLocks noGrp="1"/>
          </p:cNvSpPr>
          <p:nvPr/>
        </p:nvSpPr>
        <p:spPr>
          <a:xfrm>
            <a:off x="9525000" y="3009900"/>
            <a:ext cx="1504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read-only graph tools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D5908F-8D04-4E8A-8AB2-DB02BB7FEB5F}"/>
              </a:ext>
            </a:extLst>
          </p:cNvPr>
          <p:cNvSpPr>
            <a:spLocks noGrp="1"/>
          </p:cNvSpPr>
          <p:nvPr/>
        </p:nvSpPr>
        <p:spPr>
          <a:xfrm>
            <a:off x="10287000" y="3676650"/>
            <a:ext cx="28575" cy="438150"/>
          </a:xfrm>
          <a:prstGeom prst="rect">
            <a:avLst/>
          </a:prstGeom>
          <a:solidFill>
            <a:srgbClr val="0F766E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E2E0AAA-006E-4C0D-93F4-C4A7E5FFECFD}"/>
              </a:ext>
            </a:extLst>
          </p:cNvPr>
          <p:cNvSpPr>
            <a:spLocks noGrp="1"/>
          </p:cNvSpPr>
          <p:nvPr/>
        </p:nvSpPr>
        <p:spPr>
          <a:xfrm>
            <a:off x="9372600" y="4229100"/>
            <a:ext cx="1809750" cy="800100"/>
          </a:xfrm>
          <a:prstGeom prst="roundRect">
            <a:avLst>
              <a:gd name="adj" fmla="val 14286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D76F972-BECE-4278-BE88-489CE8CCD225}"/>
              </a:ext>
            </a:extLst>
          </p:cNvPr>
          <p:cNvSpPr>
            <a:spLocks noGrp="1"/>
          </p:cNvSpPr>
          <p:nvPr/>
        </p:nvSpPr>
        <p:spPr>
          <a:xfrm>
            <a:off x="9525000" y="4362450"/>
            <a:ext cx="1504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Memgraph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FD63AC-5788-46DB-8CBA-DCF39AADFECD}"/>
              </a:ext>
            </a:extLst>
          </p:cNvPr>
          <p:cNvSpPr>
            <a:spLocks noGrp="1"/>
          </p:cNvSpPr>
          <p:nvPr/>
        </p:nvSpPr>
        <p:spPr>
          <a:xfrm>
            <a:off x="9525000" y="4648200"/>
            <a:ext cx="15049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verified knowledge graph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4573F09-75C8-4624-96F9-217EBA8FB5D1}"/>
              </a:ext>
            </a:extLst>
          </p:cNvPr>
          <p:cNvSpPr>
            <a:spLocks noGrp="1"/>
          </p:cNvSpPr>
          <p:nvPr/>
        </p:nvSpPr>
        <p:spPr>
          <a:xfrm>
            <a:off x="2343150" y="5391150"/>
            <a:ext cx="7410450" cy="495300"/>
          </a:xfrm>
          <a:prstGeom prst="roundRect">
            <a:avLst>
              <a:gd name="adj" fmla="val 26923"/>
            </a:avLst>
          </a:prstGeom>
          <a:solidFill>
            <a:srgbClr val="FFF9F3"/>
          </a:solidFill>
          <a:ln w="9525">
            <a:solidFill>
              <a:srgbClr val="E2C8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DCB135-EE05-454C-9CE8-9D1FEA9D14CC}"/>
              </a:ext>
            </a:extLst>
          </p:cNvPr>
          <p:cNvSpPr>
            <a:spLocks noGrp="1"/>
          </p:cNvSpPr>
          <p:nvPr/>
        </p:nvSpPr>
        <p:spPr>
          <a:xfrm>
            <a:off x="2628900" y="5562600"/>
            <a:ext cx="6838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0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GraphRAG build path는 별도: RAG Admin FE → RAG Backend API → Task Queue → Worker → RelationshipCandidate → Human Review → Memgraph</a:t>
            </a:r>
          </a:p>
        </p:txBody>
      </p:sp>
    </p:spTree>
    <p:extLst>
      <p:ext uri="{BB962C8B-B14F-4D97-AF65-F5344CB8AC3E}">
        <p14:creationId xmlns:p14="http://schemas.microsoft.com/office/powerpoint/2010/main" val="840985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48F3AFE-470C-4E86-B243-4791657D0E0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THREE SYSTEM BOUNDARIES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F3D322-9EDD-426A-933B-2A60E2129C62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각 영역은 서로 다른 책임을 가진다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7C939C-A3A0-4DB2-B104-C2E4DDA82A5D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최종 사용자 응답 runtime과 knowledge graph 구축 runtime을 분리한 것이 핵심 설계다.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E44008-373B-4133-9FE6-9AB14CBE640A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5287D-91E3-4845-9A4E-574F1C6367D2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6FE2ED-241C-464A-9C83-74090A1C208A}"/>
              </a:ext>
            </a:extLst>
          </p:cNvPr>
          <p:cNvSpPr>
            <a:spLocks noGrp="1"/>
          </p:cNvSpPr>
          <p:nvPr/>
        </p:nvSpPr>
        <p:spPr>
          <a:xfrm>
            <a:off x="666750" y="1962150"/>
            <a:ext cx="3238500" cy="2971800"/>
          </a:xfrm>
          <a:prstGeom prst="roundRect">
            <a:avLst>
              <a:gd name="adj" fmla="val 6410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F87DF5-83D2-440C-B967-80A5249A0298}"/>
              </a:ext>
            </a:extLst>
          </p:cNvPr>
          <p:cNvSpPr>
            <a:spLocks noGrp="1"/>
          </p:cNvSpPr>
          <p:nvPr/>
        </p:nvSpPr>
        <p:spPr>
          <a:xfrm>
            <a:off x="933450" y="2266950"/>
            <a:ext cx="400050" cy="400050"/>
          </a:xfrm>
          <a:prstGeom prst="ellipse">
            <a:avLst/>
          </a:prstGeom>
          <a:solidFill>
            <a:srgbClr val="2563EB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CC0C87-D02C-46D2-A607-1FA302181112}"/>
              </a:ext>
            </a:extLst>
          </p:cNvPr>
          <p:cNvSpPr>
            <a:spLocks noGrp="1"/>
          </p:cNvSpPr>
          <p:nvPr/>
        </p:nvSpPr>
        <p:spPr>
          <a:xfrm>
            <a:off x="1057275" y="2381250"/>
            <a:ext cx="1524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018F85-18AF-4F66-B8C8-577E579DBC4D}"/>
              </a:ext>
            </a:extLst>
          </p:cNvPr>
          <p:cNvSpPr>
            <a:spLocks noGrp="1"/>
          </p:cNvSpPr>
          <p:nvPr/>
        </p:nvSpPr>
        <p:spPr>
          <a:xfrm>
            <a:off x="1466850" y="2209800"/>
            <a:ext cx="2095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Streaming Frontend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F79A24-5C40-4138-989A-B64DBC3C381E}"/>
              </a:ext>
            </a:extLst>
          </p:cNvPr>
          <p:cNvSpPr>
            <a:spLocks noGrp="1"/>
          </p:cNvSpPr>
          <p:nvPr/>
        </p:nvSpPr>
        <p:spPr>
          <a:xfrm>
            <a:off x="990600" y="2876550"/>
            <a:ext cx="25717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사용자 질문 입력, token delta 렌더링, tool status/citation 표시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00691F-40C7-4CA4-83A9-D33C1AF69986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2381250" cy="28575"/>
          </a:xfrm>
          <a:prstGeom prst="rect">
            <a:avLst/>
          </a:prstGeom>
          <a:solidFill>
            <a:srgbClr val="2563EB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A31856-D769-4345-B667-4D9C357502EF}"/>
              </a:ext>
            </a:extLst>
          </p:cNvPr>
          <p:cNvSpPr>
            <a:spLocks noGrp="1"/>
          </p:cNvSpPr>
          <p:nvPr/>
        </p:nvSpPr>
        <p:spPr>
          <a:xfrm>
            <a:off x="990600" y="4267200"/>
            <a:ext cx="2381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Presentation layer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9EED7DC-0728-4C64-B460-71C31DA4B563}"/>
              </a:ext>
            </a:extLst>
          </p:cNvPr>
          <p:cNvSpPr>
            <a:spLocks noGrp="1"/>
          </p:cNvSpPr>
          <p:nvPr/>
        </p:nvSpPr>
        <p:spPr>
          <a:xfrm>
            <a:off x="4429125" y="1962150"/>
            <a:ext cx="3238500" cy="2971800"/>
          </a:xfrm>
          <a:prstGeom prst="roundRect">
            <a:avLst>
              <a:gd name="adj" fmla="val 6410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F42C76-9A8E-483D-9AF5-5E481DB901A4}"/>
              </a:ext>
            </a:extLst>
          </p:cNvPr>
          <p:cNvSpPr>
            <a:spLocks noGrp="1"/>
          </p:cNvSpPr>
          <p:nvPr/>
        </p:nvSpPr>
        <p:spPr>
          <a:xfrm>
            <a:off x="4695825" y="2266950"/>
            <a:ext cx="400050" cy="400050"/>
          </a:xfrm>
          <a:prstGeom prst="ellipse">
            <a:avLst/>
          </a:prstGeom>
          <a:solidFill>
            <a:srgbClr val="6655E8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BA3FA4-D385-4379-889F-1F244FD98418}"/>
              </a:ext>
            </a:extLst>
          </p:cNvPr>
          <p:cNvSpPr>
            <a:spLocks noGrp="1"/>
          </p:cNvSpPr>
          <p:nvPr/>
        </p:nvSpPr>
        <p:spPr>
          <a:xfrm>
            <a:off x="4819650" y="2381250"/>
            <a:ext cx="1524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598F67-1304-42F4-BF6B-CB2C939C6539}"/>
              </a:ext>
            </a:extLst>
          </p:cNvPr>
          <p:cNvSpPr>
            <a:spLocks noGrp="1"/>
          </p:cNvSpPr>
          <p:nvPr/>
        </p:nvSpPr>
        <p:spPr>
          <a:xfrm>
            <a:off x="5229225" y="2209800"/>
            <a:ext cx="2095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Main Backend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2ADCCD1-E15F-4323-A7C3-592B76388606}"/>
              </a:ext>
            </a:extLst>
          </p:cNvPr>
          <p:cNvSpPr>
            <a:spLocks noGrp="1"/>
          </p:cNvSpPr>
          <p:nvPr/>
        </p:nvSpPr>
        <p:spPr>
          <a:xfrm>
            <a:off x="4752975" y="2876550"/>
            <a:ext cx="25717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session/context 구성, prompt policy, LLM 호출, MCP tool routing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EFC36D-472F-42A9-9C77-79C31E402EE9}"/>
              </a:ext>
            </a:extLst>
          </p:cNvPr>
          <p:cNvSpPr>
            <a:spLocks noGrp="1"/>
          </p:cNvSpPr>
          <p:nvPr/>
        </p:nvSpPr>
        <p:spPr>
          <a:xfrm>
            <a:off x="4752975" y="4000500"/>
            <a:ext cx="2381250" cy="28575"/>
          </a:xfrm>
          <a:prstGeom prst="rect">
            <a:avLst/>
          </a:prstGeom>
          <a:solidFill>
            <a:srgbClr val="6655E8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FE489B-88A5-4E58-980B-56BDC3EFC8B0}"/>
              </a:ext>
            </a:extLst>
          </p:cNvPr>
          <p:cNvSpPr>
            <a:spLocks noGrp="1"/>
          </p:cNvSpPr>
          <p:nvPr/>
        </p:nvSpPr>
        <p:spPr>
          <a:xfrm>
            <a:off x="4752975" y="4267200"/>
            <a:ext cx="2381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Answer generation runtime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2441D90-AEE1-4AA7-B486-763DD3CB6948}"/>
              </a:ext>
            </a:extLst>
          </p:cNvPr>
          <p:cNvSpPr>
            <a:spLocks noGrp="1"/>
          </p:cNvSpPr>
          <p:nvPr/>
        </p:nvSpPr>
        <p:spPr>
          <a:xfrm>
            <a:off x="8191500" y="1962150"/>
            <a:ext cx="3238500" cy="2971800"/>
          </a:xfrm>
          <a:prstGeom prst="roundRect">
            <a:avLst>
              <a:gd name="adj" fmla="val 6410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F6E6E32-6070-4E15-815E-AABF33734931}"/>
              </a:ext>
            </a:extLst>
          </p:cNvPr>
          <p:cNvSpPr>
            <a:spLocks noGrp="1"/>
          </p:cNvSpPr>
          <p:nvPr/>
        </p:nvSpPr>
        <p:spPr>
          <a:xfrm>
            <a:off x="8458200" y="2266950"/>
            <a:ext cx="400050" cy="400050"/>
          </a:xfrm>
          <a:prstGeom prst="ellipse">
            <a:avLst/>
          </a:prstGeom>
          <a:solidFill>
            <a:srgbClr val="0F766E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978209-66FA-4FB3-8C29-953EE6C27D75}"/>
              </a:ext>
            </a:extLst>
          </p:cNvPr>
          <p:cNvSpPr>
            <a:spLocks noGrp="1"/>
          </p:cNvSpPr>
          <p:nvPr/>
        </p:nvSpPr>
        <p:spPr>
          <a:xfrm>
            <a:off x="8582025" y="2381250"/>
            <a:ext cx="1524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49DC5C-290A-4D66-8DF9-85824D10F0F8}"/>
              </a:ext>
            </a:extLst>
          </p:cNvPr>
          <p:cNvSpPr>
            <a:spLocks noGrp="1"/>
          </p:cNvSpPr>
          <p:nvPr/>
        </p:nvSpPr>
        <p:spPr>
          <a:xfrm>
            <a:off x="8991600" y="2209800"/>
            <a:ext cx="20955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GraphRAG System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D4972A-1055-43A7-B4A7-A852E6B6CDC0}"/>
              </a:ext>
            </a:extLst>
          </p:cNvPr>
          <p:cNvSpPr>
            <a:spLocks noGrp="1"/>
          </p:cNvSpPr>
          <p:nvPr/>
        </p:nvSpPr>
        <p:spPr>
          <a:xfrm>
            <a:off x="8515350" y="2876550"/>
            <a:ext cx="2571750" cy="781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문서 업로드, graph build, review queue, memory, read-only MCP 제공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BD87D0-4BF9-4149-9A57-54B666650FD2}"/>
              </a:ext>
            </a:extLst>
          </p:cNvPr>
          <p:cNvSpPr>
            <a:spLocks noGrp="1"/>
          </p:cNvSpPr>
          <p:nvPr/>
        </p:nvSpPr>
        <p:spPr>
          <a:xfrm>
            <a:off x="8515350" y="4000500"/>
            <a:ext cx="2381250" cy="28575"/>
          </a:xfrm>
          <a:prstGeom prst="rect">
            <a:avLst/>
          </a:prstGeom>
          <a:solidFill>
            <a:srgbClr val="0F766E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7DA15D-B8DF-49A2-9603-28725322795C}"/>
              </a:ext>
            </a:extLst>
          </p:cNvPr>
          <p:cNvSpPr>
            <a:spLocks noGrp="1"/>
          </p:cNvSpPr>
          <p:nvPr/>
        </p:nvSpPr>
        <p:spPr>
          <a:xfrm>
            <a:off x="8515350" y="4267200"/>
            <a:ext cx="2381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0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Knowledge construction layer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B63FCF-AD7F-4DEC-B15B-9C0F53542923}"/>
              </a:ext>
            </a:extLst>
          </p:cNvPr>
          <p:cNvSpPr>
            <a:spLocks noGrp="1"/>
          </p:cNvSpPr>
          <p:nvPr/>
        </p:nvSpPr>
        <p:spPr>
          <a:xfrm>
            <a:off x="1524000" y="5657850"/>
            <a:ext cx="91440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425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한 줄 정리: RAG system은 knowledge layer이고, Main Backend는 answer generation runtime이다.</a:t>
            </a:r>
          </a:p>
        </p:txBody>
      </p:sp>
    </p:spTree>
    <p:extLst>
      <p:ext uri="{BB962C8B-B14F-4D97-AF65-F5344CB8AC3E}">
        <p14:creationId xmlns:p14="http://schemas.microsoft.com/office/powerpoint/2010/main" val="225182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C475EE41-E836-4F78-8F7E-5795AFD45046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STREAMING FRONTEND RUNTIME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1BCD4E-5405-4194-A603-4A084A54C233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Frontend는 RAG 내부를 직접 실행하지 않고 backend stream을 UX로 변환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4C0A1C3-2AB5-4A3B-80BC-9FEB9E411DDB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사용자는 긴 답변을 기다리는 대신 token, tool status, evidence event를 순차적으로 본다.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2FBEAF-79C5-484E-9AAD-358D724BC46E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82A4DC-531E-43AB-9D89-9509CEF71874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11A6E0A-3672-475A-8A56-2821B8A67DBA}"/>
              </a:ext>
            </a:extLst>
          </p:cNvPr>
          <p:cNvSpPr>
            <a:spLocks noGrp="1"/>
          </p:cNvSpPr>
          <p:nvPr/>
        </p:nvSpPr>
        <p:spPr>
          <a:xfrm>
            <a:off x="781050" y="2876550"/>
            <a:ext cx="1619250" cy="723900"/>
          </a:xfrm>
          <a:prstGeom prst="roundRect">
            <a:avLst>
              <a:gd name="adj" fmla="val 15789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2153C0-882A-4F11-9EBC-C4E1E1F0A474}"/>
              </a:ext>
            </a:extLst>
          </p:cNvPr>
          <p:cNvSpPr>
            <a:spLocks noGrp="1"/>
          </p:cNvSpPr>
          <p:nvPr/>
        </p:nvSpPr>
        <p:spPr>
          <a:xfrm>
            <a:off x="933450" y="3009900"/>
            <a:ext cx="1314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Question Input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FE8098-712E-4A6A-B104-A95008CADFDC}"/>
              </a:ext>
            </a:extLst>
          </p:cNvPr>
          <p:cNvSpPr>
            <a:spLocks noGrp="1"/>
          </p:cNvSpPr>
          <p:nvPr/>
        </p:nvSpPr>
        <p:spPr>
          <a:xfrm>
            <a:off x="933450" y="3295650"/>
            <a:ext cx="1314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사용자가 질문 입력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337469-B443-47A1-BF38-5B38A37E7DAE}"/>
              </a:ext>
            </a:extLst>
          </p:cNvPr>
          <p:cNvSpPr>
            <a:spLocks noGrp="1"/>
          </p:cNvSpPr>
          <p:nvPr/>
        </p:nvSpPr>
        <p:spPr>
          <a:xfrm>
            <a:off x="2571750" y="3105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854D109-4E42-4050-9C0F-D30BCB48C1A5}"/>
              </a:ext>
            </a:extLst>
          </p:cNvPr>
          <p:cNvSpPr>
            <a:spLocks noGrp="1"/>
          </p:cNvSpPr>
          <p:nvPr/>
        </p:nvSpPr>
        <p:spPr>
          <a:xfrm>
            <a:off x="3028950" y="2876550"/>
            <a:ext cx="1714500" cy="723900"/>
          </a:xfrm>
          <a:prstGeom prst="roundRect">
            <a:avLst>
              <a:gd name="adj" fmla="val 15789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EC6309-2493-44F5-B80B-5898F67F704B}"/>
              </a:ext>
            </a:extLst>
          </p:cNvPr>
          <p:cNvSpPr>
            <a:spLocks noGrp="1"/>
          </p:cNvSpPr>
          <p:nvPr/>
        </p:nvSpPr>
        <p:spPr>
          <a:xfrm>
            <a:off x="3181350" y="3009900"/>
            <a:ext cx="1409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Stream Request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7E3426-D548-4D64-887F-3939BF90AB5E}"/>
              </a:ext>
            </a:extLst>
          </p:cNvPr>
          <p:cNvSpPr>
            <a:spLocks noGrp="1"/>
          </p:cNvSpPr>
          <p:nvPr/>
        </p:nvSpPr>
        <p:spPr>
          <a:xfrm>
            <a:off x="3181350" y="3295650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chat stream endpoint 호출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F1D176-40C0-4397-B2DA-6E68D54A98DB}"/>
              </a:ext>
            </a:extLst>
          </p:cNvPr>
          <p:cNvSpPr>
            <a:spLocks noGrp="1"/>
          </p:cNvSpPr>
          <p:nvPr/>
        </p:nvSpPr>
        <p:spPr>
          <a:xfrm>
            <a:off x="4914900" y="3105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BEE66D3-BEE1-4C21-A1FA-D43FA3F4777E}"/>
              </a:ext>
            </a:extLst>
          </p:cNvPr>
          <p:cNvSpPr>
            <a:spLocks noGrp="1"/>
          </p:cNvSpPr>
          <p:nvPr/>
        </p:nvSpPr>
        <p:spPr>
          <a:xfrm>
            <a:off x="5391150" y="2876550"/>
            <a:ext cx="1619250" cy="723900"/>
          </a:xfrm>
          <a:prstGeom prst="roundRect">
            <a:avLst>
              <a:gd name="adj" fmla="val 15789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676A6E-FC69-48AB-AC73-B3D63173C67B}"/>
              </a:ext>
            </a:extLst>
          </p:cNvPr>
          <p:cNvSpPr>
            <a:spLocks noGrp="1"/>
          </p:cNvSpPr>
          <p:nvPr/>
        </p:nvSpPr>
        <p:spPr>
          <a:xfrm>
            <a:off x="5543550" y="3009900"/>
            <a:ext cx="1314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Main Backend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EE0D0B-F722-42D2-BDBB-7A88C6E6ECA1}"/>
              </a:ext>
            </a:extLst>
          </p:cNvPr>
          <p:cNvSpPr>
            <a:spLocks noGrp="1"/>
          </p:cNvSpPr>
          <p:nvPr/>
        </p:nvSpPr>
        <p:spPr>
          <a:xfrm>
            <a:off x="5543550" y="3295650"/>
            <a:ext cx="1314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agent loop 실행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6A34D7-F2D2-4AAA-9FA1-2BFDF8E2A1F6}"/>
              </a:ext>
            </a:extLst>
          </p:cNvPr>
          <p:cNvSpPr>
            <a:spLocks noGrp="1"/>
          </p:cNvSpPr>
          <p:nvPr/>
        </p:nvSpPr>
        <p:spPr>
          <a:xfrm>
            <a:off x="7181850" y="3105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3FEB791-910D-4BBC-981A-A5D504B2ECBF}"/>
              </a:ext>
            </a:extLst>
          </p:cNvPr>
          <p:cNvSpPr>
            <a:spLocks noGrp="1"/>
          </p:cNvSpPr>
          <p:nvPr/>
        </p:nvSpPr>
        <p:spPr>
          <a:xfrm>
            <a:off x="7715250" y="2876550"/>
            <a:ext cx="1714500" cy="723900"/>
          </a:xfrm>
          <a:prstGeom prst="roundRect">
            <a:avLst>
              <a:gd name="adj" fmla="val 15789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92DE15-0B03-4B73-ACF5-DD0B8E6DFBA7}"/>
              </a:ext>
            </a:extLst>
          </p:cNvPr>
          <p:cNvSpPr>
            <a:spLocks noGrp="1"/>
          </p:cNvSpPr>
          <p:nvPr/>
        </p:nvSpPr>
        <p:spPr>
          <a:xfrm>
            <a:off x="7867650" y="3009900"/>
            <a:ext cx="1409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Event Builder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F2A05F-FD17-40C1-990A-F526695DCFFF}"/>
              </a:ext>
            </a:extLst>
          </p:cNvPr>
          <p:cNvSpPr>
            <a:spLocks noGrp="1"/>
          </p:cNvSpPr>
          <p:nvPr/>
        </p:nvSpPr>
        <p:spPr>
          <a:xfrm>
            <a:off x="7867650" y="3295650"/>
            <a:ext cx="14097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stream event serialize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7916A2-C171-4416-8043-04528BE67ED4}"/>
              </a:ext>
            </a:extLst>
          </p:cNvPr>
          <p:cNvSpPr>
            <a:spLocks noGrp="1"/>
          </p:cNvSpPr>
          <p:nvPr/>
        </p:nvSpPr>
        <p:spPr>
          <a:xfrm>
            <a:off x="9601200" y="3105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CFAC1EF-2A3C-40DB-8FB9-E4B303C1F6AA}"/>
              </a:ext>
            </a:extLst>
          </p:cNvPr>
          <p:cNvSpPr>
            <a:spLocks noGrp="1"/>
          </p:cNvSpPr>
          <p:nvPr/>
        </p:nvSpPr>
        <p:spPr>
          <a:xfrm>
            <a:off x="10077450" y="2876550"/>
            <a:ext cx="1619250" cy="723900"/>
          </a:xfrm>
          <a:prstGeom prst="roundRect">
            <a:avLst>
              <a:gd name="adj" fmla="val 15789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BF832E-98F5-4331-A065-99CBF22F73BB}"/>
              </a:ext>
            </a:extLst>
          </p:cNvPr>
          <p:cNvSpPr>
            <a:spLocks noGrp="1"/>
          </p:cNvSpPr>
          <p:nvPr/>
        </p:nvSpPr>
        <p:spPr>
          <a:xfrm>
            <a:off x="10229850" y="3009900"/>
            <a:ext cx="1314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Live UI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A535EF-1157-4415-A9AD-5F24BCB79895}"/>
              </a:ext>
            </a:extLst>
          </p:cNvPr>
          <p:cNvSpPr>
            <a:spLocks noGrp="1"/>
          </p:cNvSpPr>
          <p:nvPr/>
        </p:nvSpPr>
        <p:spPr>
          <a:xfrm>
            <a:off x="10229850" y="3295650"/>
            <a:ext cx="1314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token/tool/citation 렌더링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5266632-86CB-458D-B299-6B59C126EC1C}"/>
              </a:ext>
            </a:extLst>
          </p:cNvPr>
          <p:cNvSpPr>
            <a:spLocks noGrp="1"/>
          </p:cNvSpPr>
          <p:nvPr/>
        </p:nvSpPr>
        <p:spPr>
          <a:xfrm>
            <a:off x="1600200" y="4419600"/>
            <a:ext cx="8991600" cy="781050"/>
          </a:xfrm>
          <a:prstGeom prst="roundRect">
            <a:avLst>
              <a:gd name="adj" fmla="val 21951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C946C56-75D1-458B-B45D-4737070B6B9C}"/>
              </a:ext>
            </a:extLst>
          </p:cNvPr>
          <p:cNvSpPr>
            <a:spLocks noGrp="1"/>
          </p:cNvSpPr>
          <p:nvPr/>
        </p:nvSpPr>
        <p:spPr>
          <a:xfrm>
            <a:off x="1905000" y="4667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418FAE-5D88-4F3D-9AAE-DA5CDD7D1990}"/>
              </a:ext>
            </a:extLst>
          </p:cNvPr>
          <p:cNvSpPr>
            <a:spLocks noGrp="1"/>
          </p:cNvSpPr>
          <p:nvPr/>
        </p:nvSpPr>
        <p:spPr>
          <a:xfrm>
            <a:off x="2019300" y="4743450"/>
            <a:ext cx="10096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message.started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082631E-D96D-415A-8A14-F2059112134C}"/>
              </a:ext>
            </a:extLst>
          </p:cNvPr>
          <p:cNvSpPr>
            <a:spLocks noGrp="1"/>
          </p:cNvSpPr>
          <p:nvPr/>
        </p:nvSpPr>
        <p:spPr>
          <a:xfrm>
            <a:off x="3286125" y="4667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7938FC9-06AA-4C3F-B2B4-4A4321204FE6}"/>
              </a:ext>
            </a:extLst>
          </p:cNvPr>
          <p:cNvSpPr>
            <a:spLocks noGrp="1"/>
          </p:cNvSpPr>
          <p:nvPr/>
        </p:nvSpPr>
        <p:spPr>
          <a:xfrm>
            <a:off x="3400425" y="4743450"/>
            <a:ext cx="10096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token.delta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6265E472-63CE-4425-B6A7-4B972D168159}"/>
              </a:ext>
            </a:extLst>
          </p:cNvPr>
          <p:cNvSpPr>
            <a:spLocks noGrp="1"/>
          </p:cNvSpPr>
          <p:nvPr/>
        </p:nvSpPr>
        <p:spPr>
          <a:xfrm>
            <a:off x="4667250" y="4667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0EBCEE-B06F-4D67-88F7-E54AB700A007}"/>
              </a:ext>
            </a:extLst>
          </p:cNvPr>
          <p:cNvSpPr>
            <a:spLocks noGrp="1"/>
          </p:cNvSpPr>
          <p:nvPr/>
        </p:nvSpPr>
        <p:spPr>
          <a:xfrm>
            <a:off x="4781550" y="4743450"/>
            <a:ext cx="10096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tool.started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FBCFA59-8512-478A-BC30-D53BC1F8E185}"/>
              </a:ext>
            </a:extLst>
          </p:cNvPr>
          <p:cNvSpPr>
            <a:spLocks noGrp="1"/>
          </p:cNvSpPr>
          <p:nvPr/>
        </p:nvSpPr>
        <p:spPr>
          <a:xfrm>
            <a:off x="6048375" y="4667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D738C8E-BC00-4A56-B5BB-917793711F3D}"/>
              </a:ext>
            </a:extLst>
          </p:cNvPr>
          <p:cNvSpPr>
            <a:spLocks noGrp="1"/>
          </p:cNvSpPr>
          <p:nvPr/>
        </p:nvSpPr>
        <p:spPr>
          <a:xfrm>
            <a:off x="6162675" y="4743450"/>
            <a:ext cx="10096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tool.result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90C9FD4-C643-4022-8F3E-068A9F44DD99}"/>
              </a:ext>
            </a:extLst>
          </p:cNvPr>
          <p:cNvSpPr>
            <a:spLocks noGrp="1"/>
          </p:cNvSpPr>
          <p:nvPr/>
        </p:nvSpPr>
        <p:spPr>
          <a:xfrm>
            <a:off x="7429500" y="4667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ABF6151-C945-4B3F-B786-1EF41123DF96}"/>
              </a:ext>
            </a:extLst>
          </p:cNvPr>
          <p:cNvSpPr>
            <a:spLocks noGrp="1"/>
          </p:cNvSpPr>
          <p:nvPr/>
        </p:nvSpPr>
        <p:spPr>
          <a:xfrm>
            <a:off x="7543800" y="4743450"/>
            <a:ext cx="10096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citation.ready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D757811C-A8AB-4687-A15D-9B9ADE9C63CF}"/>
              </a:ext>
            </a:extLst>
          </p:cNvPr>
          <p:cNvSpPr>
            <a:spLocks noGrp="1"/>
          </p:cNvSpPr>
          <p:nvPr/>
        </p:nvSpPr>
        <p:spPr>
          <a:xfrm>
            <a:off x="8810625" y="46672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A1BB21-64CA-4E29-A4E9-E2249EF18972}"/>
              </a:ext>
            </a:extLst>
          </p:cNvPr>
          <p:cNvSpPr>
            <a:spLocks noGrp="1"/>
          </p:cNvSpPr>
          <p:nvPr/>
        </p:nvSpPr>
        <p:spPr>
          <a:xfrm>
            <a:off x="8924925" y="4743450"/>
            <a:ext cx="10096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message.completed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CF7C76E-440A-4144-B1AA-3A3C3341574B}"/>
              </a:ext>
            </a:extLst>
          </p:cNvPr>
          <p:cNvSpPr>
            <a:spLocks noGrp="1"/>
          </p:cNvSpPr>
          <p:nvPr/>
        </p:nvSpPr>
        <p:spPr>
          <a:xfrm>
            <a:off x="2228850" y="5657850"/>
            <a:ext cx="773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75" b="1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Frontend slide에서는 RAG 구조를 설명하지 않고, stream lifecycle과 사용자 경험만 설명한다.</a:t>
            </a:r>
          </a:p>
        </p:txBody>
      </p:sp>
    </p:spTree>
    <p:extLst>
      <p:ext uri="{BB962C8B-B14F-4D97-AF65-F5344CB8AC3E}">
        <p14:creationId xmlns:p14="http://schemas.microsoft.com/office/powerpoint/2010/main" val="159618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BBF498E-F6C4-4C59-BCDD-971437B8F68D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MAIN BACKEND: LLM CHAT RUNTIME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4EAD8F-C7F1-434A-BBEC-B974A0804A34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최종 답변 생성은 backend가 담당하고 RAG는 MCP tool로 호출된다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258A0C-6F76-4A6D-A604-413E9ABF4719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backend는 prompt, session context, tool routing, LLM provider 호출, stream response를 조율한다.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D40CE4-F90F-40BA-97DA-5BD7A7D3CE42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E68333-F64E-45A9-B088-23794317E1FA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FF75ED5-64FB-4E8F-8F13-59D3CA8B9D51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4762500" cy="352425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FFC204-3731-4276-8F77-7B9A48E85C50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2667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Runtime responsibilities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D4F126E-48EC-45A1-B45E-C637DDB57A96}"/>
              </a:ext>
            </a:extLst>
          </p:cNvPr>
          <p:cNvSpPr>
            <a:spLocks noGrp="1"/>
          </p:cNvSpPr>
          <p:nvPr/>
        </p:nvSpPr>
        <p:spPr>
          <a:xfrm>
            <a:off x="990600" y="2686050"/>
            <a:ext cx="1714500" cy="457200"/>
          </a:xfrm>
          <a:prstGeom prst="roundRect">
            <a:avLst>
              <a:gd name="adj" fmla="val 20833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1FB6C6-2C6E-4081-A344-E5A81F1A33D9}"/>
              </a:ext>
            </a:extLst>
          </p:cNvPr>
          <p:cNvSpPr>
            <a:spLocks noGrp="1"/>
          </p:cNvSpPr>
          <p:nvPr/>
        </p:nvSpPr>
        <p:spPr>
          <a:xfrm>
            <a:off x="1085850" y="283845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Chat Stream API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A58ABE7-0ACB-492F-ABE3-AE130D84BEB1}"/>
              </a:ext>
            </a:extLst>
          </p:cNvPr>
          <p:cNvSpPr>
            <a:spLocks noGrp="1"/>
          </p:cNvSpPr>
          <p:nvPr/>
        </p:nvSpPr>
        <p:spPr>
          <a:xfrm>
            <a:off x="3181350" y="2686050"/>
            <a:ext cx="1714500" cy="457200"/>
          </a:xfrm>
          <a:prstGeom prst="roundRect">
            <a:avLst>
              <a:gd name="adj" fmla="val 20833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5A99E-1EF2-4B67-8550-E038CD4F35E3}"/>
              </a:ext>
            </a:extLst>
          </p:cNvPr>
          <p:cNvSpPr>
            <a:spLocks noGrp="1"/>
          </p:cNvSpPr>
          <p:nvPr/>
        </p:nvSpPr>
        <p:spPr>
          <a:xfrm>
            <a:off x="3276600" y="283845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Session / Conversation Context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A7DEB5F-A292-4B73-B026-8C8532BE76E4}"/>
              </a:ext>
            </a:extLst>
          </p:cNvPr>
          <p:cNvSpPr>
            <a:spLocks noGrp="1"/>
          </p:cNvSpPr>
          <p:nvPr/>
        </p:nvSpPr>
        <p:spPr>
          <a:xfrm>
            <a:off x="990600" y="3524250"/>
            <a:ext cx="1714500" cy="457200"/>
          </a:xfrm>
          <a:prstGeom prst="roundRect">
            <a:avLst>
              <a:gd name="adj" fmla="val 20833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F56D9-401E-4E66-B874-4962B0530E94}"/>
              </a:ext>
            </a:extLst>
          </p:cNvPr>
          <p:cNvSpPr>
            <a:spLocks noGrp="1"/>
          </p:cNvSpPr>
          <p:nvPr/>
        </p:nvSpPr>
        <p:spPr>
          <a:xfrm>
            <a:off x="1085850" y="367665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Prompt + Policy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F31AE80-76BF-44F7-8C06-8725ABFFC8EE}"/>
              </a:ext>
            </a:extLst>
          </p:cNvPr>
          <p:cNvSpPr>
            <a:spLocks noGrp="1"/>
          </p:cNvSpPr>
          <p:nvPr/>
        </p:nvSpPr>
        <p:spPr>
          <a:xfrm>
            <a:off x="3181350" y="3524250"/>
            <a:ext cx="1714500" cy="457200"/>
          </a:xfrm>
          <a:prstGeom prst="roundRect">
            <a:avLst>
              <a:gd name="adj" fmla="val 20833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84B8A21-144A-4BA0-800E-84702BBDE239}"/>
              </a:ext>
            </a:extLst>
          </p:cNvPr>
          <p:cNvSpPr>
            <a:spLocks noGrp="1"/>
          </p:cNvSpPr>
          <p:nvPr/>
        </p:nvSpPr>
        <p:spPr>
          <a:xfrm>
            <a:off x="3276600" y="367665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LLM Agent Orchestrator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C672929-2360-47A7-B9F4-873553272580}"/>
              </a:ext>
            </a:extLst>
          </p:cNvPr>
          <p:cNvSpPr>
            <a:spLocks noGrp="1"/>
          </p:cNvSpPr>
          <p:nvPr/>
        </p:nvSpPr>
        <p:spPr>
          <a:xfrm>
            <a:off x="990600" y="4362450"/>
            <a:ext cx="1714500" cy="457200"/>
          </a:xfrm>
          <a:prstGeom prst="roundRect">
            <a:avLst>
              <a:gd name="adj" fmla="val 20833"/>
            </a:avLst>
          </a:prstGeom>
          <a:solidFill>
            <a:srgbClr val="FFF1D6"/>
          </a:solidFill>
          <a:ln w="952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83061E-A2A5-472C-BF61-B80DA38A3139}"/>
              </a:ext>
            </a:extLst>
          </p:cNvPr>
          <p:cNvSpPr>
            <a:spLocks noGrp="1"/>
          </p:cNvSpPr>
          <p:nvPr/>
        </p:nvSpPr>
        <p:spPr>
          <a:xfrm>
            <a:off x="1085850" y="451485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MCP Tool Router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AF82BCD-0079-482E-BAD5-22A3DFF5AF08}"/>
              </a:ext>
            </a:extLst>
          </p:cNvPr>
          <p:cNvSpPr>
            <a:spLocks noGrp="1"/>
          </p:cNvSpPr>
          <p:nvPr/>
        </p:nvSpPr>
        <p:spPr>
          <a:xfrm>
            <a:off x="3181350" y="4362450"/>
            <a:ext cx="1714500" cy="457200"/>
          </a:xfrm>
          <a:prstGeom prst="roundRect">
            <a:avLst>
              <a:gd name="adj" fmla="val 20833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6BC41D-0117-4779-B556-6CFBD03EC854}"/>
              </a:ext>
            </a:extLst>
          </p:cNvPr>
          <p:cNvSpPr>
            <a:spLocks noGrp="1"/>
          </p:cNvSpPr>
          <p:nvPr/>
        </p:nvSpPr>
        <p:spPr>
          <a:xfrm>
            <a:off x="3276600" y="4514850"/>
            <a:ext cx="1524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Stream Event Builder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86FFB7-5333-4273-9C00-778BD245AE4F}"/>
              </a:ext>
            </a:extLst>
          </p:cNvPr>
          <p:cNvSpPr>
            <a:spLocks noGrp="1"/>
          </p:cNvSpPr>
          <p:nvPr/>
        </p:nvSpPr>
        <p:spPr>
          <a:xfrm>
            <a:off x="2800350" y="28003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0752B7-BD16-454D-8DA0-099E751D1515}"/>
              </a:ext>
            </a:extLst>
          </p:cNvPr>
          <p:cNvSpPr>
            <a:spLocks noGrp="1"/>
          </p:cNvSpPr>
          <p:nvPr/>
        </p:nvSpPr>
        <p:spPr>
          <a:xfrm>
            <a:off x="2800350" y="36385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79E31B-B425-4D1B-BB33-0C243F11187A}"/>
              </a:ext>
            </a:extLst>
          </p:cNvPr>
          <p:cNvSpPr>
            <a:spLocks noGrp="1"/>
          </p:cNvSpPr>
          <p:nvPr/>
        </p:nvSpPr>
        <p:spPr>
          <a:xfrm>
            <a:off x="2800350" y="44767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D718D3A-D0FD-4D7A-9BCF-7E397745F5A3}"/>
              </a:ext>
            </a:extLst>
          </p:cNvPr>
          <p:cNvSpPr>
            <a:spLocks noGrp="1"/>
          </p:cNvSpPr>
          <p:nvPr/>
        </p:nvSpPr>
        <p:spPr>
          <a:xfrm>
            <a:off x="5734050" y="1809750"/>
            <a:ext cx="5810250" cy="3524250"/>
          </a:xfrm>
          <a:prstGeom prst="roundRect">
            <a:avLst>
              <a:gd name="adj" fmla="val 4865"/>
            </a:avLst>
          </a:prstGeom>
          <a:solidFill>
            <a:srgbClr val="FAF9F7"/>
          </a:solidFill>
          <a:ln w="9525">
            <a:solidFill>
              <a:srgbClr val="D8CBC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E99A52-3796-41D0-A2EF-1F5CD552A280}"/>
              </a:ext>
            </a:extLst>
          </p:cNvPr>
          <p:cNvSpPr>
            <a:spLocks noGrp="1"/>
          </p:cNvSpPr>
          <p:nvPr/>
        </p:nvSpPr>
        <p:spPr>
          <a:xfrm>
            <a:off x="6019800" y="203835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실제 backend flow reference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D9DB12D-AD04-4E5D-A934-793AFB28A9B5}"/>
              </a:ext>
            </a:extLst>
          </p:cNvPr>
          <p:cNvSpPr>
            <a:spLocks noGrp="1"/>
          </p:cNvSpPr>
          <p:nvPr/>
        </p:nvSpPr>
        <p:spPr>
          <a:xfrm>
            <a:off x="9334500" y="2057400"/>
            <a:ext cx="16192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source: backend/flow.PNG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BA72490-D9FE-41C7-9FFC-2CFD6E3B566B}"/>
              </a:ext>
            </a:extLst>
          </p:cNvPr>
          <p:cNvSpPr>
            <a:spLocks noGrp="1"/>
          </p:cNvSpPr>
          <p:nvPr/>
        </p:nvSpPr>
        <p:spPr>
          <a:xfrm>
            <a:off x="5886450" y="2343150"/>
            <a:ext cx="5505450" cy="280035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9525">
            <a:solidFill>
              <a:srgbClr val="E5DCD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DADAE1-38CA-4B8E-B802-52C75A115937}"/>
              </a:ext>
            </a:extLst>
          </p:cNvPr>
          <p:cNvSpPr>
            <a:spLocks noGrp="1"/>
          </p:cNvSpPr>
          <p:nvPr/>
        </p:nvSpPr>
        <p:spPr>
          <a:xfrm>
            <a:off x="8001000" y="3562350"/>
            <a:ext cx="13335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image loading...</a:t>
            </a: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97810" y="2381250"/>
            <a:ext cx="368273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99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52EE386D-4080-4536-98D7-0AA782221BE1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BACKEND TO RAG VIA MCP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1FA9F-03FC-4BDF-88BA-6BBF9A2C43BF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MCP는 answer runtime과 GraphRAG system 사이의 read-only boundary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ACFDC8-67C8-4B0F-9317-C54EED31F68E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Main Backend는 graph를 수정하지 않고, RAG MCP server의 조회 tool만 호출한다.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6B41A8-4273-4206-9321-7F808346DD1F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643B30-E8AE-41CD-9740-5C7B0AE84A19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C510D56-6C78-4B4F-BCAB-B2831C49F507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2190750" cy="1123950"/>
          </a:xfrm>
          <a:prstGeom prst="roundRect">
            <a:avLst>
              <a:gd name="adj" fmla="val 10169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767AF6-A285-439E-AEE7-4F723FDA18A6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1885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Main Backend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E687F2-15F3-41D6-8FA9-A946B7786BF7}"/>
              </a:ext>
            </a:extLst>
          </p:cNvPr>
          <p:cNvSpPr>
            <a:spLocks noGrp="1"/>
          </p:cNvSpPr>
          <p:nvPr/>
        </p:nvSpPr>
        <p:spPr>
          <a:xfrm>
            <a:off x="933450" y="3124200"/>
            <a:ext cx="18859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Answer Runtime</a:t>
            </a:r>
          </a:p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 agent · prompt · stream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B7D1CA-207F-4AB8-A3B5-DDCBF5DC0C30}"/>
              </a:ext>
            </a:extLst>
          </p:cNvPr>
          <p:cNvSpPr>
            <a:spLocks noGrp="1"/>
          </p:cNvSpPr>
          <p:nvPr/>
        </p:nvSpPr>
        <p:spPr>
          <a:xfrm>
            <a:off x="3200400" y="30670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00AD6-3AFA-4F42-BDF2-FE3E496FF593}"/>
              </a:ext>
            </a:extLst>
          </p:cNvPr>
          <p:cNvSpPr>
            <a:spLocks noGrp="1"/>
          </p:cNvSpPr>
          <p:nvPr/>
        </p:nvSpPr>
        <p:spPr>
          <a:xfrm>
            <a:off x="3714750" y="2895600"/>
            <a:ext cx="1524000" cy="723900"/>
          </a:xfrm>
          <a:prstGeom prst="roundRect">
            <a:avLst>
              <a:gd name="adj" fmla="val 15789"/>
            </a:avLst>
          </a:prstGeom>
          <a:solidFill>
            <a:srgbClr val="FFF1D6"/>
          </a:solidFill>
          <a:ln w="952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4535CA-947B-472F-B4DF-F7AA9E775531}"/>
              </a:ext>
            </a:extLst>
          </p:cNvPr>
          <p:cNvSpPr>
            <a:spLocks noGrp="1"/>
          </p:cNvSpPr>
          <p:nvPr/>
        </p:nvSpPr>
        <p:spPr>
          <a:xfrm>
            <a:off x="3867150" y="302895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MCP Client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E1D730-A179-4887-89B8-C3745B007BBC}"/>
              </a:ext>
            </a:extLst>
          </p:cNvPr>
          <p:cNvSpPr>
            <a:spLocks noGrp="1"/>
          </p:cNvSpPr>
          <p:nvPr/>
        </p:nvSpPr>
        <p:spPr>
          <a:xfrm>
            <a:off x="3867150" y="3314700"/>
            <a:ext cx="12192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tool call adapter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A08275-4F91-4D54-B8CC-4350A0732A6D}"/>
              </a:ext>
            </a:extLst>
          </p:cNvPr>
          <p:cNvSpPr>
            <a:spLocks noGrp="1"/>
          </p:cNvSpPr>
          <p:nvPr/>
        </p:nvSpPr>
        <p:spPr>
          <a:xfrm>
            <a:off x="5448300" y="30670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814E04D-B214-44B4-8698-ECB2F3D71CEA}"/>
              </a:ext>
            </a:extLst>
          </p:cNvPr>
          <p:cNvSpPr>
            <a:spLocks noGrp="1"/>
          </p:cNvSpPr>
          <p:nvPr/>
        </p:nvSpPr>
        <p:spPr>
          <a:xfrm>
            <a:off x="5981700" y="2057400"/>
            <a:ext cx="2476500" cy="2362200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3ABDDE-C898-4CFB-9EB8-8513994A39D0}"/>
              </a:ext>
            </a:extLst>
          </p:cNvPr>
          <p:cNvSpPr>
            <a:spLocks noGrp="1"/>
          </p:cNvSpPr>
          <p:nvPr/>
        </p:nvSpPr>
        <p:spPr>
          <a:xfrm>
            <a:off x="6286500" y="2362200"/>
            <a:ext cx="1905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MCP Server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3C08C4B-30ED-42B7-ACF4-5B2405662893}"/>
              </a:ext>
            </a:extLst>
          </p:cNvPr>
          <p:cNvSpPr>
            <a:spLocks noGrp="1"/>
          </p:cNvSpPr>
          <p:nvPr/>
        </p:nvSpPr>
        <p:spPr>
          <a:xfrm>
            <a:off x="6324600" y="28384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CC94A8-6122-481C-B1F0-C2FE707FB073}"/>
              </a:ext>
            </a:extLst>
          </p:cNvPr>
          <p:cNvSpPr>
            <a:spLocks noGrp="1"/>
          </p:cNvSpPr>
          <p:nvPr/>
        </p:nvSpPr>
        <p:spPr>
          <a:xfrm>
            <a:off x="6438900" y="2914650"/>
            <a:ext cx="10096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schema_read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3E429C0-3586-4E9D-AA58-920AF632C59F}"/>
              </a:ext>
            </a:extLst>
          </p:cNvPr>
          <p:cNvSpPr>
            <a:spLocks noGrp="1"/>
          </p:cNvSpPr>
          <p:nvPr/>
        </p:nvSpPr>
        <p:spPr>
          <a:xfrm>
            <a:off x="6324600" y="32575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2FD482-F2FB-4E19-B1A0-C9677C5E95FE}"/>
              </a:ext>
            </a:extLst>
          </p:cNvPr>
          <p:cNvSpPr>
            <a:spLocks noGrp="1"/>
          </p:cNvSpPr>
          <p:nvPr/>
        </p:nvSpPr>
        <p:spPr>
          <a:xfrm>
            <a:off x="6438900" y="3333750"/>
            <a:ext cx="10096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text_search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1ED1EB3-08D1-444B-88C6-5CD94E5D580A}"/>
              </a:ext>
            </a:extLst>
          </p:cNvPr>
          <p:cNvSpPr>
            <a:spLocks noGrp="1"/>
          </p:cNvSpPr>
          <p:nvPr/>
        </p:nvSpPr>
        <p:spPr>
          <a:xfrm>
            <a:off x="6324600" y="36766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63607D-AF68-476A-8684-A2E565EB1364}"/>
              </a:ext>
            </a:extLst>
          </p:cNvPr>
          <p:cNvSpPr>
            <a:spLocks noGrp="1"/>
          </p:cNvSpPr>
          <p:nvPr/>
        </p:nvSpPr>
        <p:spPr>
          <a:xfrm>
            <a:off x="6438900" y="3752850"/>
            <a:ext cx="10096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vector_search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3A02FFA-C5B0-48DC-B29B-FDAD166069A3}"/>
              </a:ext>
            </a:extLst>
          </p:cNvPr>
          <p:cNvSpPr>
            <a:spLocks noGrp="1"/>
          </p:cNvSpPr>
          <p:nvPr/>
        </p:nvSpPr>
        <p:spPr>
          <a:xfrm>
            <a:off x="6324600" y="4095750"/>
            <a:ext cx="1371600" cy="28575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3804D7-04CC-4BD5-B760-570F69EF029F}"/>
              </a:ext>
            </a:extLst>
          </p:cNvPr>
          <p:cNvSpPr>
            <a:spLocks noGrp="1"/>
          </p:cNvSpPr>
          <p:nvPr/>
        </p:nvSpPr>
        <p:spPr>
          <a:xfrm>
            <a:off x="6438900" y="4171950"/>
            <a:ext cx="1143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graph_traverse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00FA96-9B6E-4278-BFC0-E28E828B4F6E}"/>
              </a:ext>
            </a:extLst>
          </p:cNvPr>
          <p:cNvSpPr>
            <a:spLocks noGrp="1"/>
          </p:cNvSpPr>
          <p:nvPr/>
        </p:nvSpPr>
        <p:spPr>
          <a:xfrm>
            <a:off x="8629650" y="30670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9C4E452-2CF6-4954-BF97-0D2A531A8819}"/>
              </a:ext>
            </a:extLst>
          </p:cNvPr>
          <p:cNvSpPr>
            <a:spLocks noGrp="1"/>
          </p:cNvSpPr>
          <p:nvPr/>
        </p:nvSpPr>
        <p:spPr>
          <a:xfrm>
            <a:off x="9182100" y="2724150"/>
            <a:ext cx="2095500" cy="1066800"/>
          </a:xfrm>
          <a:prstGeom prst="roundRect">
            <a:avLst>
              <a:gd name="adj" fmla="val 10714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7E6F04B-3338-4EE5-BAC8-1DDD22939C04}"/>
              </a:ext>
            </a:extLst>
          </p:cNvPr>
          <p:cNvSpPr>
            <a:spLocks noGrp="1"/>
          </p:cNvSpPr>
          <p:nvPr/>
        </p:nvSpPr>
        <p:spPr>
          <a:xfrm>
            <a:off x="9334500" y="2857500"/>
            <a:ext cx="1790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Memgraph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B25BDF-5B7F-403B-8D6C-E025181CF4EE}"/>
              </a:ext>
            </a:extLst>
          </p:cNvPr>
          <p:cNvSpPr>
            <a:spLocks noGrp="1"/>
          </p:cNvSpPr>
          <p:nvPr/>
        </p:nvSpPr>
        <p:spPr>
          <a:xfrm>
            <a:off x="9334500" y="3143250"/>
            <a:ext cx="17907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Document · Chunk · Edge · Memory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98C9867-877B-479F-A56B-891849C98B50}"/>
              </a:ext>
            </a:extLst>
          </p:cNvPr>
          <p:cNvSpPr>
            <a:spLocks noGrp="1"/>
          </p:cNvSpPr>
          <p:nvPr/>
        </p:nvSpPr>
        <p:spPr>
          <a:xfrm>
            <a:off x="4514850" y="4914900"/>
            <a:ext cx="3143250" cy="762000"/>
          </a:xfrm>
          <a:prstGeom prst="roundRect">
            <a:avLst>
              <a:gd name="adj" fmla="val 15000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62F24E-F867-4CEC-8E84-2427EA6921E1}"/>
              </a:ext>
            </a:extLst>
          </p:cNvPr>
          <p:cNvSpPr>
            <a:spLocks noGrp="1"/>
          </p:cNvSpPr>
          <p:nvPr/>
        </p:nvSpPr>
        <p:spPr>
          <a:xfrm>
            <a:off x="4667250" y="5048250"/>
            <a:ext cx="2838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GraphRAG Builder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589103B-8005-49EC-A704-53740E2590C1}"/>
              </a:ext>
            </a:extLst>
          </p:cNvPr>
          <p:cNvSpPr>
            <a:spLocks noGrp="1"/>
          </p:cNvSpPr>
          <p:nvPr/>
        </p:nvSpPr>
        <p:spPr>
          <a:xfrm>
            <a:off x="4667250" y="5334000"/>
            <a:ext cx="28384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Ingest / Review / Memory pipeline만 approved graph write 수행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306496-FD5E-431A-82F8-6F656A3E8118}"/>
              </a:ext>
            </a:extLst>
          </p:cNvPr>
          <p:cNvSpPr>
            <a:spLocks noGrp="1"/>
          </p:cNvSpPr>
          <p:nvPr/>
        </p:nvSpPr>
        <p:spPr>
          <a:xfrm>
            <a:off x="9124950" y="4191000"/>
            <a:ext cx="20955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 b="1">
                <a:solidFill>
                  <a:srgbClr val="BE3455"/>
                </a:solidFill>
                <a:latin typeface="Arial"/>
                <a:ea typeface="Arial"/>
                <a:cs typeface="Arial"/>
              </a:defRPr>
            </a:pPr>
            <a:r>
              <a:t>no write from answer runtime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8DCBB37-69C1-43C7-A614-92CCC0F51679}"/>
              </a:ext>
            </a:extLst>
          </p:cNvPr>
          <p:cNvSpPr>
            <a:spLocks noGrp="1"/>
          </p:cNvSpPr>
          <p:nvPr/>
        </p:nvSpPr>
        <p:spPr>
          <a:xfrm>
            <a:off x="2038350" y="5753100"/>
            <a:ext cx="8096250" cy="400050"/>
          </a:xfrm>
          <a:prstGeom prst="roundRect">
            <a:avLst>
              <a:gd name="adj" fmla="val 33333"/>
            </a:avLst>
          </a:prstGeom>
          <a:solidFill>
            <a:srgbClr val="FFF9F3"/>
          </a:solidFill>
          <a:ln w="9525">
            <a:solidFill>
              <a:srgbClr val="E2C8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3DDDFD2-ECFA-40D3-A589-2ACFCB799A06}"/>
              </a:ext>
            </a:extLst>
          </p:cNvPr>
          <p:cNvSpPr>
            <a:spLocks noGrp="1"/>
          </p:cNvSpPr>
          <p:nvPr/>
        </p:nvSpPr>
        <p:spPr>
          <a:xfrm>
            <a:off x="2343150" y="5867400"/>
            <a:ext cx="7524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이 구조 덕분에 외부 agent나 최종 backend가 같은 graph를 안정적으로 조회할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1211894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F3333627-B7D5-4227-A9B8-8E016854FC3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GRAPHRAG SYSTEM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E4542E3-9A70-48E3-9B4A-20F4E7894330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system은 ingest, worker, review, memory, MCP를 포함한 graph 구축 시스템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B4AD47-953B-4F9C-B1D5-36B02BBA6BC5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최종 답변을 직접 생성하기보다, 검수 가능한 knowledge graph를 만들고 제공한다.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0D63C5-944D-45AC-BC27-0AA0E50F83FD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8367C6-FDD9-4989-966F-14FBFCE5E56E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33FC24-8E01-476D-91D8-B3623C1C5F02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2000250" cy="2857500"/>
          </a:xfrm>
          <a:prstGeom prst="roundRect">
            <a:avLst>
              <a:gd name="adj" fmla="val 8571"/>
            </a:avLst>
          </a:prstGeom>
          <a:solidFill>
            <a:srgbClr val="FFFBF8"/>
          </a:solidFill>
          <a:ln w="9525">
            <a:solidFill>
              <a:srgbClr val="E1D3C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FDBD09-AAAA-42FA-B6E1-4B5094A296A4}"/>
              </a:ext>
            </a:extLst>
          </p:cNvPr>
          <p:cNvSpPr>
            <a:spLocks noGrp="1"/>
          </p:cNvSpPr>
          <p:nvPr/>
        </p:nvSpPr>
        <p:spPr>
          <a:xfrm>
            <a:off x="838200" y="2152650"/>
            <a:ext cx="1524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RAG Admin Surface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753C672-EF1F-47C1-8ADF-0E47BE0231C6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1238250" cy="457200"/>
          </a:xfrm>
          <a:prstGeom prst="roundRect">
            <a:avLst>
              <a:gd name="adj" fmla="val 20833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7F5A47-1B79-4541-83C1-871103E74368}"/>
              </a:ext>
            </a:extLst>
          </p:cNvPr>
          <p:cNvSpPr>
            <a:spLocks noGrp="1"/>
          </p:cNvSpPr>
          <p:nvPr/>
        </p:nvSpPr>
        <p:spPr>
          <a:xfrm>
            <a:off x="1009650" y="2895600"/>
            <a:ext cx="10477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Upload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8C2A499-EB5A-493B-BF48-F2B17F24690C}"/>
              </a:ext>
            </a:extLst>
          </p:cNvPr>
          <p:cNvSpPr>
            <a:spLocks noGrp="1"/>
          </p:cNvSpPr>
          <p:nvPr/>
        </p:nvSpPr>
        <p:spPr>
          <a:xfrm>
            <a:off x="914400" y="3390900"/>
            <a:ext cx="1238250" cy="457200"/>
          </a:xfrm>
          <a:prstGeom prst="roundRect">
            <a:avLst>
              <a:gd name="adj" fmla="val 20833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EB34F2-4094-472B-8177-17B14C04E5CD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10477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 Jobs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F9523A5-0043-4F86-BE83-938560EBA74B}"/>
              </a:ext>
            </a:extLst>
          </p:cNvPr>
          <p:cNvSpPr>
            <a:spLocks noGrp="1"/>
          </p:cNvSpPr>
          <p:nvPr/>
        </p:nvSpPr>
        <p:spPr>
          <a:xfrm>
            <a:off x="914400" y="4038600"/>
            <a:ext cx="1238250" cy="457200"/>
          </a:xfrm>
          <a:prstGeom prst="roundRect">
            <a:avLst>
              <a:gd name="adj" fmla="val 20833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0303B7-E4B1-4F1C-9F58-941F235FF209}"/>
              </a:ext>
            </a:extLst>
          </p:cNvPr>
          <p:cNvSpPr>
            <a:spLocks noGrp="1"/>
          </p:cNvSpPr>
          <p:nvPr/>
        </p:nvSpPr>
        <p:spPr>
          <a:xfrm>
            <a:off x="1009650" y="4191000"/>
            <a:ext cx="10477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Review / Memory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39132E2-8B8A-432C-ABFB-6781DE5CBEAB}"/>
              </a:ext>
            </a:extLst>
          </p:cNvPr>
          <p:cNvSpPr>
            <a:spLocks noGrp="1"/>
          </p:cNvSpPr>
          <p:nvPr/>
        </p:nvSpPr>
        <p:spPr>
          <a:xfrm>
            <a:off x="2724150" y="31432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5393F9D-A136-42E1-B253-2FE1F258BF3E}"/>
              </a:ext>
            </a:extLst>
          </p:cNvPr>
          <p:cNvSpPr>
            <a:spLocks noGrp="1"/>
          </p:cNvSpPr>
          <p:nvPr/>
        </p:nvSpPr>
        <p:spPr>
          <a:xfrm>
            <a:off x="3200400" y="1905000"/>
            <a:ext cx="2286000" cy="28575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4D0F7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D12D2-6B0B-47E7-A4FF-9308D1F3E2C7}"/>
              </a:ext>
            </a:extLst>
          </p:cNvPr>
          <p:cNvSpPr>
            <a:spLocks noGrp="1"/>
          </p:cNvSpPr>
          <p:nvPr/>
        </p:nvSpPr>
        <p:spPr>
          <a:xfrm>
            <a:off x="3524250" y="2152650"/>
            <a:ext cx="1524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 Backend API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1721EE-7850-40B5-852C-02DDB0F18E3F}"/>
              </a:ext>
            </a:extLst>
          </p:cNvPr>
          <p:cNvSpPr>
            <a:spLocks noGrp="1"/>
          </p:cNvSpPr>
          <p:nvPr/>
        </p:nvSpPr>
        <p:spPr>
          <a:xfrm>
            <a:off x="3676650" y="2743200"/>
            <a:ext cx="1333500" cy="457200"/>
          </a:xfrm>
          <a:prstGeom prst="roundRect">
            <a:avLst>
              <a:gd name="adj" fmla="val 20833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C3D1D13-DFA9-4C09-B62B-3AFAFA13C8B0}"/>
              </a:ext>
            </a:extLst>
          </p:cNvPr>
          <p:cNvSpPr>
            <a:spLocks noGrp="1"/>
          </p:cNvSpPr>
          <p:nvPr/>
        </p:nvSpPr>
        <p:spPr>
          <a:xfrm>
            <a:off x="3771900" y="2895600"/>
            <a:ext cx="1143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Document API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2B953D5-9C56-42F7-8F11-B11AD6CDF526}"/>
              </a:ext>
            </a:extLst>
          </p:cNvPr>
          <p:cNvSpPr>
            <a:spLocks noGrp="1"/>
          </p:cNvSpPr>
          <p:nvPr/>
        </p:nvSpPr>
        <p:spPr>
          <a:xfrm>
            <a:off x="3676650" y="3390900"/>
            <a:ext cx="1333500" cy="457200"/>
          </a:xfrm>
          <a:prstGeom prst="roundRect">
            <a:avLst>
              <a:gd name="adj" fmla="val 20833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D2E15C3-8C37-4148-8344-3480C8E2C0B7}"/>
              </a:ext>
            </a:extLst>
          </p:cNvPr>
          <p:cNvSpPr>
            <a:spLocks noGrp="1"/>
          </p:cNvSpPr>
          <p:nvPr/>
        </p:nvSpPr>
        <p:spPr>
          <a:xfrm>
            <a:off x="3771900" y="3543300"/>
            <a:ext cx="1143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Ingest Job API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062B41A-D190-4202-8976-FC627C01D84A}"/>
              </a:ext>
            </a:extLst>
          </p:cNvPr>
          <p:cNvSpPr>
            <a:spLocks noGrp="1"/>
          </p:cNvSpPr>
          <p:nvPr/>
        </p:nvSpPr>
        <p:spPr>
          <a:xfrm>
            <a:off x="3676650" y="4038600"/>
            <a:ext cx="1428750" cy="457200"/>
          </a:xfrm>
          <a:prstGeom prst="roundRect">
            <a:avLst>
              <a:gd name="adj" fmla="val 20833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DCDB18-E748-49EA-A84E-E0A1434D84B2}"/>
              </a:ext>
            </a:extLst>
          </p:cNvPr>
          <p:cNvSpPr>
            <a:spLocks noGrp="1"/>
          </p:cNvSpPr>
          <p:nvPr/>
        </p:nvSpPr>
        <p:spPr>
          <a:xfrm>
            <a:off x="3771900" y="4191000"/>
            <a:ext cx="12382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Review / Memory API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8D0E52-6183-4599-B1AD-7FBEC15B35C8}"/>
              </a:ext>
            </a:extLst>
          </p:cNvPr>
          <p:cNvSpPr>
            <a:spLocks noGrp="1"/>
          </p:cNvSpPr>
          <p:nvPr/>
        </p:nvSpPr>
        <p:spPr>
          <a:xfrm>
            <a:off x="5657850" y="31432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101BAFD-8E38-4B4C-8BA5-164E244D819D}"/>
              </a:ext>
            </a:extLst>
          </p:cNvPr>
          <p:cNvSpPr>
            <a:spLocks noGrp="1"/>
          </p:cNvSpPr>
          <p:nvPr/>
        </p:nvSpPr>
        <p:spPr>
          <a:xfrm>
            <a:off x="6153150" y="1905000"/>
            <a:ext cx="2381250" cy="2857500"/>
          </a:xfrm>
          <a:prstGeom prst="roundRect">
            <a:avLst>
              <a:gd name="adj" fmla="val 7200"/>
            </a:avLst>
          </a:prstGeom>
          <a:solidFill>
            <a:srgbClr val="FBFEFC"/>
          </a:solidFill>
          <a:ln w="9525">
            <a:solidFill>
              <a:srgbClr val="CDE6D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FF80D4-726D-4366-AD29-478E7F6EBAF8}"/>
              </a:ext>
            </a:extLst>
          </p:cNvPr>
          <p:cNvSpPr>
            <a:spLocks noGrp="1"/>
          </p:cNvSpPr>
          <p:nvPr/>
        </p:nvSpPr>
        <p:spPr>
          <a:xfrm>
            <a:off x="6572250" y="2152650"/>
            <a:ext cx="1524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Async Runtime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EFE68BB-7689-49BA-BA94-A283E60FE0A8}"/>
              </a:ext>
            </a:extLst>
          </p:cNvPr>
          <p:cNvSpPr>
            <a:spLocks noGrp="1"/>
          </p:cNvSpPr>
          <p:nvPr/>
        </p:nvSpPr>
        <p:spPr>
          <a:xfrm>
            <a:off x="6667500" y="2724150"/>
            <a:ext cx="1333500" cy="457200"/>
          </a:xfrm>
          <a:prstGeom prst="roundRect">
            <a:avLst>
              <a:gd name="adj" fmla="val 20833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B5AD79-E5F7-4FC8-8AB9-796F56633258}"/>
              </a:ext>
            </a:extLst>
          </p:cNvPr>
          <p:cNvSpPr>
            <a:spLocks noGrp="1"/>
          </p:cNvSpPr>
          <p:nvPr/>
        </p:nvSpPr>
        <p:spPr>
          <a:xfrm>
            <a:off x="6762750" y="2876550"/>
            <a:ext cx="1143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Task Queue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BF0AE2B-606C-44A6-AB13-7541D640BBE5}"/>
              </a:ext>
            </a:extLst>
          </p:cNvPr>
          <p:cNvSpPr>
            <a:spLocks noGrp="1"/>
          </p:cNvSpPr>
          <p:nvPr/>
        </p:nvSpPr>
        <p:spPr>
          <a:xfrm>
            <a:off x="6667500" y="3390900"/>
            <a:ext cx="1333500" cy="457200"/>
          </a:xfrm>
          <a:prstGeom prst="roundRect">
            <a:avLst>
              <a:gd name="adj" fmla="val 20833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54173E8-B1AE-4E7D-A719-B456C8A1F3AF}"/>
              </a:ext>
            </a:extLst>
          </p:cNvPr>
          <p:cNvSpPr>
            <a:spLocks noGrp="1"/>
          </p:cNvSpPr>
          <p:nvPr/>
        </p:nvSpPr>
        <p:spPr>
          <a:xfrm>
            <a:off x="6762750" y="3543300"/>
            <a:ext cx="1143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Worker Pool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B45AB50-9F0F-46A6-B469-12DEB1CBC133}"/>
              </a:ext>
            </a:extLst>
          </p:cNvPr>
          <p:cNvSpPr>
            <a:spLocks noGrp="1"/>
          </p:cNvSpPr>
          <p:nvPr/>
        </p:nvSpPr>
        <p:spPr>
          <a:xfrm>
            <a:off x="6572250" y="4038600"/>
            <a:ext cx="1524000" cy="457200"/>
          </a:xfrm>
          <a:prstGeom prst="roundRect">
            <a:avLst>
              <a:gd name="adj" fmla="val 20833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D32945-CFB4-4DB2-AC46-3A6EE12A5DF1}"/>
              </a:ext>
            </a:extLst>
          </p:cNvPr>
          <p:cNvSpPr>
            <a:spLocks noGrp="1"/>
          </p:cNvSpPr>
          <p:nvPr/>
        </p:nvSpPr>
        <p:spPr>
          <a:xfrm>
            <a:off x="6667500" y="4191000"/>
            <a:ext cx="13335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LangGraph Pipelines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7E414B-68DE-42A1-8447-3810A7D4767B}"/>
              </a:ext>
            </a:extLst>
          </p:cNvPr>
          <p:cNvSpPr>
            <a:spLocks noGrp="1"/>
          </p:cNvSpPr>
          <p:nvPr/>
        </p:nvSpPr>
        <p:spPr>
          <a:xfrm>
            <a:off x="8705850" y="31432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E19D2BE-65E0-43D3-A01E-3442A4D444F4}"/>
              </a:ext>
            </a:extLst>
          </p:cNvPr>
          <p:cNvSpPr>
            <a:spLocks noGrp="1"/>
          </p:cNvSpPr>
          <p:nvPr/>
        </p:nvSpPr>
        <p:spPr>
          <a:xfrm>
            <a:off x="9201150" y="1905000"/>
            <a:ext cx="2190750" cy="2857500"/>
          </a:xfrm>
          <a:prstGeom prst="roundRect">
            <a:avLst>
              <a:gd name="adj" fmla="val 7826"/>
            </a:avLst>
          </a:prstGeom>
          <a:solidFill>
            <a:srgbClr val="F8FBFF"/>
          </a:solidFill>
          <a:ln w="9525">
            <a:solidFill>
              <a:srgbClr val="CDDDF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AF03630-6F51-40CB-B5BD-D4E414726E38}"/>
              </a:ext>
            </a:extLst>
          </p:cNvPr>
          <p:cNvSpPr>
            <a:spLocks noGrp="1"/>
          </p:cNvSpPr>
          <p:nvPr/>
        </p:nvSpPr>
        <p:spPr>
          <a:xfrm>
            <a:off x="9467850" y="2152650"/>
            <a:ext cx="1619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Storage / External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0A9AAB1-A756-4CC0-8516-9D63385F1B36}"/>
              </a:ext>
            </a:extLst>
          </p:cNvPr>
          <p:cNvSpPr>
            <a:spLocks noGrp="1"/>
          </p:cNvSpPr>
          <p:nvPr/>
        </p:nvSpPr>
        <p:spPr>
          <a:xfrm>
            <a:off x="9639300" y="2724150"/>
            <a:ext cx="1333500" cy="457200"/>
          </a:xfrm>
          <a:prstGeom prst="roundRect">
            <a:avLst>
              <a:gd name="adj" fmla="val 20833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50F715B-8473-4AE4-9494-702ABA1FB788}"/>
              </a:ext>
            </a:extLst>
          </p:cNvPr>
          <p:cNvSpPr>
            <a:spLocks noGrp="1"/>
          </p:cNvSpPr>
          <p:nvPr/>
        </p:nvSpPr>
        <p:spPr>
          <a:xfrm>
            <a:off x="9734550" y="2876550"/>
            <a:ext cx="1143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Memgraph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5BAD3054-18FE-484E-ADFE-5E8DF29E8919}"/>
              </a:ext>
            </a:extLst>
          </p:cNvPr>
          <p:cNvSpPr>
            <a:spLocks noGrp="1"/>
          </p:cNvSpPr>
          <p:nvPr/>
        </p:nvSpPr>
        <p:spPr>
          <a:xfrm>
            <a:off x="9639300" y="3390900"/>
            <a:ext cx="1333500" cy="457200"/>
          </a:xfrm>
          <a:prstGeom prst="roundRect">
            <a:avLst>
              <a:gd name="adj" fmla="val 20833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9A6D81-C9C2-4703-8655-99B8E1EB28E9}"/>
              </a:ext>
            </a:extLst>
          </p:cNvPr>
          <p:cNvSpPr>
            <a:spLocks noGrp="1"/>
          </p:cNvSpPr>
          <p:nvPr/>
        </p:nvSpPr>
        <p:spPr>
          <a:xfrm>
            <a:off x="9734550" y="3543300"/>
            <a:ext cx="1143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Redis Streams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06B8ABC-55D0-4701-BB16-BDFD6151CC9C}"/>
              </a:ext>
            </a:extLst>
          </p:cNvPr>
          <p:cNvSpPr>
            <a:spLocks noGrp="1"/>
          </p:cNvSpPr>
          <p:nvPr/>
        </p:nvSpPr>
        <p:spPr>
          <a:xfrm>
            <a:off x="9544050" y="4038600"/>
            <a:ext cx="1524000" cy="457200"/>
          </a:xfrm>
          <a:prstGeom prst="roundRect">
            <a:avLst>
              <a:gd name="adj" fmla="val 20833"/>
            </a:avLst>
          </a:prstGeom>
          <a:solidFill>
            <a:srgbClr val="FFF1D6"/>
          </a:solidFill>
          <a:ln w="952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79F233-8655-4EC4-95CB-F41D359F7B99}"/>
              </a:ext>
            </a:extLst>
          </p:cNvPr>
          <p:cNvSpPr>
            <a:spLocks noGrp="1"/>
          </p:cNvSpPr>
          <p:nvPr/>
        </p:nvSpPr>
        <p:spPr>
          <a:xfrm>
            <a:off x="9639300" y="4191000"/>
            <a:ext cx="13335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MCP Server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D0D35F2-87B2-4CFA-88EE-8D6090017880}"/>
              </a:ext>
            </a:extLst>
          </p:cNvPr>
          <p:cNvSpPr>
            <a:spLocks noGrp="1"/>
          </p:cNvSpPr>
          <p:nvPr/>
        </p:nvSpPr>
        <p:spPr>
          <a:xfrm>
            <a:off x="1276350" y="5657850"/>
            <a:ext cx="96393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75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FE는 운영 UI, RAG BE는 API와 worker, Memgraph는 graph truth, Redis는 observability, MCP는 read-only 외부 조회 boundary다.</a:t>
            </a:r>
          </a:p>
        </p:txBody>
      </p:sp>
    </p:spTree>
    <p:extLst>
      <p:ext uri="{BB962C8B-B14F-4D97-AF65-F5344CB8AC3E}">
        <p14:creationId xmlns:p14="http://schemas.microsoft.com/office/powerpoint/2010/main" val="985982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38420789-0A1A-48D7-9E58-FE9728134625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ASYNC INGEST AND CONSTRUCTION GRAPH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3B35A8-9840-4AB6-9BCE-B8C5E3E7087E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문서 업로드는 job/queue/worker로 비동기 처리하고 graph construction을 실행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7426B70-9339-4412-A3C8-D32311414EDB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worker는 document load부터 candidate generation까지 진행하고 pending review artifact를 만든다.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4A8A91-F263-4078-BF7E-95B0876B37A2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A91E57-FC61-4319-994E-EA109EB1E4B8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87E627-8788-4A93-BFBD-FD3DAECEF2EE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1428750" cy="457200"/>
          </a:xfrm>
          <a:prstGeom prst="roundRect">
            <a:avLst>
              <a:gd name="adj" fmla="val 20833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B31FE0-45BE-45CE-88FA-4617F124B386}"/>
              </a:ext>
            </a:extLst>
          </p:cNvPr>
          <p:cNvSpPr>
            <a:spLocks noGrp="1"/>
          </p:cNvSpPr>
          <p:nvPr/>
        </p:nvSpPr>
        <p:spPr>
          <a:xfrm>
            <a:off x="781050" y="2381250"/>
            <a:ext cx="12382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RAG FE Upload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ECA6F5-C65A-4484-BB03-6DE9DECAC04D}"/>
              </a:ext>
            </a:extLst>
          </p:cNvPr>
          <p:cNvSpPr>
            <a:spLocks noGrp="1"/>
          </p:cNvSpPr>
          <p:nvPr/>
        </p:nvSpPr>
        <p:spPr>
          <a:xfrm>
            <a:off x="2247900" y="2343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0F06152-6B53-4BC3-A832-AD225F2A2216}"/>
              </a:ext>
            </a:extLst>
          </p:cNvPr>
          <p:cNvSpPr>
            <a:spLocks noGrp="1"/>
          </p:cNvSpPr>
          <p:nvPr/>
        </p:nvSpPr>
        <p:spPr>
          <a:xfrm>
            <a:off x="2743200" y="2228850"/>
            <a:ext cx="1333500" cy="457200"/>
          </a:xfrm>
          <a:prstGeom prst="roundRect">
            <a:avLst>
              <a:gd name="adj" fmla="val 20833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DF0AAD-E5A3-49B5-9D17-00A500995829}"/>
              </a:ext>
            </a:extLst>
          </p:cNvPr>
          <p:cNvSpPr>
            <a:spLocks noGrp="1"/>
          </p:cNvSpPr>
          <p:nvPr/>
        </p:nvSpPr>
        <p:spPr>
          <a:xfrm>
            <a:off x="2838450" y="2381250"/>
            <a:ext cx="11430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Document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39B16D-3944-4DC0-8EBD-53244EFDF270}"/>
              </a:ext>
            </a:extLst>
          </p:cNvPr>
          <p:cNvSpPr>
            <a:spLocks noGrp="1"/>
          </p:cNvSpPr>
          <p:nvPr/>
        </p:nvSpPr>
        <p:spPr>
          <a:xfrm>
            <a:off x="4210050" y="2343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9144084-35B5-48FD-880A-E65DE8B9E266}"/>
              </a:ext>
            </a:extLst>
          </p:cNvPr>
          <p:cNvSpPr>
            <a:spLocks noGrp="1"/>
          </p:cNvSpPr>
          <p:nvPr/>
        </p:nvSpPr>
        <p:spPr>
          <a:xfrm>
            <a:off x="4686300" y="2228850"/>
            <a:ext cx="1143000" cy="457200"/>
          </a:xfrm>
          <a:prstGeom prst="roundRect">
            <a:avLst>
              <a:gd name="adj" fmla="val 20833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226D4D-77F1-4B2E-B31D-50AB49F62EC5}"/>
              </a:ext>
            </a:extLst>
          </p:cNvPr>
          <p:cNvSpPr>
            <a:spLocks noGrp="1"/>
          </p:cNvSpPr>
          <p:nvPr/>
        </p:nvSpPr>
        <p:spPr>
          <a:xfrm>
            <a:off x="4781550" y="2381250"/>
            <a:ext cx="9525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IngestJob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76EDC-0E28-4419-AAD6-A2F4F11FDD9D}"/>
              </a:ext>
            </a:extLst>
          </p:cNvPr>
          <p:cNvSpPr>
            <a:spLocks noGrp="1"/>
          </p:cNvSpPr>
          <p:nvPr/>
        </p:nvSpPr>
        <p:spPr>
          <a:xfrm>
            <a:off x="5981700" y="2343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6E422AB-5BD5-41DD-AD26-03CC4793707A}"/>
              </a:ext>
            </a:extLst>
          </p:cNvPr>
          <p:cNvSpPr>
            <a:spLocks noGrp="1"/>
          </p:cNvSpPr>
          <p:nvPr/>
        </p:nvSpPr>
        <p:spPr>
          <a:xfrm>
            <a:off x="6496050" y="2228850"/>
            <a:ext cx="1238250" cy="457200"/>
          </a:xfrm>
          <a:prstGeom prst="roundRect">
            <a:avLst>
              <a:gd name="adj" fmla="val 20833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45E7A8-ACC9-4C05-BD51-E951D848206D}"/>
              </a:ext>
            </a:extLst>
          </p:cNvPr>
          <p:cNvSpPr>
            <a:spLocks noGrp="1"/>
          </p:cNvSpPr>
          <p:nvPr/>
        </p:nvSpPr>
        <p:spPr>
          <a:xfrm>
            <a:off x="6591300" y="2381250"/>
            <a:ext cx="10477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Task Queue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30D3BD-3E1F-47C4-A05C-420C70279865}"/>
              </a:ext>
            </a:extLst>
          </p:cNvPr>
          <p:cNvSpPr>
            <a:spLocks noGrp="1"/>
          </p:cNvSpPr>
          <p:nvPr/>
        </p:nvSpPr>
        <p:spPr>
          <a:xfrm>
            <a:off x="7886700" y="2343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F549919-91B0-4813-BB07-38F1A1258424}"/>
              </a:ext>
            </a:extLst>
          </p:cNvPr>
          <p:cNvSpPr>
            <a:spLocks noGrp="1"/>
          </p:cNvSpPr>
          <p:nvPr/>
        </p:nvSpPr>
        <p:spPr>
          <a:xfrm>
            <a:off x="8420100" y="2228850"/>
            <a:ext cx="1047750" cy="457200"/>
          </a:xfrm>
          <a:prstGeom prst="roundRect">
            <a:avLst>
              <a:gd name="adj" fmla="val 20833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CF3CC9-C00B-44E5-B197-C80EF20ABB80}"/>
              </a:ext>
            </a:extLst>
          </p:cNvPr>
          <p:cNvSpPr>
            <a:spLocks noGrp="1"/>
          </p:cNvSpPr>
          <p:nvPr/>
        </p:nvSpPr>
        <p:spPr>
          <a:xfrm>
            <a:off x="8515350" y="2381250"/>
            <a:ext cx="8572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Worker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82D48D-5465-43EA-A510-205A9A616BAB}"/>
              </a:ext>
            </a:extLst>
          </p:cNvPr>
          <p:cNvSpPr>
            <a:spLocks noGrp="1"/>
          </p:cNvSpPr>
          <p:nvPr/>
        </p:nvSpPr>
        <p:spPr>
          <a:xfrm>
            <a:off x="9620250" y="2343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489E205-8E1D-4CE5-A971-D39E109F6A13}"/>
              </a:ext>
            </a:extLst>
          </p:cNvPr>
          <p:cNvSpPr>
            <a:spLocks noGrp="1"/>
          </p:cNvSpPr>
          <p:nvPr/>
        </p:nvSpPr>
        <p:spPr>
          <a:xfrm>
            <a:off x="10134600" y="2228850"/>
            <a:ext cx="1428750" cy="457200"/>
          </a:xfrm>
          <a:prstGeom prst="roundRect">
            <a:avLst>
              <a:gd name="adj" fmla="val 20833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C717A8-7E59-437B-9CA4-86402F2F0F0E}"/>
              </a:ext>
            </a:extLst>
          </p:cNvPr>
          <p:cNvSpPr>
            <a:spLocks noGrp="1"/>
          </p:cNvSpPr>
          <p:nvPr/>
        </p:nvSpPr>
        <p:spPr>
          <a:xfrm>
            <a:off x="10229850" y="2381250"/>
            <a:ext cx="12382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Job State / Events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F0EF75B-031B-4E0E-BE8D-F15D230CCBE4}"/>
              </a:ext>
            </a:extLst>
          </p:cNvPr>
          <p:cNvSpPr>
            <a:spLocks noGrp="1"/>
          </p:cNvSpPr>
          <p:nvPr/>
        </p:nvSpPr>
        <p:spPr>
          <a:xfrm>
            <a:off x="895350" y="3714750"/>
            <a:ext cx="10363200" cy="1143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070A2FB-B3E6-4D4E-BC44-F8E3D47461F4}"/>
              </a:ext>
            </a:extLst>
          </p:cNvPr>
          <p:cNvSpPr>
            <a:spLocks noGrp="1"/>
          </p:cNvSpPr>
          <p:nvPr/>
        </p:nvSpPr>
        <p:spPr>
          <a:xfrm>
            <a:off x="1238250" y="4057650"/>
            <a:ext cx="1428750" cy="457200"/>
          </a:xfrm>
          <a:prstGeom prst="roundRect">
            <a:avLst>
              <a:gd name="adj" fmla="val 20833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AD194C-4109-4AC1-9CCE-5B7CB368CD67}"/>
              </a:ext>
            </a:extLst>
          </p:cNvPr>
          <p:cNvSpPr>
            <a:spLocks noGrp="1"/>
          </p:cNvSpPr>
          <p:nvPr/>
        </p:nvSpPr>
        <p:spPr>
          <a:xfrm>
            <a:off x="1333500" y="4210050"/>
            <a:ext cx="12382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document_load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9EDAB0-BF71-46DF-A122-8BE099164D58}"/>
              </a:ext>
            </a:extLst>
          </p:cNvPr>
          <p:cNvSpPr>
            <a:spLocks noGrp="1"/>
          </p:cNvSpPr>
          <p:nvPr/>
        </p:nvSpPr>
        <p:spPr>
          <a:xfrm>
            <a:off x="2781300" y="41719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6987C3E-AC48-409F-AC8F-109B65EE2AD6}"/>
              </a:ext>
            </a:extLst>
          </p:cNvPr>
          <p:cNvSpPr>
            <a:spLocks noGrp="1"/>
          </p:cNvSpPr>
          <p:nvPr/>
        </p:nvSpPr>
        <p:spPr>
          <a:xfrm>
            <a:off x="3257550" y="4057650"/>
            <a:ext cx="1524000" cy="457200"/>
          </a:xfrm>
          <a:prstGeom prst="roundRect">
            <a:avLst>
              <a:gd name="adj" fmla="val 20833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488A87D-F01D-4783-A0BD-DFA56E78A981}"/>
              </a:ext>
            </a:extLst>
          </p:cNvPr>
          <p:cNvSpPr>
            <a:spLocks noGrp="1"/>
          </p:cNvSpPr>
          <p:nvPr/>
        </p:nvSpPr>
        <p:spPr>
          <a:xfrm>
            <a:off x="3352800" y="4210050"/>
            <a:ext cx="13335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chunking_agent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E27224-046F-4A65-97A2-86D4E5A7AB07}"/>
              </a:ext>
            </a:extLst>
          </p:cNvPr>
          <p:cNvSpPr>
            <a:spLocks noGrp="1"/>
          </p:cNvSpPr>
          <p:nvPr/>
        </p:nvSpPr>
        <p:spPr>
          <a:xfrm>
            <a:off x="4895850" y="41719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958B1839-8744-4C80-BAD3-4F875C0557C5}"/>
              </a:ext>
            </a:extLst>
          </p:cNvPr>
          <p:cNvSpPr>
            <a:spLocks noGrp="1"/>
          </p:cNvSpPr>
          <p:nvPr/>
        </p:nvSpPr>
        <p:spPr>
          <a:xfrm>
            <a:off x="5353050" y="4057650"/>
            <a:ext cx="1619250" cy="457200"/>
          </a:xfrm>
          <a:prstGeom prst="roundRect">
            <a:avLst>
              <a:gd name="adj" fmla="val 20833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67498F-AB9D-412B-8270-0BBD9CB98C9E}"/>
              </a:ext>
            </a:extLst>
          </p:cNvPr>
          <p:cNvSpPr>
            <a:spLocks noGrp="1"/>
          </p:cNvSpPr>
          <p:nvPr/>
        </p:nvSpPr>
        <p:spPr>
          <a:xfrm>
            <a:off x="5448300" y="4210050"/>
            <a:ext cx="14287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embedding_dispatch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CB0292-6F53-4890-884C-90C583C24205}"/>
              </a:ext>
            </a:extLst>
          </p:cNvPr>
          <p:cNvSpPr>
            <a:spLocks noGrp="1"/>
          </p:cNvSpPr>
          <p:nvPr/>
        </p:nvSpPr>
        <p:spPr>
          <a:xfrm>
            <a:off x="7086600" y="41719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DBE8DFD-B347-4278-A2BD-1B67447F781E}"/>
              </a:ext>
            </a:extLst>
          </p:cNvPr>
          <p:cNvSpPr>
            <a:spLocks noGrp="1"/>
          </p:cNvSpPr>
          <p:nvPr/>
        </p:nvSpPr>
        <p:spPr>
          <a:xfrm>
            <a:off x="7562850" y="4057650"/>
            <a:ext cx="1524000" cy="457200"/>
          </a:xfrm>
          <a:prstGeom prst="roundRect">
            <a:avLst>
              <a:gd name="adj" fmla="val 20833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C1D105-5921-48D1-9EA8-BB6DFDEAE221}"/>
              </a:ext>
            </a:extLst>
          </p:cNvPr>
          <p:cNvSpPr>
            <a:spLocks noGrp="1"/>
          </p:cNvSpPr>
          <p:nvPr/>
        </p:nvSpPr>
        <p:spPr>
          <a:xfrm>
            <a:off x="7658100" y="4210050"/>
            <a:ext cx="13335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graph_candidate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D9179E-0CE4-41AA-B64F-C436DF123735}"/>
              </a:ext>
            </a:extLst>
          </p:cNvPr>
          <p:cNvSpPr>
            <a:spLocks noGrp="1"/>
          </p:cNvSpPr>
          <p:nvPr/>
        </p:nvSpPr>
        <p:spPr>
          <a:xfrm>
            <a:off x="9201150" y="41719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43415EFB-63FB-4964-A153-EA98126E8778}"/>
              </a:ext>
            </a:extLst>
          </p:cNvPr>
          <p:cNvSpPr>
            <a:spLocks noGrp="1"/>
          </p:cNvSpPr>
          <p:nvPr/>
        </p:nvSpPr>
        <p:spPr>
          <a:xfrm>
            <a:off x="9696450" y="4057650"/>
            <a:ext cx="1238250" cy="457200"/>
          </a:xfrm>
          <a:prstGeom prst="roundRect">
            <a:avLst>
              <a:gd name="adj" fmla="val 20833"/>
            </a:avLst>
          </a:prstGeom>
          <a:solidFill>
            <a:srgbClr val="FFF1D6"/>
          </a:solidFill>
          <a:ln w="952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93A3821-3F0E-448F-9911-1890C5298BC8}"/>
              </a:ext>
            </a:extLst>
          </p:cNvPr>
          <p:cNvSpPr>
            <a:spLocks noGrp="1"/>
          </p:cNvSpPr>
          <p:nvPr/>
        </p:nvSpPr>
        <p:spPr>
          <a:xfrm>
            <a:off x="9791700" y="4210050"/>
            <a:ext cx="10477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38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pending_review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D7A62969-1129-4263-B92D-4FED249D25D3}"/>
              </a:ext>
            </a:extLst>
          </p:cNvPr>
          <p:cNvSpPr>
            <a:spLocks noGrp="1"/>
          </p:cNvSpPr>
          <p:nvPr/>
        </p:nvSpPr>
        <p:spPr>
          <a:xfrm>
            <a:off x="1962150" y="5391150"/>
            <a:ext cx="8286750" cy="514350"/>
          </a:xfrm>
          <a:prstGeom prst="roundRect">
            <a:avLst>
              <a:gd name="adj" fmla="val 25926"/>
            </a:avLst>
          </a:prstGeom>
          <a:solidFill>
            <a:srgbClr val="FFF9F3"/>
          </a:solidFill>
          <a:ln w="9525">
            <a:solidFill>
              <a:srgbClr val="E2C8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892FE8-94F9-4EA5-9A5D-B2D7BEF04E50}"/>
              </a:ext>
            </a:extLst>
          </p:cNvPr>
          <p:cNvSpPr>
            <a:spLocks noGrp="1"/>
          </p:cNvSpPr>
          <p:nvPr/>
        </p:nvSpPr>
        <p:spPr>
          <a:xfrm>
            <a:off x="2247900" y="5562600"/>
            <a:ext cx="77152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Shared state에는 `job_id`, `document_id`, `chunk_ids`만 싣고 raw document는 DB/query boundary에 둔다.</a:t>
            </a:r>
          </a:p>
        </p:txBody>
      </p:sp>
    </p:spTree>
    <p:extLst>
      <p:ext uri="{BB962C8B-B14F-4D97-AF65-F5344CB8AC3E}">
        <p14:creationId xmlns:p14="http://schemas.microsoft.com/office/powerpoint/2010/main" val="707476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10DD1969-312C-4EE2-9A9C-49F51C6512D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AGENT HARNESS AND TOOL SURFACE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DA0C20-CF8A-4658-AC39-C1544E87F6A5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Graph candidate agent의 권한을 context/read/search/write로 제어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23DC65-5A86-47E3-8CA4-8B9815E1789F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agent가 DB를 마음대로 수정하지 않고 검수 대상 RelationshipCandidate만 만들도록 tool surface를 좁혔다.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DFCFBF-F7E2-4ACE-BC87-18A9A164E4B5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6C422A-562C-4147-AAD7-90AA78C21E35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C39650C-9565-48AE-A869-C9BBA9AFFE25}"/>
              </a:ext>
            </a:extLst>
          </p:cNvPr>
          <p:cNvSpPr>
            <a:spLocks noGrp="1"/>
          </p:cNvSpPr>
          <p:nvPr/>
        </p:nvSpPr>
        <p:spPr>
          <a:xfrm>
            <a:off x="4495800" y="2762250"/>
            <a:ext cx="3143250" cy="1066800"/>
          </a:xfrm>
          <a:prstGeom prst="roundRect">
            <a:avLst>
              <a:gd name="adj" fmla="val 17857"/>
            </a:avLst>
          </a:prstGeom>
          <a:solidFill>
            <a:srgbClr val="17151D"/>
          </a:solidFill>
          <a:ln w="9525">
            <a:solidFill>
              <a:srgbClr val="17151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5D4109-E864-4742-9049-18662B25B18A}"/>
              </a:ext>
            </a:extLst>
          </p:cNvPr>
          <p:cNvSpPr>
            <a:spLocks noGrp="1"/>
          </p:cNvSpPr>
          <p:nvPr/>
        </p:nvSpPr>
        <p:spPr>
          <a:xfrm>
            <a:off x="4686300" y="3048000"/>
            <a:ext cx="28575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graph_candidate_agent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1F25CC-4262-4D3E-B2DB-BE2A0121F84A}"/>
              </a:ext>
            </a:extLst>
          </p:cNvPr>
          <p:cNvSpPr>
            <a:spLocks noGrp="1"/>
          </p:cNvSpPr>
          <p:nvPr/>
        </p:nvSpPr>
        <p:spPr>
          <a:xfrm>
            <a:off x="4953000" y="3390900"/>
            <a:ext cx="21907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00">
                <a:solidFill>
                  <a:srgbClr val="D8D4E0"/>
                </a:solidFill>
                <a:latin typeface="Arial"/>
                <a:ea typeface="Arial"/>
                <a:cs typeface="Arial"/>
              </a:defRPr>
            </a:pPr>
            <a:r>
              <a:t>given job_id · document_id · chunk_ids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6D8D098-C935-436D-8F96-AAFC89B9297A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2952750" cy="990600"/>
          </a:xfrm>
          <a:prstGeom prst="roundRect">
            <a:avLst>
              <a:gd name="adj" fmla="val 11538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855484-7664-4A03-AA0E-32AE4EEC3686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2647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Injected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77FF5B-45E3-4C62-A1E5-EAA8128231E3}"/>
              </a:ext>
            </a:extLst>
          </p:cNvPr>
          <p:cNvSpPr>
            <a:spLocks noGrp="1"/>
          </p:cNvSpPr>
          <p:nvPr/>
        </p:nvSpPr>
        <p:spPr>
          <a:xfrm>
            <a:off x="895350" y="2419350"/>
            <a:ext cx="2647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Memory document is injected automatically, not hidden behind optional tool usage.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D29D3E6-5AF2-49C9-8201-F3693CB88538}"/>
              </a:ext>
            </a:extLst>
          </p:cNvPr>
          <p:cNvSpPr>
            <a:spLocks noGrp="1"/>
          </p:cNvSpPr>
          <p:nvPr/>
        </p:nvSpPr>
        <p:spPr>
          <a:xfrm>
            <a:off x="742950" y="3886200"/>
            <a:ext cx="2952750" cy="990600"/>
          </a:xfrm>
          <a:prstGeom prst="roundRect">
            <a:avLst>
              <a:gd name="adj" fmla="val 11538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6371F5-4FAB-423D-813F-063A9DC59936}"/>
              </a:ext>
            </a:extLst>
          </p:cNvPr>
          <p:cNvSpPr>
            <a:spLocks noGrp="1"/>
          </p:cNvSpPr>
          <p:nvPr/>
        </p:nvSpPr>
        <p:spPr>
          <a:xfrm>
            <a:off x="895350" y="4019550"/>
            <a:ext cx="2647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Memgraph read tools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31141-57E3-43E6-85E0-CF0443164A06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2647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schema, text, vector, traverse, read query primitives.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776420D-E791-4558-AEC9-A45745441E94}"/>
              </a:ext>
            </a:extLst>
          </p:cNvPr>
          <p:cNvSpPr>
            <a:spLocks noGrp="1"/>
          </p:cNvSpPr>
          <p:nvPr/>
        </p:nvSpPr>
        <p:spPr>
          <a:xfrm>
            <a:off x="8496300" y="2000250"/>
            <a:ext cx="2952750" cy="990600"/>
          </a:xfrm>
          <a:prstGeom prst="roundRect">
            <a:avLst>
              <a:gd name="adj" fmla="val 11538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B48A720-819B-49A7-9713-37DFFEE40B4F}"/>
              </a:ext>
            </a:extLst>
          </p:cNvPr>
          <p:cNvSpPr>
            <a:spLocks noGrp="1"/>
          </p:cNvSpPr>
          <p:nvPr/>
        </p:nvSpPr>
        <p:spPr>
          <a:xfrm>
            <a:off x="8648700" y="2133600"/>
            <a:ext cx="2647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Firecrawl web search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1C27768-9400-447F-B965-CBB012ABD964}"/>
              </a:ext>
            </a:extLst>
          </p:cNvPr>
          <p:cNvSpPr>
            <a:spLocks noGrp="1"/>
          </p:cNvSpPr>
          <p:nvPr/>
        </p:nvSpPr>
        <p:spPr>
          <a:xfrm>
            <a:off x="8648700" y="2419350"/>
            <a:ext cx="2647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외부 근거가 필요할 때 보조 검색. graph evidence보다 우선하지 않음.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1B17B60-4511-40E8-BD56-C79A7072A1E5}"/>
              </a:ext>
            </a:extLst>
          </p:cNvPr>
          <p:cNvSpPr>
            <a:spLocks noGrp="1"/>
          </p:cNvSpPr>
          <p:nvPr/>
        </p:nvSpPr>
        <p:spPr>
          <a:xfrm>
            <a:off x="8496300" y="3886200"/>
            <a:ext cx="2952750" cy="990600"/>
          </a:xfrm>
          <a:prstGeom prst="roundRect">
            <a:avLst>
              <a:gd name="adj" fmla="val 11538"/>
            </a:avLst>
          </a:prstGeom>
          <a:solidFill>
            <a:srgbClr val="FFF1D6"/>
          </a:solidFill>
          <a:ln w="952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FF2AED-A13A-4B3D-81D3-47DBE68207A1}"/>
              </a:ext>
            </a:extLst>
          </p:cNvPr>
          <p:cNvSpPr>
            <a:spLocks noGrp="1"/>
          </p:cNvSpPr>
          <p:nvPr/>
        </p:nvSpPr>
        <p:spPr>
          <a:xfrm>
            <a:off x="8648700" y="4019550"/>
            <a:ext cx="2647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Candidate write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5A8ADA-0BD2-4006-9860-7954920FD38D}"/>
              </a:ext>
            </a:extLst>
          </p:cNvPr>
          <p:cNvSpPr>
            <a:spLocks noGrp="1"/>
          </p:cNvSpPr>
          <p:nvPr/>
        </p:nvSpPr>
        <p:spPr>
          <a:xfrm>
            <a:off x="8648700" y="4305300"/>
            <a:ext cx="26479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write_relationship_candidate_tool만 DB write surface로 제공.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8EDA92-4551-45B2-9657-3C35A574851F}"/>
              </a:ext>
            </a:extLst>
          </p:cNvPr>
          <p:cNvSpPr>
            <a:spLocks noGrp="1"/>
          </p:cNvSpPr>
          <p:nvPr/>
        </p:nvSpPr>
        <p:spPr>
          <a:xfrm>
            <a:off x="3848100" y="24003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98F13F-763C-46CC-BA01-A385120F0904}"/>
              </a:ext>
            </a:extLst>
          </p:cNvPr>
          <p:cNvSpPr>
            <a:spLocks noGrp="1"/>
          </p:cNvSpPr>
          <p:nvPr/>
        </p:nvSpPr>
        <p:spPr>
          <a:xfrm>
            <a:off x="3848100" y="43053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35E684-A7FA-478A-A62A-107E95805787}"/>
              </a:ext>
            </a:extLst>
          </p:cNvPr>
          <p:cNvSpPr>
            <a:spLocks noGrp="1"/>
          </p:cNvSpPr>
          <p:nvPr/>
        </p:nvSpPr>
        <p:spPr>
          <a:xfrm>
            <a:off x="7924800" y="24003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2563EB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26915D8-9F2A-45D4-BA06-E028F1809DA1}"/>
              </a:ext>
            </a:extLst>
          </p:cNvPr>
          <p:cNvSpPr>
            <a:spLocks noGrp="1"/>
          </p:cNvSpPr>
          <p:nvPr/>
        </p:nvSpPr>
        <p:spPr>
          <a:xfrm>
            <a:off x="7924800" y="43053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D618645-4397-4EF8-AB70-AF433A53CD8D}"/>
              </a:ext>
            </a:extLst>
          </p:cNvPr>
          <p:cNvSpPr>
            <a:spLocks noGrp="1"/>
          </p:cNvSpPr>
          <p:nvPr/>
        </p:nvSpPr>
        <p:spPr>
          <a:xfrm>
            <a:off x="2324100" y="5467350"/>
            <a:ext cx="7524750" cy="514350"/>
          </a:xfrm>
          <a:prstGeom prst="roundRect">
            <a:avLst>
              <a:gd name="adj" fmla="val 25926"/>
            </a:avLst>
          </a:prstGeom>
          <a:solidFill>
            <a:srgbClr val="FFF9F3"/>
          </a:solidFill>
          <a:ln w="9525">
            <a:solidFill>
              <a:srgbClr val="E2C8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6CC256-5675-44A3-B72B-5BB8219F7C8B}"/>
              </a:ext>
            </a:extLst>
          </p:cNvPr>
          <p:cNvSpPr>
            <a:spLocks noGrp="1"/>
          </p:cNvSpPr>
          <p:nvPr/>
        </p:nvSpPr>
        <p:spPr>
          <a:xfrm>
            <a:off x="2609850" y="5638800"/>
            <a:ext cx="69532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원본 document 전체를 LLM context에 싣지 않고 chunk/document id 기반 query로 필요한 부분만 읽게 한다.</a:t>
            </a:r>
          </a:p>
        </p:txBody>
      </p:sp>
    </p:spTree>
    <p:extLst>
      <p:ext uri="{BB962C8B-B14F-4D97-AF65-F5344CB8AC3E}">
        <p14:creationId xmlns:p14="http://schemas.microsoft.com/office/powerpoint/2010/main" val="1544881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D87FE77-DDA5-4932-80DA-6DB02D77446C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REVIEW QUEUE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C0459F-4C16-4C46-9403-8D624219CB20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Candidate first, edge later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CC1F72-0726-400F-AEDB-C7AEB61F6909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LLM이 만든 관계는 바로 graph edge가 아니라 사람이 승인하는 RelationshipCandidate가 된다.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D35324-436E-44D8-B1EB-6194C95682B7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801E91-CD30-47E2-BDCB-EEB20D4D4143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F7FD4B9-AEB1-497F-BD26-C33DD95A755E}"/>
              </a:ext>
            </a:extLst>
          </p:cNvPr>
          <p:cNvSpPr>
            <a:spLocks noGrp="1"/>
          </p:cNvSpPr>
          <p:nvPr/>
        </p:nvSpPr>
        <p:spPr>
          <a:xfrm>
            <a:off x="742950" y="2876550"/>
            <a:ext cx="1524000" cy="781050"/>
          </a:xfrm>
          <a:prstGeom prst="roundRect">
            <a:avLst>
              <a:gd name="adj" fmla="val 14634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868AB2-223A-4796-8C5A-636E88562240}"/>
              </a:ext>
            </a:extLst>
          </p:cNvPr>
          <p:cNvSpPr>
            <a:spLocks noGrp="1"/>
          </p:cNvSpPr>
          <p:nvPr/>
        </p:nvSpPr>
        <p:spPr>
          <a:xfrm>
            <a:off x="895350" y="3009900"/>
            <a:ext cx="1219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LLM Agent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923FDD-9827-4E3C-AF55-DA6946DDBBDE}"/>
              </a:ext>
            </a:extLst>
          </p:cNvPr>
          <p:cNvSpPr>
            <a:spLocks noGrp="1"/>
          </p:cNvSpPr>
          <p:nvPr/>
        </p:nvSpPr>
        <p:spPr>
          <a:xfrm>
            <a:off x="895350" y="3295650"/>
            <a:ext cx="1219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관계 후보 제안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890125-98E9-4E13-98B7-0FB28B2256BB}"/>
              </a:ext>
            </a:extLst>
          </p:cNvPr>
          <p:cNvSpPr>
            <a:spLocks noGrp="1"/>
          </p:cNvSpPr>
          <p:nvPr/>
        </p:nvSpPr>
        <p:spPr>
          <a:xfrm>
            <a:off x="2438400" y="3105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EB14A52-3965-4B31-85F6-76B5AF65E282}"/>
              </a:ext>
            </a:extLst>
          </p:cNvPr>
          <p:cNvSpPr>
            <a:spLocks noGrp="1"/>
          </p:cNvSpPr>
          <p:nvPr/>
        </p:nvSpPr>
        <p:spPr>
          <a:xfrm>
            <a:off x="3009900" y="2667000"/>
            <a:ext cx="2190750" cy="1200150"/>
          </a:xfrm>
          <a:prstGeom prst="roundRect">
            <a:avLst>
              <a:gd name="adj" fmla="val 9524"/>
            </a:avLst>
          </a:prstGeom>
          <a:solidFill>
            <a:srgbClr val="FFF1D6"/>
          </a:solidFill>
          <a:ln w="952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E28245-ED00-414A-BDD1-24702E13FD4A}"/>
              </a:ext>
            </a:extLst>
          </p:cNvPr>
          <p:cNvSpPr>
            <a:spLocks noGrp="1"/>
          </p:cNvSpPr>
          <p:nvPr/>
        </p:nvSpPr>
        <p:spPr>
          <a:xfrm>
            <a:off x="3162300" y="2800350"/>
            <a:ext cx="1885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RelationshipCandidate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27EE89-F057-4A81-8FA3-7642A48E04AB}"/>
              </a:ext>
            </a:extLst>
          </p:cNvPr>
          <p:cNvSpPr>
            <a:spLocks noGrp="1"/>
          </p:cNvSpPr>
          <p:nvPr/>
        </p:nvSpPr>
        <p:spPr>
          <a:xfrm>
            <a:off x="3162300" y="3086100"/>
            <a:ext cx="1885950" cy="704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pending_review</a:t>
            </a:r>
          </a:p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source/target/rationale/evidence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E9C4FB-C8B1-4F1E-9D0F-4A5AC6A61D8B}"/>
              </a:ext>
            </a:extLst>
          </p:cNvPr>
          <p:cNvSpPr>
            <a:spLocks noGrp="1"/>
          </p:cNvSpPr>
          <p:nvPr/>
        </p:nvSpPr>
        <p:spPr>
          <a:xfrm>
            <a:off x="5391150" y="3105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C77700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866876F-82EB-4F9F-9F74-CAC1AA603D55}"/>
              </a:ext>
            </a:extLst>
          </p:cNvPr>
          <p:cNvSpPr>
            <a:spLocks noGrp="1"/>
          </p:cNvSpPr>
          <p:nvPr/>
        </p:nvSpPr>
        <p:spPr>
          <a:xfrm>
            <a:off x="5962650" y="2095500"/>
            <a:ext cx="2476500" cy="2343150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9525">
            <a:solidFill>
              <a:srgbClr val="DEC8B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0E4577-17E2-432C-BDBF-D0791BA10984}"/>
              </a:ext>
            </a:extLst>
          </p:cNvPr>
          <p:cNvSpPr>
            <a:spLocks noGrp="1"/>
          </p:cNvSpPr>
          <p:nvPr/>
        </p:nvSpPr>
        <p:spPr>
          <a:xfrm>
            <a:off x="6286500" y="2400300"/>
            <a:ext cx="180975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Human Review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79E772-8ABC-4785-AF28-571E4CC85963}"/>
              </a:ext>
            </a:extLst>
          </p:cNvPr>
          <p:cNvSpPr>
            <a:spLocks noGrp="1"/>
          </p:cNvSpPr>
          <p:nvPr/>
        </p:nvSpPr>
        <p:spPr>
          <a:xfrm>
            <a:off x="6286500" y="2895600"/>
            <a:ext cx="1771650" cy="666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125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source chunk, target chunk, AI rationale, evidence, confidence를 보고 approve/deny를 staging한다.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74625CF-CF14-4487-BA54-1F010CC9BA42}"/>
              </a:ext>
            </a:extLst>
          </p:cNvPr>
          <p:cNvSpPr>
            <a:spLocks noGrp="1"/>
          </p:cNvSpPr>
          <p:nvPr/>
        </p:nvSpPr>
        <p:spPr>
          <a:xfrm>
            <a:off x="6286500" y="377190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90AFB8-A6D9-4A4F-A439-BC55A3C6BF4E}"/>
              </a:ext>
            </a:extLst>
          </p:cNvPr>
          <p:cNvSpPr>
            <a:spLocks noGrp="1"/>
          </p:cNvSpPr>
          <p:nvPr/>
        </p:nvSpPr>
        <p:spPr>
          <a:xfrm>
            <a:off x="6400800" y="3848100"/>
            <a:ext cx="7239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0F9F6E"/>
                </a:solidFill>
                <a:latin typeface="Arial"/>
                <a:ea typeface="Arial"/>
                <a:cs typeface="Arial"/>
              </a:defRPr>
            </a:pPr>
            <a:r>
              <a:t>Approve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2BE2BEE-67C3-441B-A8D2-8F5E2AB086FB}"/>
              </a:ext>
            </a:extLst>
          </p:cNvPr>
          <p:cNvSpPr>
            <a:spLocks noGrp="1"/>
          </p:cNvSpPr>
          <p:nvPr/>
        </p:nvSpPr>
        <p:spPr>
          <a:xfrm>
            <a:off x="7372350" y="3771900"/>
            <a:ext cx="762000" cy="285750"/>
          </a:xfrm>
          <a:prstGeom prst="roundRect">
            <a:avLst>
              <a:gd name="adj" fmla="val 50000"/>
            </a:avLst>
          </a:prstGeom>
          <a:solidFill>
            <a:srgbClr val="FFE7EF"/>
          </a:solidFill>
          <a:ln w="9525">
            <a:solidFill>
              <a:srgbClr val="BE345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E78449-E190-4D55-8238-7673CB1129C7}"/>
              </a:ext>
            </a:extLst>
          </p:cNvPr>
          <p:cNvSpPr>
            <a:spLocks noGrp="1"/>
          </p:cNvSpPr>
          <p:nvPr/>
        </p:nvSpPr>
        <p:spPr>
          <a:xfrm>
            <a:off x="7486650" y="3848100"/>
            <a:ext cx="533400" cy="1524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788" b="1">
                <a:solidFill>
                  <a:srgbClr val="BE3455"/>
                </a:solidFill>
                <a:latin typeface="Arial"/>
                <a:ea typeface="Arial"/>
                <a:cs typeface="Arial"/>
              </a:defRPr>
            </a:pPr>
            <a:r>
              <a:t>Deny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1E214F-1CFA-4E1E-BAC3-930B9A4A6BCA}"/>
              </a:ext>
            </a:extLst>
          </p:cNvPr>
          <p:cNvSpPr>
            <a:spLocks noGrp="1"/>
          </p:cNvSpPr>
          <p:nvPr/>
        </p:nvSpPr>
        <p:spPr>
          <a:xfrm>
            <a:off x="8648700" y="31051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AC4B676-4161-4B10-9A40-1A3D3AFB1613}"/>
              </a:ext>
            </a:extLst>
          </p:cNvPr>
          <p:cNvSpPr>
            <a:spLocks noGrp="1"/>
          </p:cNvSpPr>
          <p:nvPr/>
        </p:nvSpPr>
        <p:spPr>
          <a:xfrm>
            <a:off x="9201150" y="2552700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A585BDB-9A71-4AD5-9664-97108DEDA226}"/>
              </a:ext>
            </a:extLst>
          </p:cNvPr>
          <p:cNvSpPr>
            <a:spLocks noGrp="1"/>
          </p:cNvSpPr>
          <p:nvPr/>
        </p:nvSpPr>
        <p:spPr>
          <a:xfrm>
            <a:off x="9353550" y="2686050"/>
            <a:ext cx="1695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Atomic Commit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E72092-E40F-4FDE-B6A1-13E05FCE63A8}"/>
              </a:ext>
            </a:extLst>
          </p:cNvPr>
          <p:cNvSpPr>
            <a:spLocks noGrp="1"/>
          </p:cNvSpPr>
          <p:nvPr/>
        </p:nvSpPr>
        <p:spPr>
          <a:xfrm>
            <a:off x="9353550" y="2971800"/>
            <a:ext cx="16954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approve된 후보만 실제 edge로 materialize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FA20D3CE-BD7D-4159-9633-95A137233E39}"/>
              </a:ext>
            </a:extLst>
          </p:cNvPr>
          <p:cNvSpPr>
            <a:spLocks noGrp="1"/>
          </p:cNvSpPr>
          <p:nvPr/>
        </p:nvSpPr>
        <p:spPr>
          <a:xfrm>
            <a:off x="9201150" y="3714750"/>
            <a:ext cx="2000250" cy="876300"/>
          </a:xfrm>
          <a:prstGeom prst="roundRect">
            <a:avLst>
              <a:gd name="adj" fmla="val 13043"/>
            </a:avLst>
          </a:prstGeom>
          <a:solidFill>
            <a:srgbClr val="FFE7EF"/>
          </a:solidFill>
          <a:ln w="9525">
            <a:solidFill>
              <a:srgbClr val="BE3455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F7E5480-E0FB-43B6-82E7-BF7694677514}"/>
              </a:ext>
            </a:extLst>
          </p:cNvPr>
          <p:cNvSpPr>
            <a:spLocks noGrp="1"/>
          </p:cNvSpPr>
          <p:nvPr/>
        </p:nvSpPr>
        <p:spPr>
          <a:xfrm>
            <a:off x="9353550" y="3848100"/>
            <a:ext cx="1695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Rejected Artifact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682B16-1C89-4C3C-9EBA-2C4C9B035DC5}"/>
              </a:ext>
            </a:extLst>
          </p:cNvPr>
          <p:cNvSpPr>
            <a:spLocks noGrp="1"/>
          </p:cNvSpPr>
          <p:nvPr/>
        </p:nvSpPr>
        <p:spPr>
          <a:xfrm>
            <a:off x="9353550" y="4133850"/>
            <a:ext cx="1695450" cy="3810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deny된 후보도 판단 이력으로 보존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151C61F3-93B6-4A02-9E65-0C236A7AD6E1}"/>
              </a:ext>
            </a:extLst>
          </p:cNvPr>
          <p:cNvSpPr>
            <a:spLocks noGrp="1"/>
          </p:cNvSpPr>
          <p:nvPr/>
        </p:nvSpPr>
        <p:spPr>
          <a:xfrm>
            <a:off x="1809750" y="5562600"/>
            <a:ext cx="8572500" cy="400050"/>
          </a:xfrm>
          <a:prstGeom prst="roundRect">
            <a:avLst>
              <a:gd name="adj" fmla="val 33333"/>
            </a:avLst>
          </a:prstGeom>
          <a:solidFill>
            <a:srgbClr val="FFF9F3"/>
          </a:solidFill>
          <a:ln w="9525">
            <a:solidFill>
              <a:srgbClr val="E2C8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2FCDC96-5F37-4EB5-9811-D844347E71E9}"/>
              </a:ext>
            </a:extLst>
          </p:cNvPr>
          <p:cNvSpPr>
            <a:spLocks noGrp="1"/>
          </p:cNvSpPr>
          <p:nvPr/>
        </p:nvSpPr>
        <p:spPr>
          <a:xfrm>
            <a:off x="2095500" y="5676900"/>
            <a:ext cx="8001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2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검수 가능한 자동화: LLM output은 제안이고 DB graph truth는 review 이후에만 바뀐다.</a:t>
            </a:r>
          </a:p>
        </p:txBody>
      </p:sp>
    </p:spTree>
    <p:extLst>
      <p:ext uri="{BB962C8B-B14F-4D97-AF65-F5344CB8AC3E}">
        <p14:creationId xmlns:p14="http://schemas.microsoft.com/office/powerpoint/2010/main" val="1572321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8C792F0C-D12A-4A7D-9FB5-5DDE4DC439EE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MEMORY FEEDBACK AND OBSERVABILITY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0475CF-70C9-4020-AB2C-DC6B290A61D9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Reviewer note는 다음 agent 판단 기준이 되고, agent event는 Redis Stream으로 보인다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A0DA9B-680B-47B0-80DA-854FD43265F9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운영하면서 개선 가능하게 만드는 memory layer와 debugging visibility를 한 장에 묶었다.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C26C8-937D-4B38-8B12-9C14CFAF7F7F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21266-DE17-4B07-B0C8-77C459779A47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4BEFDA-C089-4CB0-B6DF-10F3A89B3F99}"/>
              </a:ext>
            </a:extLst>
          </p:cNvPr>
          <p:cNvSpPr>
            <a:spLocks noGrp="1"/>
          </p:cNvSpPr>
          <p:nvPr/>
        </p:nvSpPr>
        <p:spPr>
          <a:xfrm>
            <a:off x="685800" y="2266950"/>
            <a:ext cx="2000250" cy="781050"/>
          </a:xfrm>
          <a:prstGeom prst="roundRect">
            <a:avLst>
              <a:gd name="adj" fmla="val 14634"/>
            </a:avLst>
          </a:prstGeom>
          <a:solidFill>
            <a:srgbClr val="FFF1D6"/>
          </a:solidFill>
          <a:ln w="9525">
            <a:solidFill>
              <a:srgbClr val="C7770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55566C-60F9-484B-95DF-584823D0706A}"/>
              </a:ext>
            </a:extLst>
          </p:cNvPr>
          <p:cNvSpPr>
            <a:spLocks noGrp="1"/>
          </p:cNvSpPr>
          <p:nvPr/>
        </p:nvSpPr>
        <p:spPr>
          <a:xfrm>
            <a:off x="838200" y="2400300"/>
            <a:ext cx="1695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RelationshipCandidate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FDF77E-E288-4F73-B475-6BA7F4295DE8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16954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approve/deny 대상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4D4C6F-0E48-4AEF-9D20-0E79644C6ECE}"/>
              </a:ext>
            </a:extLst>
          </p:cNvPr>
          <p:cNvSpPr>
            <a:spLocks noGrp="1"/>
          </p:cNvSpPr>
          <p:nvPr/>
        </p:nvSpPr>
        <p:spPr>
          <a:xfrm>
            <a:off x="2857500" y="24765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6D2ECE6-5499-4EA4-974F-19B5E9516F5B}"/>
              </a:ext>
            </a:extLst>
          </p:cNvPr>
          <p:cNvSpPr>
            <a:spLocks noGrp="1"/>
          </p:cNvSpPr>
          <p:nvPr/>
        </p:nvSpPr>
        <p:spPr>
          <a:xfrm>
            <a:off x="3390900" y="2266950"/>
            <a:ext cx="1809750" cy="781050"/>
          </a:xfrm>
          <a:prstGeom prst="roundRect">
            <a:avLst>
              <a:gd name="adj" fmla="val 14634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909E1-EEA9-4CE5-83A4-89412884AF21}"/>
              </a:ext>
            </a:extLst>
          </p:cNvPr>
          <p:cNvSpPr>
            <a:spLocks noGrp="1"/>
          </p:cNvSpPr>
          <p:nvPr/>
        </p:nvSpPr>
        <p:spPr>
          <a:xfrm>
            <a:off x="3543300" y="2400300"/>
            <a:ext cx="1504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ReviewNote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C14AF1-0998-4810-987A-3C28EFA94FD2}"/>
              </a:ext>
            </a:extLst>
          </p:cNvPr>
          <p:cNvSpPr>
            <a:spLocks noGrp="1"/>
          </p:cNvSpPr>
          <p:nvPr/>
        </p:nvSpPr>
        <p:spPr>
          <a:xfrm>
            <a:off x="3543300" y="2686050"/>
            <a:ext cx="1504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사용자 판단 이유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FBCD7E-0646-451E-8E1B-F2DD6BA9CA4A}"/>
              </a:ext>
            </a:extLst>
          </p:cNvPr>
          <p:cNvSpPr>
            <a:spLocks noGrp="1"/>
          </p:cNvSpPr>
          <p:nvPr/>
        </p:nvSpPr>
        <p:spPr>
          <a:xfrm>
            <a:off x="5372100" y="24765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1B55555-EBAE-45D5-A106-579CE2A88610}"/>
              </a:ext>
            </a:extLst>
          </p:cNvPr>
          <p:cNvSpPr>
            <a:spLocks noGrp="1"/>
          </p:cNvSpPr>
          <p:nvPr/>
        </p:nvSpPr>
        <p:spPr>
          <a:xfrm>
            <a:off x="5924550" y="2266950"/>
            <a:ext cx="2286000" cy="781050"/>
          </a:xfrm>
          <a:prstGeom prst="roundRect">
            <a:avLst>
              <a:gd name="adj" fmla="val 14634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117CA01-55A4-40D6-B309-19FD4FAC594D}"/>
              </a:ext>
            </a:extLst>
          </p:cNvPr>
          <p:cNvSpPr>
            <a:spLocks noGrp="1"/>
          </p:cNvSpPr>
          <p:nvPr/>
        </p:nvSpPr>
        <p:spPr>
          <a:xfrm>
            <a:off x="6076950" y="2400300"/>
            <a:ext cx="19812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memory_update_agent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CE7BFD-903A-46DD-BE68-4A34593D93EC}"/>
              </a:ext>
            </a:extLst>
          </p:cNvPr>
          <p:cNvSpPr>
            <a:spLocks noGrp="1"/>
          </p:cNvSpPr>
          <p:nvPr/>
        </p:nvSpPr>
        <p:spPr>
          <a:xfrm>
            <a:off x="6076950" y="2686050"/>
            <a:ext cx="19812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job note와 candidate context를 보고 Memory 재작성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A2E545-834B-49DB-9F51-9526C6F8FDDC}"/>
              </a:ext>
            </a:extLst>
          </p:cNvPr>
          <p:cNvSpPr>
            <a:spLocks noGrp="1"/>
          </p:cNvSpPr>
          <p:nvPr/>
        </p:nvSpPr>
        <p:spPr>
          <a:xfrm>
            <a:off x="8382000" y="24765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6315EA5-7713-4F78-B653-4BE6FEE119AD}"/>
              </a:ext>
            </a:extLst>
          </p:cNvPr>
          <p:cNvSpPr>
            <a:spLocks noGrp="1"/>
          </p:cNvSpPr>
          <p:nvPr/>
        </p:nvSpPr>
        <p:spPr>
          <a:xfrm>
            <a:off x="8915400" y="2266950"/>
            <a:ext cx="2190750" cy="781050"/>
          </a:xfrm>
          <a:prstGeom prst="roundRect">
            <a:avLst>
              <a:gd name="adj" fmla="val 14634"/>
            </a:avLst>
          </a:prstGeom>
          <a:solidFill>
            <a:srgbClr val="DDF6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2BED8B-9CFA-4A34-8F65-F6D2CAF49971}"/>
              </a:ext>
            </a:extLst>
          </p:cNvPr>
          <p:cNvSpPr>
            <a:spLocks noGrp="1"/>
          </p:cNvSpPr>
          <p:nvPr/>
        </p:nvSpPr>
        <p:spPr>
          <a:xfrm>
            <a:off x="9067800" y="2400300"/>
            <a:ext cx="1885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Memory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F53A26-DE9B-4F5D-9CAC-C4E0B04B2AF4}"/>
              </a:ext>
            </a:extLst>
          </p:cNvPr>
          <p:cNvSpPr>
            <a:spLocks noGrp="1"/>
          </p:cNvSpPr>
          <p:nvPr/>
        </p:nvSpPr>
        <p:spPr>
          <a:xfrm>
            <a:off x="9067800" y="2686050"/>
            <a:ext cx="18859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다음 candidate agent context에 자동 주입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1EE29C-86AF-42D9-8E11-EAE1EB6F9A1C}"/>
              </a:ext>
            </a:extLst>
          </p:cNvPr>
          <p:cNvSpPr>
            <a:spLocks noGrp="1"/>
          </p:cNvSpPr>
          <p:nvPr/>
        </p:nvSpPr>
        <p:spPr>
          <a:xfrm>
            <a:off x="1752600" y="3562350"/>
            <a:ext cx="8705850" cy="28575"/>
          </a:xfrm>
          <a:prstGeom prst="rect">
            <a:avLst/>
          </a:prstGeom>
          <a:solidFill>
            <a:srgbClr val="0F766E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D27AF5-FE05-4282-9C84-A88F7F8B460C}"/>
              </a:ext>
            </a:extLst>
          </p:cNvPr>
          <p:cNvSpPr>
            <a:spLocks noGrp="1"/>
          </p:cNvSpPr>
          <p:nvPr/>
        </p:nvSpPr>
        <p:spPr>
          <a:xfrm>
            <a:off x="3390900" y="3733800"/>
            <a:ext cx="53340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1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t>모델 파라미터 학습이 아니라 system memory document 업데이트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4E493B1-F2ED-4C05-B9EB-E9830774A42E}"/>
              </a:ext>
            </a:extLst>
          </p:cNvPr>
          <p:cNvSpPr>
            <a:spLocks noGrp="1"/>
          </p:cNvSpPr>
          <p:nvPr/>
        </p:nvSpPr>
        <p:spPr>
          <a:xfrm>
            <a:off x="1047750" y="4743450"/>
            <a:ext cx="1714500" cy="704850"/>
          </a:xfrm>
          <a:prstGeom prst="roundRect">
            <a:avLst>
              <a:gd name="adj" fmla="val 16216"/>
            </a:avLst>
          </a:prstGeom>
          <a:solidFill>
            <a:srgbClr val="F7ECE4"/>
          </a:solidFill>
          <a:ln w="9525">
            <a:solidFill>
              <a:srgbClr val="6C2E12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D361CFB-471F-46FA-96C7-667CFA35F132}"/>
              </a:ext>
            </a:extLst>
          </p:cNvPr>
          <p:cNvSpPr>
            <a:spLocks noGrp="1"/>
          </p:cNvSpPr>
          <p:nvPr/>
        </p:nvSpPr>
        <p:spPr>
          <a:xfrm>
            <a:off x="1200150" y="4876800"/>
            <a:ext cx="1409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Worker runner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4421710-BF61-476D-A9EE-B825ED1C33A1}"/>
              </a:ext>
            </a:extLst>
          </p:cNvPr>
          <p:cNvSpPr>
            <a:spLocks noGrp="1"/>
          </p:cNvSpPr>
          <p:nvPr/>
        </p:nvSpPr>
        <p:spPr>
          <a:xfrm>
            <a:off x="1200150" y="5162550"/>
            <a:ext cx="140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task lifecycle event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C4C33C7-57C8-4A7B-823E-EF2D3DA33E61}"/>
              </a:ext>
            </a:extLst>
          </p:cNvPr>
          <p:cNvSpPr>
            <a:spLocks noGrp="1"/>
          </p:cNvSpPr>
          <p:nvPr/>
        </p:nvSpPr>
        <p:spPr>
          <a:xfrm>
            <a:off x="1047750" y="5657850"/>
            <a:ext cx="1714500" cy="514350"/>
          </a:xfrm>
          <a:prstGeom prst="roundRect">
            <a:avLst>
              <a:gd name="adj" fmla="val 22222"/>
            </a:avLst>
          </a:prstGeom>
          <a:solidFill>
            <a:srgbClr val="EEEAFE"/>
          </a:solidFill>
          <a:ln w="9525">
            <a:solidFill>
              <a:srgbClr val="6655E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A60469-A231-428D-A525-893FE831936A}"/>
              </a:ext>
            </a:extLst>
          </p:cNvPr>
          <p:cNvSpPr>
            <a:spLocks noGrp="1"/>
          </p:cNvSpPr>
          <p:nvPr/>
        </p:nvSpPr>
        <p:spPr>
          <a:xfrm>
            <a:off x="1200150" y="5791200"/>
            <a:ext cx="140970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Agent runtime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6762BB5-ADB1-493D-B09C-9B3B2FB26F73}"/>
              </a:ext>
            </a:extLst>
          </p:cNvPr>
          <p:cNvSpPr>
            <a:spLocks noGrp="1"/>
          </p:cNvSpPr>
          <p:nvPr/>
        </p:nvSpPr>
        <p:spPr>
          <a:xfrm>
            <a:off x="1200150" y="6076950"/>
            <a:ext cx="1409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model token · tool call · transcript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D0451B-B1FD-439E-AF7E-C76198273FB3}"/>
              </a:ext>
            </a:extLst>
          </p:cNvPr>
          <p:cNvSpPr>
            <a:spLocks noGrp="1"/>
          </p:cNvSpPr>
          <p:nvPr/>
        </p:nvSpPr>
        <p:spPr>
          <a:xfrm>
            <a:off x="3009900" y="504825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082426C3-FC9C-4A8C-8E3E-ACB5D14E27D6}"/>
              </a:ext>
            </a:extLst>
          </p:cNvPr>
          <p:cNvSpPr>
            <a:spLocks noGrp="1"/>
          </p:cNvSpPr>
          <p:nvPr/>
        </p:nvSpPr>
        <p:spPr>
          <a:xfrm>
            <a:off x="3581400" y="4800600"/>
            <a:ext cx="2000250" cy="990600"/>
          </a:xfrm>
          <a:prstGeom prst="roundRect">
            <a:avLst>
              <a:gd name="adj" fmla="val 17308"/>
            </a:avLst>
          </a:prstGeom>
          <a:solidFill>
            <a:srgbClr val="17151D"/>
          </a:solidFill>
          <a:ln w="9525">
            <a:solidFill>
              <a:srgbClr val="17151D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1ED1BA-A40E-41D7-A2E2-13D3134A1A06}"/>
              </a:ext>
            </a:extLst>
          </p:cNvPr>
          <p:cNvSpPr>
            <a:spLocks noGrp="1"/>
          </p:cNvSpPr>
          <p:nvPr/>
        </p:nvSpPr>
        <p:spPr>
          <a:xfrm>
            <a:off x="3943350" y="5086350"/>
            <a:ext cx="13335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Redis Streams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C887B98-33DB-40B7-96EC-8ACA5CC13752}"/>
              </a:ext>
            </a:extLst>
          </p:cNvPr>
          <p:cNvSpPr>
            <a:spLocks noGrp="1"/>
          </p:cNvSpPr>
          <p:nvPr/>
        </p:nvSpPr>
        <p:spPr>
          <a:xfrm>
            <a:off x="3905250" y="5410200"/>
            <a:ext cx="1381125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825">
                <a:solidFill>
                  <a:srgbClr val="D7D2DE"/>
                </a:solidFill>
                <a:latin typeface="Arial"/>
                <a:ea typeface="Arial"/>
                <a:cs typeface="Arial"/>
              </a:defRPr>
            </a:pPr>
            <a:r>
              <a:t>recent observability events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DF89EF8-1186-452E-B168-A6762478534F}"/>
              </a:ext>
            </a:extLst>
          </p:cNvPr>
          <p:cNvSpPr>
            <a:spLocks noGrp="1"/>
          </p:cNvSpPr>
          <p:nvPr/>
        </p:nvSpPr>
        <p:spPr>
          <a:xfrm>
            <a:off x="5772150" y="50673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379CF16-028A-4A3E-8E4D-3692AFC499BB}"/>
              </a:ext>
            </a:extLst>
          </p:cNvPr>
          <p:cNvSpPr>
            <a:spLocks noGrp="1"/>
          </p:cNvSpPr>
          <p:nvPr/>
        </p:nvSpPr>
        <p:spPr>
          <a:xfrm>
            <a:off x="6343650" y="4914900"/>
            <a:ext cx="1809750" cy="723900"/>
          </a:xfrm>
          <a:prstGeom prst="roundRect">
            <a:avLst>
              <a:gd name="adj" fmla="val 15789"/>
            </a:avLst>
          </a:prstGeom>
          <a:solidFill>
            <a:srgbClr val="E8F0FF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584C1F-010C-4BF4-A231-B77E547F3036}"/>
              </a:ext>
            </a:extLst>
          </p:cNvPr>
          <p:cNvSpPr>
            <a:spLocks noGrp="1"/>
          </p:cNvSpPr>
          <p:nvPr/>
        </p:nvSpPr>
        <p:spPr>
          <a:xfrm>
            <a:off x="6496050" y="5048250"/>
            <a:ext cx="15049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SSE / Polling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D482D6-9EB2-4FA7-8845-17E049585560}"/>
              </a:ext>
            </a:extLst>
          </p:cNvPr>
          <p:cNvSpPr>
            <a:spLocks noGrp="1"/>
          </p:cNvSpPr>
          <p:nvPr/>
        </p:nvSpPr>
        <p:spPr>
          <a:xfrm>
            <a:off x="6496050" y="5334000"/>
            <a:ext cx="15049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event stream + status refresh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C599A4-9661-492E-8E8F-02E50F7DFFAE}"/>
              </a:ext>
            </a:extLst>
          </p:cNvPr>
          <p:cNvSpPr>
            <a:spLocks noGrp="1"/>
          </p:cNvSpPr>
          <p:nvPr/>
        </p:nvSpPr>
        <p:spPr>
          <a:xfrm>
            <a:off x="8343900" y="5067300"/>
            <a:ext cx="304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718A0AE5-1817-445C-95FC-0B8E6EA4D071}"/>
              </a:ext>
            </a:extLst>
          </p:cNvPr>
          <p:cNvSpPr>
            <a:spLocks noGrp="1"/>
          </p:cNvSpPr>
          <p:nvPr/>
        </p:nvSpPr>
        <p:spPr>
          <a:xfrm>
            <a:off x="8915400" y="4914900"/>
            <a:ext cx="2000250" cy="723900"/>
          </a:xfrm>
          <a:prstGeom prst="roundRect">
            <a:avLst>
              <a:gd name="adj" fmla="val 15789"/>
            </a:avLst>
          </a:prstGeom>
          <a:solidFill>
            <a:srgbClr val="E4F8EF"/>
          </a:solidFill>
          <a:ln w="9525">
            <a:solidFill>
              <a:srgbClr val="0F9F6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03065AC-C829-456C-B761-F14BE20F3042}"/>
              </a:ext>
            </a:extLst>
          </p:cNvPr>
          <p:cNvSpPr>
            <a:spLocks noGrp="1"/>
          </p:cNvSpPr>
          <p:nvPr/>
        </p:nvSpPr>
        <p:spPr>
          <a:xfrm>
            <a:off x="9067800" y="5048250"/>
            <a:ext cx="16954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Diagnostics Studio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547FDB8-3BAA-43B8-A1CF-0781720A53FA}"/>
              </a:ext>
            </a:extLst>
          </p:cNvPr>
          <p:cNvSpPr>
            <a:spLocks noGrp="1"/>
          </p:cNvSpPr>
          <p:nvPr/>
        </p:nvSpPr>
        <p:spPr>
          <a:xfrm>
            <a:off x="9067800" y="5334000"/>
            <a:ext cx="16954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agent event terminal</a:t>
            </a:r>
          </a:p>
        </p:txBody>
      </p:sp>
    </p:spTree>
    <p:extLst>
      <p:ext uri="{BB962C8B-B14F-4D97-AF65-F5344CB8AC3E}">
        <p14:creationId xmlns:p14="http://schemas.microsoft.com/office/powerpoint/2010/main" val="771548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68C5C192-DCEF-4B32-9B82-F293B6CF6CD3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7239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5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VALIDATION PLAN AND CLOSING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C21B63-F850-416D-98EF-DF1D6EE3F593}"/>
              </a:ext>
            </a:extLst>
          </p:cNvPr>
          <p:cNvSpPr>
            <a:spLocks noGrp="1"/>
          </p:cNvSpPr>
          <p:nvPr/>
        </p:nvSpPr>
        <p:spPr>
          <a:xfrm>
            <a:off x="533400" y="514350"/>
            <a:ext cx="9620250" cy="628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360개 테스트 셋과 no-tool benchmark는 확보, tool-attached 검증은 다음 단계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731203-9FF1-4C95-8D22-F161593AF025}"/>
              </a:ext>
            </a:extLst>
          </p:cNvPr>
          <p:cNvSpPr>
            <a:spLocks noGrp="1"/>
          </p:cNvSpPr>
          <p:nvPr/>
        </p:nvSpPr>
        <p:spPr>
          <a:xfrm>
            <a:off x="552450" y="1143000"/>
            <a:ext cx="8858250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3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시스템 프롬프트와 edge case 질문을 hallucination/source grounding 검증 근거로 연결한다.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B3371-1F6F-49C0-A58A-C0D93441C9F6}"/>
              </a:ext>
            </a:extLst>
          </p:cNvPr>
          <p:cNvSpPr>
            <a:spLocks noGrp="1"/>
          </p:cNvSpPr>
          <p:nvPr/>
        </p:nvSpPr>
        <p:spPr>
          <a:xfrm>
            <a:off x="11296650" y="457200"/>
            <a:ext cx="361950" cy="17145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60A232-AED0-4093-A2C6-611570FC6192}"/>
              </a:ext>
            </a:extLst>
          </p:cNvPr>
          <p:cNvSpPr>
            <a:spLocks noGrp="1"/>
          </p:cNvSpPr>
          <p:nvPr/>
        </p:nvSpPr>
        <p:spPr>
          <a:xfrm>
            <a:off x="533400" y="1447800"/>
            <a:ext cx="11125200" cy="9525"/>
          </a:xfrm>
          <a:prstGeom prst="rect">
            <a:avLst/>
          </a:prstGeom>
          <a:solidFill>
            <a:srgbClr val="E5DCD5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56BDFD3-834B-47F3-AFD8-535EF4759B8A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4953000" cy="352425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600AC-4948-4538-9E48-43466ED43F53}"/>
              </a:ext>
            </a:extLst>
          </p:cNvPr>
          <p:cNvSpPr>
            <a:spLocks noGrp="1"/>
          </p:cNvSpPr>
          <p:nvPr/>
        </p:nvSpPr>
        <p:spPr>
          <a:xfrm>
            <a:off x="971550" y="2038350"/>
            <a:ext cx="30480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Representative edge cases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F558A3-14EC-4BB1-A06D-D94A648DB31E}"/>
              </a:ext>
            </a:extLst>
          </p:cNvPr>
          <p:cNvSpPr>
            <a:spLocks noGrp="1"/>
          </p:cNvSpPr>
          <p:nvPr/>
        </p:nvSpPr>
        <p:spPr>
          <a:xfrm>
            <a:off x="990600" y="2514600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RAG-Q-008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0A4F1C-C418-47C0-A13E-C1F5B3E1E39B}"/>
              </a:ext>
            </a:extLst>
          </p:cNvPr>
          <p:cNvSpPr>
            <a:spLocks noGrp="1"/>
          </p:cNvSpPr>
          <p:nvPr/>
        </p:nvSpPr>
        <p:spPr>
          <a:xfrm>
            <a:off x="1943100" y="2514600"/>
            <a:ext cx="95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과도한 일반화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3167D-B22A-4D28-8D3C-8A50736A4CCD}"/>
              </a:ext>
            </a:extLst>
          </p:cNvPr>
          <p:cNvSpPr>
            <a:spLocks noGrp="1"/>
          </p:cNvSpPr>
          <p:nvPr/>
        </p:nvSpPr>
        <p:spPr>
          <a:xfrm>
            <a:off x="3028950" y="2514600"/>
            <a:ext cx="2095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기초연금 무조건 지급 단정 방지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E578E9-0C09-4C4D-A879-CB3526C76E16}"/>
              </a:ext>
            </a:extLst>
          </p:cNvPr>
          <p:cNvSpPr>
            <a:spLocks noGrp="1"/>
          </p:cNvSpPr>
          <p:nvPr/>
        </p:nvSpPr>
        <p:spPr>
          <a:xfrm>
            <a:off x="971550" y="2819400"/>
            <a:ext cx="4095750" cy="9525"/>
          </a:xfrm>
          <a:prstGeom prst="rect">
            <a:avLst/>
          </a:prstGeom>
          <a:solidFill>
            <a:srgbClr val="EEE7E1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E13A81-84E3-4340-83C2-6F97BE7D90F8}"/>
              </a:ext>
            </a:extLst>
          </p:cNvPr>
          <p:cNvSpPr>
            <a:spLocks noGrp="1"/>
          </p:cNvSpPr>
          <p:nvPr/>
        </p:nvSpPr>
        <p:spPr>
          <a:xfrm>
            <a:off x="990600" y="3009900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RAG-Q-009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6CA88D-6721-4B70-8C5D-CBBE21ADDA30}"/>
              </a:ext>
            </a:extLst>
          </p:cNvPr>
          <p:cNvSpPr>
            <a:spLocks noGrp="1"/>
          </p:cNvSpPr>
          <p:nvPr/>
        </p:nvSpPr>
        <p:spPr>
          <a:xfrm>
            <a:off x="1943100" y="3009900"/>
            <a:ext cx="95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법률 단정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A273DF-2D4F-43B3-8F56-B44EB3FE8054}"/>
              </a:ext>
            </a:extLst>
          </p:cNvPr>
          <p:cNvSpPr>
            <a:spLocks noGrp="1"/>
          </p:cNvSpPr>
          <p:nvPr/>
        </p:nvSpPr>
        <p:spPr>
          <a:xfrm>
            <a:off x="3028950" y="3009900"/>
            <a:ext cx="2095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나이 제한 전부 불법 단정 방지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FFE39C-25CE-4CE4-B872-4EF58E7EDFE2}"/>
              </a:ext>
            </a:extLst>
          </p:cNvPr>
          <p:cNvSpPr>
            <a:spLocks noGrp="1"/>
          </p:cNvSpPr>
          <p:nvPr/>
        </p:nvSpPr>
        <p:spPr>
          <a:xfrm>
            <a:off x="971550" y="3314700"/>
            <a:ext cx="4095750" cy="9525"/>
          </a:xfrm>
          <a:prstGeom prst="rect">
            <a:avLst/>
          </a:prstGeom>
          <a:solidFill>
            <a:srgbClr val="EEE7E1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0C0EBD-314E-4F3C-AA48-539760A01E95}"/>
              </a:ext>
            </a:extLst>
          </p:cNvPr>
          <p:cNvSpPr>
            <a:spLocks noGrp="1"/>
          </p:cNvSpPr>
          <p:nvPr/>
        </p:nvSpPr>
        <p:spPr>
          <a:xfrm>
            <a:off x="990600" y="3505200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RAG-Q-012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2C86FD-F22C-47E8-A712-454F2A02FEDA}"/>
              </a:ext>
            </a:extLst>
          </p:cNvPr>
          <p:cNvSpPr>
            <a:spLocks noGrp="1"/>
          </p:cNvSpPr>
          <p:nvPr/>
        </p:nvSpPr>
        <p:spPr>
          <a:xfrm>
            <a:off x="1943100" y="3505200"/>
            <a:ext cx="95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문서 범위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199AF3-8297-441E-BC58-C2D8D43BC6AF}"/>
              </a:ext>
            </a:extLst>
          </p:cNvPr>
          <p:cNvSpPr>
            <a:spLocks noGrp="1"/>
          </p:cNvSpPr>
          <p:nvPr/>
        </p:nvSpPr>
        <p:spPr>
          <a:xfrm>
            <a:off x="3028950" y="3505200"/>
            <a:ext cx="2095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법령과 시설 데이터 혼동 방지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10C853-3641-45FA-8BFB-9556D738C443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4095750" cy="9525"/>
          </a:xfrm>
          <a:prstGeom prst="rect">
            <a:avLst/>
          </a:prstGeom>
          <a:solidFill>
            <a:srgbClr val="EEE7E1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4E4C4C2-53A4-4A77-A7FC-7A8362F2E293}"/>
              </a:ext>
            </a:extLst>
          </p:cNvPr>
          <p:cNvSpPr>
            <a:spLocks noGrp="1"/>
          </p:cNvSpPr>
          <p:nvPr/>
        </p:nvSpPr>
        <p:spPr>
          <a:xfrm>
            <a:off x="990600" y="4000500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RAG-Q-334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E8733A-7A99-4C8F-8EED-1677D2D501FF}"/>
              </a:ext>
            </a:extLst>
          </p:cNvPr>
          <p:cNvSpPr>
            <a:spLocks noGrp="1"/>
          </p:cNvSpPr>
          <p:nvPr/>
        </p:nvSpPr>
        <p:spPr>
          <a:xfrm>
            <a:off x="1943100" y="4000500"/>
            <a:ext cx="95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가짜 연락처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7F49E3D-E6A1-48D8-BAB8-58DE150D8554}"/>
              </a:ext>
            </a:extLst>
          </p:cNvPr>
          <p:cNvSpPr>
            <a:spLocks noGrp="1"/>
          </p:cNvSpPr>
          <p:nvPr/>
        </p:nvSpPr>
        <p:spPr>
          <a:xfrm>
            <a:off x="3028950" y="4000500"/>
            <a:ext cx="2095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없는 전화번호 생성 금지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E30A42-F015-44D2-939F-E9404B1177B1}"/>
              </a:ext>
            </a:extLst>
          </p:cNvPr>
          <p:cNvSpPr>
            <a:spLocks noGrp="1"/>
          </p:cNvSpPr>
          <p:nvPr/>
        </p:nvSpPr>
        <p:spPr>
          <a:xfrm>
            <a:off x="971550" y="4305300"/>
            <a:ext cx="4095750" cy="9525"/>
          </a:xfrm>
          <a:prstGeom prst="rect">
            <a:avLst/>
          </a:prstGeom>
          <a:solidFill>
            <a:srgbClr val="EEE7E1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F7C837-424A-49E6-9887-8EE13309A8D2}"/>
              </a:ext>
            </a:extLst>
          </p:cNvPr>
          <p:cNvSpPr>
            <a:spLocks noGrp="1"/>
          </p:cNvSpPr>
          <p:nvPr/>
        </p:nvSpPr>
        <p:spPr>
          <a:xfrm>
            <a:off x="990600" y="4495800"/>
            <a:ext cx="8763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655E8"/>
                </a:solidFill>
                <a:latin typeface="Arial"/>
                <a:ea typeface="Arial"/>
                <a:cs typeface="Arial"/>
              </a:defRPr>
            </a:pPr>
            <a:r>
              <a:t>RAG-Q-351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ACAC15-DA18-4FCC-8072-C78EF2189840}"/>
              </a:ext>
            </a:extLst>
          </p:cNvPr>
          <p:cNvSpPr>
            <a:spLocks noGrp="1"/>
          </p:cNvSpPr>
          <p:nvPr/>
        </p:nvSpPr>
        <p:spPr>
          <a:xfrm>
            <a:off x="1943100" y="4495800"/>
            <a:ext cx="95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통계 추론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D4D7EF9-B8D0-4114-90FB-C0D8D6DEB3A7}"/>
              </a:ext>
            </a:extLst>
          </p:cNvPr>
          <p:cNvSpPr>
            <a:spLocks noGrp="1"/>
          </p:cNvSpPr>
          <p:nvPr/>
        </p:nvSpPr>
        <p:spPr>
          <a:xfrm>
            <a:off x="3028950" y="4495800"/>
            <a:ext cx="20955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집계 감소를 폐쇄로 단정 금지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EE9071-C5EA-4A5B-AEAE-298269ACCFB4}"/>
              </a:ext>
            </a:extLst>
          </p:cNvPr>
          <p:cNvSpPr>
            <a:spLocks noGrp="1"/>
          </p:cNvSpPr>
          <p:nvPr/>
        </p:nvSpPr>
        <p:spPr>
          <a:xfrm>
            <a:off x="971550" y="4800600"/>
            <a:ext cx="4095750" cy="9525"/>
          </a:xfrm>
          <a:prstGeom prst="rect">
            <a:avLst/>
          </a:prstGeom>
          <a:solidFill>
            <a:srgbClr val="EEE7E1"/>
          </a:solidFill>
          <a:ln>
            <a:noFill/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3BC6BF4F-2DB3-433F-B735-18376A4E6EBA}"/>
              </a:ext>
            </a:extLst>
          </p:cNvPr>
          <p:cNvSpPr>
            <a:spLocks noGrp="1"/>
          </p:cNvSpPr>
          <p:nvPr/>
        </p:nvSpPr>
        <p:spPr>
          <a:xfrm>
            <a:off x="6191250" y="1752600"/>
            <a:ext cx="4953000" cy="304800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9525">
            <a:solidFill>
              <a:srgbClr val="E2D8D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E14B62-C133-404A-9CEE-18DF0FE8E982}"/>
              </a:ext>
            </a:extLst>
          </p:cNvPr>
          <p:cNvSpPr>
            <a:spLocks noGrp="1"/>
          </p:cNvSpPr>
          <p:nvPr/>
        </p:nvSpPr>
        <p:spPr>
          <a:xfrm>
            <a:off x="6477000" y="2019300"/>
            <a:ext cx="2286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151126"/>
                </a:solidFill>
                <a:latin typeface="Arial"/>
                <a:ea typeface="Arial"/>
                <a:cs typeface="Arial"/>
              </a:defRPr>
            </a:pPr>
            <a:r>
              <a:t>Actual benchmark chart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2DBC70F-B31C-48FA-AB94-9ED79584F2ED}"/>
              </a:ext>
            </a:extLst>
          </p:cNvPr>
          <p:cNvSpPr>
            <a:spLocks noGrp="1"/>
          </p:cNvSpPr>
          <p:nvPr/>
        </p:nvSpPr>
        <p:spPr>
          <a:xfrm>
            <a:off x="8896350" y="2038350"/>
            <a:ext cx="1809750" cy="1524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788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source: cost_vs_latency_scatter.png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E50ACAB-863E-43DF-8EF0-A29845D62951}"/>
              </a:ext>
            </a:extLst>
          </p:cNvPr>
          <p:cNvSpPr>
            <a:spLocks noGrp="1"/>
          </p:cNvSpPr>
          <p:nvPr/>
        </p:nvSpPr>
        <p:spPr>
          <a:xfrm>
            <a:off x="6438900" y="2324100"/>
            <a:ext cx="4457700" cy="2209800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9525">
            <a:solidFill>
              <a:srgbClr val="EFE7E1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BCD7A1-2CF2-44D7-AA1F-7D43E58BAB5D}"/>
              </a:ext>
            </a:extLst>
          </p:cNvPr>
          <p:cNvSpPr>
            <a:spLocks noGrp="1"/>
          </p:cNvSpPr>
          <p:nvPr/>
        </p:nvSpPr>
        <p:spPr>
          <a:xfrm>
            <a:off x="8001000" y="3333750"/>
            <a:ext cx="1333500" cy="1714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97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image loading...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E5A9F8D-F2B4-4D84-B45F-FA2969E062AE}"/>
              </a:ext>
            </a:extLst>
          </p:cNvPr>
          <p:cNvSpPr>
            <a:spLocks noGrp="1"/>
          </p:cNvSpPr>
          <p:nvPr/>
        </p:nvSpPr>
        <p:spPr>
          <a:xfrm>
            <a:off x="6191250" y="5010150"/>
            <a:ext cx="4953000" cy="628650"/>
          </a:xfrm>
          <a:prstGeom prst="roundRect">
            <a:avLst>
              <a:gd name="adj" fmla="val 24242"/>
            </a:avLst>
          </a:prstGeom>
          <a:solidFill>
            <a:srgbClr val="FFF9F3"/>
          </a:solidFill>
          <a:ln w="9525">
            <a:solidFill>
              <a:srgbClr val="E2C8B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B16E9B-B3CB-469F-9BD5-31FDDE7B3A68}"/>
              </a:ext>
            </a:extLst>
          </p:cNvPr>
          <p:cNvSpPr>
            <a:spLocks noGrp="1"/>
          </p:cNvSpPr>
          <p:nvPr/>
        </p:nvSpPr>
        <p:spPr>
          <a:xfrm>
            <a:off x="6477000" y="5200650"/>
            <a:ext cx="952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 b="1">
                <a:solidFill>
                  <a:srgbClr val="6C2E12"/>
                </a:solidFill>
                <a:latin typeface="Arial"/>
                <a:ea typeface="Arial"/>
                <a:cs typeface="Arial"/>
              </a:defRPr>
            </a:pPr>
            <a:r>
              <a:t>남은 검증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F55F9E-56AE-4136-A9D7-433C5D3F4611}"/>
              </a:ext>
            </a:extLst>
          </p:cNvPr>
          <p:cNvSpPr>
            <a:spLocks noGrp="1"/>
          </p:cNvSpPr>
          <p:nvPr/>
        </p:nvSpPr>
        <p:spPr>
          <a:xfrm>
            <a:off x="7429500" y="5143500"/>
            <a:ext cx="333375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7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MCP tool을 붙인 동일 360개 질문 재실행 → retrieval quality, citation grounding, tool error/latency/cost 비교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08A3C5C-D3FF-4718-8654-738DD00AE79E}"/>
              </a:ext>
            </a:extLst>
          </p:cNvPr>
          <p:cNvSpPr>
            <a:spLocks noGrp="1"/>
          </p:cNvSpPr>
          <p:nvPr/>
        </p:nvSpPr>
        <p:spPr>
          <a:xfrm>
            <a:off x="819150" y="5962650"/>
            <a:ext cx="93345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825">
                <a:solidFill>
                  <a:srgbClr val="6F6878"/>
                </a:solidFill>
                <a:latin typeface="Arial"/>
                <a:ea typeface="Arial"/>
                <a:cs typeface="Arial"/>
              </a:defRPr>
            </a:pPr>
            <a:r>
              <a:t>근거: backend system prompt, rag_agent_question_test_cases_360.md, no_tool_provider_summary.csv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89750" y="2362200"/>
            <a:ext cx="35560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3265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1511</Words>
  <Application>Microsoft Macintosh PowerPoint</Application>
  <DocSecurity>0</DocSecurity>
  <PresentationFormat>Widescreen</PresentationFormat>
  <Paragraphs>315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lee wonbeen</cp:lastModifiedBy>
  <cp:revision>1</cp:revision>
  <dcterms:created xsi:type="dcterms:W3CDTF">2026-06-04T00:44:33Z</dcterms:created>
  <dcterms:modified xsi:type="dcterms:W3CDTF">2026-06-04T01:04:28Z</dcterms:modified>
</cp:coreProperties>
</file>