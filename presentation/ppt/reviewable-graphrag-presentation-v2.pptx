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02e62bdaad4b89" /><Relationship Type="http://schemas.openxmlformats.org/officeDocument/2006/relationships/extended-properties" Target="/docProps/app.xml" Id="Rd08c2c08d5464c76" /><Relationship Type="http://schemas.openxmlformats.org/officeDocument/2006/relationships/officeDocument" Target="/ppt/presentation.xml" Id="R86633ff12a9642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3f49f445d94f56"/>
  </p:sldMasterIdLst>
  <p:notesMasterIdLst>
    <p:notesMasterId xmlns:r="http://schemas.openxmlformats.org/officeDocument/2006/relationships" r:id="R2399e7ee8275434c"/>
  </p:notesMasterIdLst>
  <p:sldIdLst>
    <p:sldId xmlns:r="http://schemas.openxmlformats.org/officeDocument/2006/relationships" id="256" r:id="Rf8957e5b1a174308"/>
    <p:sldId xmlns:r="http://schemas.openxmlformats.org/officeDocument/2006/relationships" id="257" r:id="Rcf0553f08a6b4665"/>
    <p:sldId xmlns:r="http://schemas.openxmlformats.org/officeDocument/2006/relationships" id="258" r:id="R22f78f8a81084450"/>
    <p:sldId xmlns:r="http://schemas.openxmlformats.org/officeDocument/2006/relationships" id="259" r:id="R8d380603311844d4"/>
    <p:sldId xmlns:r="http://schemas.openxmlformats.org/officeDocument/2006/relationships" id="260" r:id="R0a8e505480c84991"/>
    <p:sldId xmlns:r="http://schemas.openxmlformats.org/officeDocument/2006/relationships" id="261" r:id="Rca7fcab84c894fe9"/>
    <p:sldId xmlns:r="http://schemas.openxmlformats.org/officeDocument/2006/relationships" id="262" r:id="R9321cbac5b5a431f"/>
    <p:sldId xmlns:r="http://schemas.openxmlformats.org/officeDocument/2006/relationships" id="263" r:id="R935c6634112d47a7"/>
    <p:sldId xmlns:r="http://schemas.openxmlformats.org/officeDocument/2006/relationships" id="264" r:id="R673a152149e040b3"/>
    <p:sldId xmlns:r="http://schemas.openxmlformats.org/officeDocument/2006/relationships" id="265" r:id="R7d31208b90214f01"/>
    <p:sldId xmlns:r="http://schemas.openxmlformats.org/officeDocument/2006/relationships" id="266" r:id="R277c6a75722f4ee1"/>
    <p:sldId xmlns:r="http://schemas.openxmlformats.org/officeDocument/2006/relationships" id="267" r:id="R23b5b99dd7934a6d"/>
    <p:sldId xmlns:r="http://schemas.openxmlformats.org/officeDocument/2006/relationships" id="268" r:id="R465ed0a83d1c4834"/>
    <p:sldId xmlns:r="http://schemas.openxmlformats.org/officeDocument/2006/relationships" id="269" r:id="R2b010d2bceb8416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826a83d4534423" /><Relationship Type="http://schemas.openxmlformats.org/officeDocument/2006/relationships/slideMaster" Target="/ppt/slideMasters/slideMaster1.xml" Id="Rea3f49f445d94f56" /><Relationship Type="http://schemas.openxmlformats.org/officeDocument/2006/relationships/notesMaster" Target="/ppt/notesMasters/notesMaster1.xml" Id="R2399e7ee8275434c" /><Relationship Type="http://schemas.openxmlformats.org/officeDocument/2006/relationships/presProps" Target="/ppt/presProps.xml" Id="Rd6811d4f69d64b1f" /><Relationship Type="http://schemas.openxmlformats.org/officeDocument/2006/relationships/viewProps" Target="/ppt/viewProps.xml" Id="R3708898cf1314446" /><Relationship Type="http://schemas.openxmlformats.org/officeDocument/2006/relationships/tableStyles" Target="/ppt/tableStyles.xml" Id="R499483c926a74544" /><Relationship Type="http://schemas.openxmlformats.org/officeDocument/2006/relationships/slide" Target="/ppt/slides/slide1.xml" Id="Rf8957e5b1a174308" /><Relationship Type="http://schemas.openxmlformats.org/officeDocument/2006/relationships/slide" Target="/ppt/slides/slide2.xml" Id="Rcf0553f08a6b4665" /><Relationship Type="http://schemas.openxmlformats.org/officeDocument/2006/relationships/slide" Target="/ppt/slides/slide3.xml" Id="R22f78f8a81084450" /><Relationship Type="http://schemas.openxmlformats.org/officeDocument/2006/relationships/slide" Target="/ppt/slides/slide4.xml" Id="R8d380603311844d4" /><Relationship Type="http://schemas.openxmlformats.org/officeDocument/2006/relationships/slide" Target="/ppt/slides/slide5.xml" Id="R0a8e505480c84991" /><Relationship Type="http://schemas.openxmlformats.org/officeDocument/2006/relationships/slide" Target="/ppt/slides/slide6.xml" Id="Rca7fcab84c894fe9" /><Relationship Type="http://schemas.openxmlformats.org/officeDocument/2006/relationships/slide" Target="/ppt/slides/slide7.xml" Id="R9321cbac5b5a431f" /><Relationship Type="http://schemas.openxmlformats.org/officeDocument/2006/relationships/slide" Target="/ppt/slides/slide8.xml" Id="R935c6634112d47a7" /><Relationship Type="http://schemas.openxmlformats.org/officeDocument/2006/relationships/slide" Target="/ppt/slides/slide9.xml" Id="R673a152149e040b3" /><Relationship Type="http://schemas.openxmlformats.org/officeDocument/2006/relationships/slide" Target="/ppt/slides/slide10.xml" Id="R7d31208b90214f01" /><Relationship Type="http://schemas.openxmlformats.org/officeDocument/2006/relationships/slide" Target="/ppt/slides/slide11.xml" Id="R277c6a75722f4ee1" /><Relationship Type="http://schemas.openxmlformats.org/officeDocument/2006/relationships/slide" Target="/ppt/slides/slide12.xml" Id="R23b5b99dd7934a6d" /><Relationship Type="http://schemas.openxmlformats.org/officeDocument/2006/relationships/slide" Target="/ppt/slides/slide13.xml" Id="R465ed0a83d1c4834" /><Relationship Type="http://schemas.openxmlformats.org/officeDocument/2006/relationships/slide" Target="/ppt/slides/slide14.xml" Id="R2b010d2bceb841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4bacb7c88943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6469ebb06f4080" /><Relationship Type="http://schemas.openxmlformats.org/officeDocument/2006/relationships/notesMaster" Target="/ppt/notesMasters/notesMaster1.xml" Id="R7e24cf7be90f40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a789ddc47048b0" /><Relationship Type="http://schemas.openxmlformats.org/officeDocument/2006/relationships/notesMaster" Target="/ppt/notesMasters/notesMaster1.xml" Id="R33fd4f3ce3424d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b85538778a49fe" /><Relationship Type="http://schemas.openxmlformats.org/officeDocument/2006/relationships/notesMaster" Target="/ppt/notesMasters/notesMaster1.xml" Id="R20cda621d79d44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e61e7e03394f61" /><Relationship Type="http://schemas.openxmlformats.org/officeDocument/2006/relationships/notesMaster" Target="/ppt/notesMasters/notesMaster1.xml" Id="R8fe10d5fe5b840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61f6d63dcd41cb" /><Relationship Type="http://schemas.openxmlformats.org/officeDocument/2006/relationships/notesMaster" Target="/ppt/notesMasters/notesMaster1.xml" Id="Rbb9dc44de43d43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7c640278cf43fa" /><Relationship Type="http://schemas.openxmlformats.org/officeDocument/2006/relationships/notesMaster" Target="/ppt/notesMasters/notesMaster1.xml" Id="Rdd1cd3a009a746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a331ef457349fa" /><Relationship Type="http://schemas.openxmlformats.org/officeDocument/2006/relationships/notesMaster" Target="/ppt/notesMasters/notesMaster1.xml" Id="Ree2dd06caf4d48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217488fa8644d3" /><Relationship Type="http://schemas.openxmlformats.org/officeDocument/2006/relationships/notesMaster" Target="/ppt/notesMasters/notesMaster1.xml" Id="Re4b17d9a6dd447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4e9629807b4426" /><Relationship Type="http://schemas.openxmlformats.org/officeDocument/2006/relationships/notesMaster" Target="/ppt/notesMasters/notesMaster1.xml" Id="R95cbefe7e7d042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618f79439c4c06" /><Relationship Type="http://schemas.openxmlformats.org/officeDocument/2006/relationships/notesMaster" Target="/ppt/notesMasters/notesMaster1.xml" Id="R758e339333924a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4f32801e094d14" /><Relationship Type="http://schemas.openxmlformats.org/officeDocument/2006/relationships/notesMaster" Target="/ppt/notesMasters/notesMaster1.xml" Id="R579e6f99f7ef4f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04ee5031a147fa" /><Relationship Type="http://schemas.openxmlformats.org/officeDocument/2006/relationships/notesMaster" Target="/ppt/notesMasters/notesMaster1.xml" Id="R30e78af4921b40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ebff7fe96149c7" /><Relationship Type="http://schemas.openxmlformats.org/officeDocument/2006/relationships/notesMaster" Target="/ppt/notesMasters/notesMaster1.xml" Id="Rdc50dda712a740b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c2c65fa5dae43fd" /><Relationship Type="http://schemas.openxmlformats.org/officeDocument/2006/relationships/notesMaster" Target="/ppt/notesMasters/notesMaster1.xml" Id="R83c7d5f0766241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77f8c0cc624c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631447bd8d4e8b" /><Relationship Type="http://schemas.openxmlformats.org/officeDocument/2006/relationships/slideLayout" Target="/ppt/slideLayouts/slideLayout1.xml" Id="R0c3336da33be47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3336da33be47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8d9f66f55483a" /><Relationship Type="http://schemas.openxmlformats.org/officeDocument/2006/relationships/notesSlide" Target="/ppt/notesSlides/notesSlide1.xml" Id="R8c76f0ed79c143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9fb6eb2e24b53" /><Relationship Type="http://schemas.openxmlformats.org/officeDocument/2006/relationships/notesSlide" Target="/ppt/notesSlides/notesSlide2.xml" Id="Re1f4310076e746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cb732b18344ef" /><Relationship Type="http://schemas.openxmlformats.org/officeDocument/2006/relationships/notesSlide" Target="/ppt/notesSlides/notesSlide3.xml" Id="Ra4995fa31b7643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d77ed679e4a1f" /><Relationship Type="http://schemas.openxmlformats.org/officeDocument/2006/relationships/notesSlide" Target="/ppt/notesSlides/notesSlide4.xml" Id="R88d809edb40843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b7206f2c54172" /><Relationship Type="http://schemas.openxmlformats.org/officeDocument/2006/relationships/notesSlide" Target="/ppt/notesSlides/notesSlide5.xml" Id="R2969107b17d046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bc0d2ad634622" /><Relationship Type="http://schemas.openxmlformats.org/officeDocument/2006/relationships/notesSlide" Target="/ppt/notesSlides/notesSlide6.xml" Id="Rfe0ae696d01b41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37778b6a34c51" /><Relationship Type="http://schemas.openxmlformats.org/officeDocument/2006/relationships/notesSlide" Target="/ppt/notesSlides/notesSlide7.xml" Id="Rf1c95e1b762c41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bf79a65e8400b" /><Relationship Type="http://schemas.openxmlformats.org/officeDocument/2006/relationships/notesSlide" Target="/ppt/notesSlides/notesSlide8.xml" Id="R8bb724791b2e4a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f51fac5f64d19" /><Relationship Type="http://schemas.openxmlformats.org/officeDocument/2006/relationships/notesSlide" Target="/ppt/notesSlides/notesSlide9.xml" Id="R85920cfeab3d43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1c0b469474b8e" /><Relationship Type="http://schemas.openxmlformats.org/officeDocument/2006/relationships/notesSlide" Target="/ppt/notesSlides/notesSlide10.xml" Id="Rfc29e33568724a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b8b1c36464098" /><Relationship Type="http://schemas.openxmlformats.org/officeDocument/2006/relationships/notesSlide" Target="/ppt/notesSlides/notesSlide11.xml" Id="R428216fe6a044d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cb60545a14302" /><Relationship Type="http://schemas.openxmlformats.org/officeDocument/2006/relationships/notesSlide" Target="/ppt/notesSlides/notesSlide12.xml" Id="Ra63a51b09ccb4e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c3c2b53cf424d" /><Relationship Type="http://schemas.openxmlformats.org/officeDocument/2006/relationships/notesSlide" Target="/ppt/notesSlides/notesSlide13.xml" Id="Rbb6e780b259d4f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3c4bf40cc41b5" /><Relationship Type="http://schemas.openxmlformats.org/officeDocument/2006/relationships/notesSlide" Target="/ppt/notesSlides/notesSlide14.xml" Id="Rac625eac62274f2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24B6F0-0A44-4CC5-9C17-69131A68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51D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10D21-3018-4BF2-9B3D-3FB4CFCC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E8"/>
          </a:solidFill>
          <a:ln xmlns:a="http://schemas.openxmlformats.org/drawingml/2006/main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EE678-C2EE-4DA6-A7B4-E45BD91F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6096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검수 가능한 GraphRAG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FC36D-479A-4B9D-8D8E-864D077F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524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6D0DA"/>
                </a:solidFill>
                <a:latin typeface="Arial"/>
                <a:ea typeface="Arial"/>
                <a:cs typeface="Arial"/>
              </a:defRPr>
            </a:pPr>
            <a:r>
              <a:t>법령/조례 문서를 지식 그래프로 구축하고 MCP로 활용하는 RAG 시스템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3865E-8953-4729-B3EE-19C74628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533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2E28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63978-E203-44EE-B1F6-BAD82944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5105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9F6E"/>
                </a:solidFill>
                <a:latin typeface="Arial"/>
                <a:ea typeface="Arial"/>
                <a:cs typeface="Arial"/>
              </a:defRPr>
            </a:pPr>
            <a:r>
              <a:t>Document → Agentic Graph Build → Human Review → Memory → MCP Retrieval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64007-7BF2-47FB-A006-4619059A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9B6A8"/>
                </a:solidFill>
                <a:latin typeface="Arial"/>
                <a:ea typeface="Arial"/>
                <a:cs typeface="Arial"/>
              </a:defRPr>
            </a:pPr>
            <a:r>
              <a:t>한 줄 주장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5373B-FFED-47BD-A41A-1D387FE8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905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문서를 벡터 DB에 넣고 검색하는 데서 끝내지 않고, LLM이 만든 관계 후보를 사람이 검수한 뒤 실제 knowledge graph로 확정한다.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AD316-0985-471D-A6B3-32276D1C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914400"/>
            <a:ext cx="3143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6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B19B4-5782-4973-810E-BACBBB44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066800"/>
            <a:ext cx="2800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40.81%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4A1A2-0B91-4D87-B138-E2A6FF4C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390650"/>
            <a:ext cx="2800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TOON 전처리 전체 토큰 절감률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0F696-9A66-4A1C-AF64-4C511F20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66900"/>
            <a:ext cx="3143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6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8AAE3-FDEE-4A89-8A19-A19BE836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19300"/>
            <a:ext cx="2800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t>360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CA85DB-16C3-4988-8A15-768154C9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43150"/>
            <a:ext cx="2800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대표/엣지 질문 테스트 케이스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59837-C398-4F3B-93F9-5D108E80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19400"/>
            <a:ext cx="3143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6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D7445-08FE-44FF-A2B0-E0958598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971800"/>
            <a:ext cx="2800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t>12×360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8A415-41F0-4296-A227-FB1EEE95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295650"/>
            <a:ext cx="2800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no-tool provider raw result rows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DCE18-1C37-40D1-A5BC-73A18E8C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71900"/>
            <a:ext cx="31432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6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6FE782-1F86-4EF8-B3E9-1662D27D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924300"/>
            <a:ext cx="2800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read-only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9F252E-3CF5-4F7B-8131-4A2C6B26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248150"/>
            <a:ext cx="2800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외부 MCP graph query 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30971A-719F-49C1-883E-2A4969C0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76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D96A8"/>
                </a:solidFill>
                <a:latin typeface="Arial"/>
                <a:ea typeface="Arial"/>
                <a:cs typeface="Arial"/>
              </a:defRPr>
            </a:pPr>
            <a:r>
              <a:t>SKN28 3rd 1Team · GraphRAG Presentation</a:t>
            </a:r>
          </a:p>
        </p:txBody>
      </p:sp>
    </p:spTree>
    <p:extLst>
      <p:ext uri="{BB962C8B-B14F-4D97-AF65-F5344CB8AC3E}">
        <p14:creationId xmlns:p14="http://schemas.microsoft.com/office/powerpoint/2010/main" val="8896569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80D0C7-8B54-4C73-995F-08B7FEC5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PROBLEM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475BC-C4A1-47A0-9FA6-35CA16A8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334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Why vector-only RAG is not enough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51983-8D28-4DE3-A1E9-1B9B1850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법령/조례 도메인은 유사도보다 관계, 예외, 적용 범위, 근거 검수가 더 중요하다.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40173-BEDD-4E28-ABC4-06CAB217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34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24AE2-4305-491D-AA3E-1CAC6310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30D16B-F74B-4326-AC21-937A3083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762500" cy="3905250"/>
          </a:xfrm>
          <a:prstGeom xmlns:a="http://schemas.openxmlformats.org/drawingml/2006/main" prst="roundRect">
            <a:avLst>
              <a:gd name="adj" fmla="val 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7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27890-A6DF-42B1-86D8-EDF19DAB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일반 vector 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D2266-6982-4224-9665-4C2CAAE2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1428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7ECE4"/>
          </a:solidFill>
          <a:ln xmlns:a="http://schemas.openxmlformats.org/drawingml/2006/main" w="9525">
            <a:solidFill>
              <a:srgbClr val="6C2E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4444F-FEDD-45DC-AC94-B0CCD14B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112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Chunk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CC430-5332-46FC-B714-66B70984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05150"/>
            <a:ext cx="1123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문서를 조각으로 나눔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FAEFF-4C0C-4E28-A9E8-DE35609A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905125"/>
            <a:ext cx="32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1B1C6-AC15-414F-9CB0-4C5DF5B7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1619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7ECE4"/>
          </a:solidFill>
          <a:ln xmlns:a="http://schemas.openxmlformats.org/drawingml/2006/main" w="9525">
            <a:solidFill>
              <a:srgbClr val="6C2E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0E9E6-537A-4ACB-9F62-7BB11787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43200"/>
            <a:ext cx="131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Embedding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3E636-93D9-408F-A3E6-BB3D377D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05150"/>
            <a:ext cx="1314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벡터화 후 top-k 검색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CC0A8-7EA3-4827-B21A-891761FF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752850"/>
            <a:ext cx="32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32827-5DE0-43BD-B6FD-FFB1E492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95750"/>
            <a:ext cx="2000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E7EF"/>
          </a:solidFill>
          <a:ln xmlns:a="http://schemas.openxmlformats.org/drawingml/2006/main" w="9525">
            <a:solidFill>
              <a:srgbClr val="BE34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5F077A-69BE-4873-B554-6BBF2D5B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29100"/>
            <a:ext cx="1695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Answer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3ABB87-28C6-4354-9614-90CC5612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91050"/>
            <a:ext cx="1695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근거/범위 검수는 약함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9C91AB-2CE8-4FEF-B5CD-35412D2F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3714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리스크: 비슷한 문장은 찾지만 조항 간 관계와 예외의 타당성을 검수하기 어렵다.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EE25EF-2B1A-4DA0-9E97-05328DF5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762500" cy="3905250"/>
          </a:xfrm>
          <a:prstGeom xmlns:a="http://schemas.openxmlformats.org/drawingml/2006/main" prst="roundRect">
            <a:avLst>
              <a:gd name="adj" fmla="val 4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34AB9-2BEA-48F0-A68C-B1496B71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이번 GraphRAG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2D97A9-7853-40AE-AD52-D8F347B4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52700"/>
            <a:ext cx="1905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C524F0-1322-443B-813E-9E3E80B1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86050"/>
            <a:ext cx="1600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Chunk + Embedding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944AAC-E993-47CC-B7F4-5AFE1179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48000"/>
            <a:ext cx="1600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의미 단위 chunk와 vector 저장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934E50-BA16-4581-9A35-135D92C6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575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0AC019-00F7-408E-8958-FE08D54A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52700"/>
            <a:ext cx="1619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C5C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1A8E0E-1456-4E03-A653-3B0FA6B5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86050"/>
            <a:ext cx="131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Graph Traverse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51CF44-E64C-41F2-A94E-32F443FB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1314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문서/조항/후보 관계 탐색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418650-AB2D-4019-A865-474EE619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766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DEC90E-EC13-4461-BA86-F864EB95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57650"/>
            <a:ext cx="1714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777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157246-0A6F-42F5-A5B8-549CFD14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91000"/>
            <a:ext cx="1409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Candidate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64939B-2CE1-4424-9161-3E1438EC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52950"/>
            <a:ext cx="140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edge가 아닌 검수 artifact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A36E33-6768-4851-904E-C4581548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624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FC2BD0-5AFD-491E-B22F-5FC96756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57650"/>
            <a:ext cx="1714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4F8EF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F92C98-67E4-4AAB-8AD6-D79658D4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91000"/>
            <a:ext cx="1409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Human Review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1173D4-9E06-4368-AC12-729736C2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52950"/>
            <a:ext cx="140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승인된 후보만 edge 확정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5A5F25-9314-4207-B618-8671B3E8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124450"/>
            <a:ext cx="3714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핵심: LLM은 제안하고, 사용자가 검수하며, DB에는 검증된 관계만 반영한다.</a:t>
            </a:r>
          </a:p>
        </p:txBody>
      </p:sp>
    </p:spTree>
    <p:extLst>
      <p:ext uri="{BB962C8B-B14F-4D97-AF65-F5344CB8AC3E}">
        <p14:creationId xmlns:p14="http://schemas.microsoft.com/office/powerpoint/2010/main" val="15447566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0242A3-0B35-4930-9358-151ACE06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EVALUATION MAPPING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253FD-1549-4BB2-8AED-8C1227AE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334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평가 기준을 산출물에 직접 매핑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A9CCC-A436-449A-90C1-9F1751D4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데이터, 아키텍처, 구현, 테스트가 각각 어떤 repository artifact로 증명되는지 먼저 고정한다.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07BEE-A897-4784-AC73-4454063A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34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CDC96-ED92-41D7-B11A-2BC633AD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32343-A8E4-42C5-8523-C2E1DE65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0AF7C-D9D0-4C8E-9336-70A3A68A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28820F-E76F-42FB-A956-B1494EB0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71650"/>
            <a:ext cx="9429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A8D8C-5BA6-4C4B-9728-92D88846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431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데이터 수집/전처리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F8095-6C42-4709-9AE1-08CDF142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52625"/>
            <a:ext cx="561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law.go.kr 수집 코드, TOON 변환, 40.81% token reduction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9C328D-10EE-49CA-9C4A-DD8B606B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C7C33-8699-43B8-ABA7-E3431145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71800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877BA8-7AA0-4F21-B588-20289B67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47950"/>
            <a:ext cx="9429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7CB047-A0C1-401C-8DC6-C31F2DA3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194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시스템 아키텍처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02242-B969-4405-A27A-61C8DC32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28925"/>
            <a:ext cx="561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Memgraph, Redis, LangGraph worker, MCP 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42E62-1F84-4700-A029-CE58F967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2E12"/>
          </a:solidFill>
          <a:ln xmlns:a="http://schemas.openxmlformats.org/drawingml/2006/main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2F5F0A-F405-43EA-87CA-D96C1FF8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48100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C95BB7-0A28-4998-9E3B-5E64F595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24250"/>
            <a:ext cx="9429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21F41F-4BA4-41DF-805B-EDA13BAA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957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개발된 소프트웨어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C5BC11-6AB0-4DAE-A66C-C02F931A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05225"/>
            <a:ext cx="561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RAG FE/BE, Review Queue, Memory editor, task queue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E9F442-8F77-4CC7-9AF6-77F48F30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684342-8ABD-402B-8D60-3625800D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24400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FC64C5-0A6D-4FBC-9E8C-3FA5F053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9429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F35D90-8CF6-4CDC-9103-B0676798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7200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테스트 계획/결과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EB3ACF-53B0-4059-A193-9B2772BE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81525"/>
            <a:ext cx="561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360 QA set, no-tool raw benchmark, hallucination edge cases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018FE8-E08D-4ED6-9626-3A2A4E28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81650"/>
            <a:ext cx="942975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9F3"/>
          </a:solidFill>
          <a:ln xmlns:a="http://schemas.openxmlformats.org/drawingml/2006/main" w="9525">
            <a:solidFill>
              <a:srgbClr val="E2C8B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08602B-BAF4-4583-BEB5-1C8C6C87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53100"/>
            <a:ext cx="809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발표 순서도 이 matrix와 동일하게 흐른다: 데이터 → 아키텍처 → 구현된 workflow → 검증 evidence.</a:t>
            </a:r>
          </a:p>
        </p:txBody>
      </p:sp>
    </p:spTree>
    <p:extLst>
      <p:ext uri="{BB962C8B-B14F-4D97-AF65-F5344CB8AC3E}">
        <p14:creationId xmlns:p14="http://schemas.microsoft.com/office/powerpoint/2010/main" val="7813372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33B187-F320-42BE-948B-5185C2C9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DATA &amp; PREPROCESSING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6C923-BF21-42B8-9CCF-A7B08AD1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334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law.go.kr JSON을 TOON으로 바꿔 전체 토큰 40.81% 절감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C7609-E017-496B-9FD3-53967AD8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원본 API 구조를 보존하되 LLM 입력 비용을 줄이기 위해 JSON 문법 토큰을 제거했다.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63AFA-2958-4CFE-A139-A1397B61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34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D5F5B-78DC-408D-99C9-15E9F9C6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7C397-9CE5-4166-9F8F-894CE822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2286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943E4-B7B7-4693-BAA5-43F30AB6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1981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law.go.kr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4D2BE-0F61-4B87-A739-F96E1F01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1981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lawSearch.do / lawService.do / target=ordin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270BD-5F20-42F6-88CE-1C0CD5A3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764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2DCB5-8C5B-4CAF-8B53-A2DC817D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90700"/>
            <a:ext cx="2000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7ECE4"/>
          </a:solidFill>
          <a:ln xmlns:a="http://schemas.openxmlformats.org/drawingml/2006/main" w="9525">
            <a:solidFill>
              <a:srgbClr val="6C2E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EB223-B1B2-4EB3-90FB-33A36397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24050"/>
            <a:ext cx="1695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JSON 원본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A87D7-134F-4288-914A-1FA93B79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86000"/>
            <a:ext cx="1695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법령/조례 원천 구조 저장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1C200B-BE1C-450B-BED9-16E6CD88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764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45C83-9196-45D9-8AF7-6531757F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2190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B7301-80CA-4ACB-B8EF-6E8865E7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24050"/>
            <a:ext cx="1885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TOON 변환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0898A-BBE6-48C3-A724-154801F4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86000"/>
            <a:ext cx="1885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LLM-friendly text representation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824AD6-48BE-4034-865A-AA522B51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764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C6BDB0-E042-44DF-A978-86671CE8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90700"/>
            <a:ext cx="2095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4F8EF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D7301B-B526-4178-AB2D-B7419312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24050"/>
            <a:ext cx="1790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RAG 입력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E92893-2F9A-4A20-BEC5-9E47E412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1790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chunking agent가 읽는 전처리 문서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DB2880-5B97-4B5D-A0EC-48AA5316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Token compression proof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2F784D-21A7-4F0B-B4E4-57FF7E08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04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320,991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ADB6B1-3FB5-4F77-AA7C-570461AB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14750"/>
            <a:ext cx="68580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9A82"/>
          </a:solidFill>
          <a:ln xmlns:a="http://schemas.openxmlformats.org/drawingml/2006/main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667832-E465-473E-8E79-45940B45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00500"/>
            <a:ext cx="171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원본 JSON tokens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B7C293-247E-42D5-88FD-746B0DD5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104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t>189,997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FEC5CF-665F-41B7-8AD4-83A350A1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76750"/>
            <a:ext cx="40576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584887-4C9C-478E-8C07-85BB121E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1524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TOON tokens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E5BAFD-1DF7-4817-8A2A-C923556A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3429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B070AD-4361-4301-8C0D-BAF22501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5760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절감 토큰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47617B-8E28-4497-A3C4-3FEC091F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8620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9F6E"/>
                </a:solidFill>
                <a:latin typeface="Arial"/>
                <a:ea typeface="Arial"/>
                <a:cs typeface="Arial"/>
              </a:defRPr>
            </a:pPr>
            <a:r>
              <a:t>130,994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20134F-A4D7-4C3B-944F-8FC5180A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38650"/>
            <a:ext cx="2667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전체 합계 기준 절감률 40.81%. 문서별 평균이 아니라 전체 token sum으로 계산했다.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CB0B09-499D-4EAA-AA35-5B8DBAD3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7429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근거: rag/code_reference 수집/전처리 코드, rag/RAG_PREPROCESSED_DATA/README.md</a:t>
            </a:r>
          </a:p>
        </p:txBody>
      </p:sp>
    </p:spTree>
    <p:extLst>
      <p:ext uri="{BB962C8B-B14F-4D97-AF65-F5344CB8AC3E}">
        <p14:creationId xmlns:p14="http://schemas.microsoft.com/office/powerpoint/2010/main" val="856760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322D76-E150-4B07-A157-A41921E4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SYSTEM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8EDB9-EA30-430C-B0F6-B22BE4CC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334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서비스와 런타임 boundary를 분리한 GraphRAG 플랫폼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A77DA-F47E-46B5-B80A-FA61D973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사용자 화면, application backend, RAG backend, runtime infra, MCP client의 책임을 나눴다.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412FA-93DA-46CE-93B5-ABDE2AEB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34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EFD94-B1DE-4FD1-A75C-D1BAD78B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508BB-C4FF-4EA9-B070-4B3A896B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2476500" cy="352425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BF8"/>
          </a:solidFill>
          <a:ln xmlns:a="http://schemas.openxmlformats.org/drawingml/2006/main" w="9525">
            <a:solidFill>
              <a:srgbClr val="E1D3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CF15A-9718-43F7-85D5-BB59712C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User / Demo Surface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E2D5E-417E-465D-99E3-6505C189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1905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7ECE4"/>
          </a:solidFill>
          <a:ln xmlns:a="http://schemas.openxmlformats.org/drawingml/2006/main" w="9525">
            <a:solidFill>
              <a:srgbClr val="6C2E1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E9FF4-4E5F-476E-8B2C-D0A2C9BC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600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rag/fe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EE7AB-B8D3-4EE0-B8F1-40192288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1600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upload · graph jobs · review queue · memory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40971-A882-4232-A996-20A1CA18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1905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7ECE4"/>
          </a:solidFill>
          <a:ln xmlns:a="http://schemas.openxmlformats.org/drawingml/2006/main" w="9525">
            <a:solidFill>
              <a:srgbClr val="6C2E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2BEC4-FC4A-4DC0-BBB1-FAF3B911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1600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streamlit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C2B6D4-F087-44DF-9E6B-8E06540F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1600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final QA demo surface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08D04-F2CD-4ACC-9FAD-5B6BC3FA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33550"/>
            <a:ext cx="3429000" cy="3524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0F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AD2C2-5524-44AE-A357-2CE035F2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00250"/>
            <a:ext cx="228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t>Application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0C469F-23AB-4E3D-A1C4-CFFDA7C0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67000"/>
            <a:ext cx="2476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C5C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F8B527-5E3C-4635-AAF2-A5BB663B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00350"/>
            <a:ext cx="2171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backend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40B4F-0FD7-4E89-8453-A1BB0696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62300"/>
            <a:ext cx="2171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final answer runtime and prompt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0E799C-8A3B-4EB3-894B-22506CC0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90950"/>
            <a:ext cx="2476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C5C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412E20-48F9-4B24-8CFD-0B420ADD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24300"/>
            <a:ext cx="2171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rag/be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45AC14-8B37-44CF-9AA1-765A28E6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86250"/>
            <a:ext cx="2171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API · worker · graph pipeline · MCP server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18C910-7A17-4095-ACE0-6EE3557E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33550"/>
            <a:ext cx="3429000" cy="3524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BFEFC"/>
          </a:solidFill>
          <a:ln xmlns:a="http://schemas.openxmlformats.org/drawingml/2006/main" w="9525">
            <a:solidFill>
              <a:srgbClr val="CDE6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308A49-883B-48A7-8DF3-6E651907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t>Runtime Infra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422D86-999A-4D61-B95A-90445815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2381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44E3F5-29DD-4669-B10B-391F8BA9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05100"/>
            <a:ext cx="2076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Memgraph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F6DA1F-B5CA-483A-A2A7-A5415D34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67050"/>
            <a:ext cx="2076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Document · Chunk · Candidate · Edge · Memory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9DB26E-9647-4FD9-ABEF-96A092FB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86150"/>
            <a:ext cx="2381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4F8EF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F45DA7-5235-42E3-874B-BA7E0D48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19500"/>
            <a:ext cx="2076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Redis Streams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5487AB-2D7C-48FE-AD03-C5E82273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81450"/>
            <a:ext cx="2076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worker lifecycle and agent event stream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481091-9756-44D0-AF0E-47897B01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00550"/>
            <a:ext cx="238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597798-FB9F-443B-8BA0-A1F6D195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33900"/>
            <a:ext cx="2076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LLM / Firecrawl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6271AE-7A58-4403-B539-8D1414D0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95850"/>
            <a:ext cx="2076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agent reasoning and external search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4F69B4-8531-4D8A-B0B4-0C6B816E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194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61CFC1-D0B7-4EB2-96CC-689EDC40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194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888C1C-D6EE-4F07-BC61-F5FC07F3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657850"/>
            <a:ext cx="495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External MCP clients consume read-only graph tools; graph construction remains controlled inside rag/be.</a:t>
            </a:r>
          </a:p>
        </p:txBody>
      </p:sp>
    </p:spTree>
    <p:extLst>
      <p:ext uri="{BB962C8B-B14F-4D97-AF65-F5344CB8AC3E}">
        <p14:creationId xmlns:p14="http://schemas.microsoft.com/office/powerpoint/2010/main" val="18333728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C2F41E-5CB9-48D0-B3FF-EDEBB2DC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RAG BACKEND ROLE SPLIT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D4865-C87E-4D2A-BF93-302CAF3F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334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`rag/be`는 API 서버이면서 worker runtime이자 MCP provider다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7772A-4581-4F5B-B01F-0F0EF13B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한 프로세스 안에서 세 boundary를 갖지만 DB write 권한과 external read 권한을 분리한다.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8896E-7A02-48AA-8F31-CEE6421D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34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1FD9A-15C0-4B39-B7D4-5BD2E9C7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072DC-E40C-4B2C-BC38-05739970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314325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ECE4"/>
          </a:solidFill>
          <a:ln xmlns:a="http://schemas.openxmlformats.org/drawingml/2006/main" w="9525">
            <a:solidFill>
              <a:srgbClr val="6C2E1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F1783-291B-4CD4-95EF-29642B75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2E12"/>
          </a:solidFill>
          <a:ln xmlns:a="http://schemas.openxmlformats.org/drawingml/2006/main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15388-9CE0-4DF0-A694-DD7F4476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24100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3659B-263F-461D-97DA-22F811DF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7170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FE API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735BA-1A6D-4725-91FC-59DC487B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2476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Document upload, graph job status, review queue, memory settings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FC532-ADB0-44FA-864C-F2CDA142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2E12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60E9C-916C-49B6-A72C-C92099D3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FastAPI routes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C5686-0E08-4EE9-88A0-78F6952C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05000"/>
            <a:ext cx="314325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C5C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DA78AD-D276-4EAF-8366-1EE42BBD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88053-E085-4BF5-AF7D-7544B939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24100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D0223-15CF-4B2F-BBA7-C9799683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Processing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99E6C3-E067-4234-8453-5BA0B4C1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2476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Task queue, worker pool, construction graph, review graph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A4F25C-4FD2-4830-9E88-43E9F09E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0FEC7D-8B4E-4E20-8956-7B7CCBC8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6720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t>LangGraph + workers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90AF72-36C5-48AC-9CFA-39FD8009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314325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E452C-4FBC-4F90-8BD4-DFC5654A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F625E8-4917-4EC2-9867-D3E99110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24100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D8B459-F080-4024-8902-B7B120AD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7170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External MCP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F5E382-1484-4C59-90B6-415FD951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2476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Read-only Memgraph tools for downstream agents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0CF183-8D9D-4AC6-9FE3-D55CBB6F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6FF6CB-07DC-4268-8EDA-3C9D2F2F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6720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t>MCP server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3967DF-7BE8-4D6B-ABA7-F19ACCBA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15000"/>
            <a:ext cx="1000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설계 포인트: FE API는 상태/결정 입력을 받고, worker는 비동기 graph build를 수행하며, MCP는 조회 전용 surface만 외부에 연다.</a:t>
            </a:r>
          </a:p>
        </p:txBody>
      </p:sp>
    </p:spTree>
    <p:extLst>
      <p:ext uri="{BB962C8B-B14F-4D97-AF65-F5344CB8AC3E}">
        <p14:creationId xmlns:p14="http://schemas.microsoft.com/office/powerpoint/2010/main" val="4345279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D5E311-D7A4-4558-8130-AD3E8210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ASYNC INGEST JOB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EA8F8-F12D-4413-BFFB-0962DEE9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334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업로드 API는 즉시 job을 반환하고 graph build는 worker가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92491-418F-40AB-8ECD-7B72C529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문서 하나가 긴 동기 요청을 점유하지 않도록 queue와 worker pool로 분리했다.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BC197-C977-41B8-9845-CF487248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34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50C77-6E41-440B-BF39-192D6C66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9DC9B-87C0-48A0-B23C-198FA671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428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6B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5372A-8108-4DA9-934F-C24D5C56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247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69E87-7184-43E8-BA72-79EEB149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FE upload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7ED26-DCA9-4A55-B4B2-4C9C7E39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04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파일 선택 후 API 호출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91E0D-403F-4E99-9E42-73A43C4E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2420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10ECA-A3A0-4D93-A415-6BB65B9D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24150"/>
            <a:ext cx="1428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6B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16063-B52F-42E3-96C0-15AAFA9B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247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EECE2-A0D4-4BF5-9F96-4B18D313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813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register document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6AA7E-B069-447E-8B47-D424C00E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67100"/>
            <a:ext cx="104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Memgraph에 raw document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4B3C8-D27F-49AC-89F6-85F3AD80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2420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045B7-EDE8-4018-AD98-58646D35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1428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C5C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02D84-8016-4D53-B4DF-14F34A51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14650"/>
            <a:ext cx="247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89AAA4-E88D-436F-B84B-0C1904E0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813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IngestJob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98D997-55ED-4834-95CA-D082E383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67100"/>
            <a:ext cx="104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job_id 생성 및 상태 기록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D403A1-A05F-4323-8608-A5BB4FAC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2420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D96201-AA70-42FC-A469-67346F21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24150"/>
            <a:ext cx="1428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C5C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F738B1-A1E0-4764-86EE-55A01033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14650"/>
            <a:ext cx="247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2E566-8D62-4541-9F04-07A82484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enqueue task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BBA0DF-5E76-42C5-BBFB-DDE8F601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67100"/>
            <a:ext cx="104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build task queue에 적재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82FCC0-E8D3-459F-B345-05E111EB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2420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BCB6FA-4A32-43A2-BB37-FB822DE9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1428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C62E4E-DED3-466E-AC0D-B0B1C028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14650"/>
            <a:ext cx="247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28778B-F0E6-4084-AACA-0EFA3C75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813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worker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786F41-36E5-41FE-B76A-77B10A33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67100"/>
            <a:ext cx="104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construction graph 실행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B4F634-0F94-4A46-B6B3-498678C9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2420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B4EAB9-875B-48A2-9332-4E24DC50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24150"/>
            <a:ext cx="1428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D87D96-57A1-424B-8575-3C70E689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14650"/>
            <a:ext cx="247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49A3BF-BC44-40C1-9FCD-2A745FE5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813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progress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A1F2CA-FDFF-4085-BE62-A2286F53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67100"/>
            <a:ext cx="104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FE polling/SSE로 상태 확인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4E6F15-3ADB-4A4C-A255-D4113569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14850"/>
            <a:ext cx="96202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9F3"/>
          </a:solidFill>
          <a:ln xmlns:a="http://schemas.openxmlformats.org/drawingml/2006/main" w="9525">
            <a:solidFill>
              <a:srgbClr val="DFC8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52B33A-0B11-4417-BA43-D8295692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05350"/>
            <a:ext cx="895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DB-generated `document_id`를 downstream context로 전달한다. raw document 전체를 agent state에 싣지 않고 tool/query를 통해 필요한 정보만 읽는다.</a:t>
            </a:r>
          </a:p>
        </p:txBody>
      </p:sp>
    </p:spTree>
    <p:extLst>
      <p:ext uri="{BB962C8B-B14F-4D97-AF65-F5344CB8AC3E}">
        <p14:creationId xmlns:p14="http://schemas.microsoft.com/office/powerpoint/2010/main" val="128076606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E1EAF4-54E3-444F-B0AD-2A1E562E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CONSTRUCTION 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CE6A7-BBDA-43F2-ADD2-034DC0F5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334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첫 번째 graph는 document를 chunk, embedding, relationship candidate로 변환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D77B6-7C01-49A6-A1F1-8951E4E9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실제 edge write는 하지 않고 pending review artifact까지 만든다.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FEDA2-A06B-410C-8874-C3279F49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34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4B788-657C-4B51-8199-3557F9A8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3DC3D-546A-41EE-83AF-0FD63EE1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381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7ECE4"/>
          </a:solidFill>
          <a:ln xmlns:a="http://schemas.openxmlformats.org/drawingml/2006/main" w="9525">
            <a:solidFill>
              <a:srgbClr val="6C2E1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BAD72-45F7-4ADC-A369-09B978D2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5975"/>
            <a:ext cx="2076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document_load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51C24-4317-4193-A1ED-BB832BC2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47925"/>
            <a:ext cx="2076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document_id로 원본 document 조회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476E8-50D8-46DA-9F0C-811EC946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098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5905-5911-4E1D-8941-39C3C605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2095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04774-714D-41EA-A631-2B2541A3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85975"/>
            <a:ext cx="1790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chunking_agent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92C6D-C43D-4534-ADBB-1613C563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47925"/>
            <a:ext cx="1790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write_chunk_tool로 Chunk 저장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29B77-3BE2-4A9F-9FC5-997052FA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098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EB901-2F75-4537-8F76-FB4AC25A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2381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ACC1A-D4D1-44E3-97B4-68300438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85975"/>
            <a:ext cx="2076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embedding_dispatch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0E9FC-28B5-4480-91A2-868BE2CF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47925"/>
            <a:ext cx="2076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chunk id별 embedding 생성/저장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13522-CB29-45C6-8223-7D7BCCF8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098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1C1CD4-1884-4813-989B-D207C4FE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2095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C5C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5FE59B-46F6-46A2-A5A7-474CAE70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85975"/>
            <a:ext cx="1790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graph_candidate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E1240A-7643-447F-B941-CBE7BF6D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47925"/>
            <a:ext cx="1790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chunk 관계 후보 생성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0479DC-B655-4780-AEDA-5E4688D4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05125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24897D-8B3F-414E-8676-CD386816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5623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4599D7-15CF-441F-A5EE-B917F476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0"/>
            <a:ext cx="2381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777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E685B2-E4C6-4D0E-91C3-390C122E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33850"/>
            <a:ext cx="2076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RelationshipCandidate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FC58A6-89E2-469D-84DD-640B2897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95800"/>
            <a:ext cx="20764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pending_review 상태로 Review Queue에 표시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63A10F-5266-4D95-B4E5-59859795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6858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560EFB-7F15-4F1B-B1B3-B9D1BC88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48150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Shared graph state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057AA0-5A0B-4642-8A37-49BDE25C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4815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`job_id`, `document_id`, `chunk_ids`만 전달한다. raw content는 node state가 아니라 DB/query boundary에 남긴다.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EE1673-9432-4BD7-955E-D5C5AB9F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67300"/>
            <a:ext cx="2286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7700"/>
                </a:solidFill>
                <a:latin typeface="Arial"/>
                <a:ea typeface="Arial"/>
                <a:cs typeface="Arial"/>
              </a:defRPr>
            </a:pPr>
            <a:r>
              <a:t>Review 전까지는 edge가 아니다</a:t>
            </a:r>
          </a:p>
        </p:txBody>
      </p:sp>
    </p:spTree>
    <p:extLst>
      <p:ext uri="{BB962C8B-B14F-4D97-AF65-F5344CB8AC3E}">
        <p14:creationId xmlns:p14="http://schemas.microsoft.com/office/powerpoint/2010/main" val="9631328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A4F1E5-A9BA-44B6-B0B5-B6629C70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AGENT HARNESS AND TOOL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EDDD6-774A-4CA6-BA3A-ACA2F313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334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Graph candidate agent의 권한을 context/read/search/write로 제어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4AB5D-2E49-4004-809D-B4107951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agent가 DB를 마음대로 수정하지 않고 검수 대상 artifact만 만들도록 tool surface를 좁혔다.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E08C4-4165-43AE-B82C-C51BFD6B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34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4B647-760C-4E8C-9E0D-7594971E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11F9E-00BB-45A6-AC71-35B05A51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31432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17151D"/>
          </a:solidFill>
          <a:ln xmlns:a="http://schemas.openxmlformats.org/drawingml/2006/main" w="9525">
            <a:solidFill>
              <a:srgbClr val="17151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4B49D-447B-44B2-B848-668A2857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289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graph_candidate_agent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392B1-04A0-4703-898B-C9CF4DA0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90900"/>
            <a:ext cx="219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D8D4E0"/>
                </a:solidFill>
                <a:latin typeface="Arial"/>
                <a:ea typeface="Arial"/>
                <a:cs typeface="Arial"/>
              </a:defRPr>
            </a:pPr>
            <a:r>
              <a:t>given job_id · document_id · chunk_ids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DFA99-3E83-4A11-AF10-10336070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952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7ECE4"/>
          </a:solidFill>
          <a:ln xmlns:a="http://schemas.openxmlformats.org/drawingml/2006/main" w="9525">
            <a:solidFill>
              <a:srgbClr val="6C2E1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3EC43-610C-4397-B6B3-A9E716B0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647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Injected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5A5E9-EC7A-401F-8892-3578ED31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2647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Memory document is injected automatically, not hidden behind optional tool usage.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3E404-A594-4D15-B2B2-F1948CFC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952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91F96-98D6-4B0A-BAD4-7F365F47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2647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Memgraph read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3E49F2-A97D-480E-BBD4-71468228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647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schema, text, vector, traverse, read query primitives.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9B166-C04D-4F4F-84CB-9AFBD71C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00250"/>
            <a:ext cx="2952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A05DCD-6BB5-48C4-B43A-BBFEF391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33600"/>
            <a:ext cx="2647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Firecrawl web search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FAC5F7-3DA3-4C15-A6AE-49E26707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95550"/>
            <a:ext cx="2647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외부 근거가 필요할 때 보조 검색. graph evidence보다 우선하지 않음.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BD53C-A6F5-4569-9AE2-805C81F1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86200"/>
            <a:ext cx="2952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777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E068AB-3705-42B5-B715-7A4AA169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19550"/>
            <a:ext cx="2647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Candidate write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6C8B11-9DE6-475E-9974-7B1100B2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81500"/>
            <a:ext cx="2647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write_relationship_candidate_tool만 DB write surface로 제공.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20592D-4849-4958-B205-EDF0B105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003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2F9433-80B7-41C4-9AFE-E19F5FF4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3053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168565-FE41-4BB3-BE78-05E2A7F5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EF72EA-532D-43D1-A8AF-F5A557E7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053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7700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64CDCF-063C-44F0-8167-66F8EEF3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67350"/>
            <a:ext cx="75247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FF9F3"/>
          </a:solidFill>
          <a:ln xmlns:a="http://schemas.openxmlformats.org/drawingml/2006/main" w="9525">
            <a:solidFill>
              <a:srgbClr val="E2C8B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D1EE58-DD81-43EC-917E-E0BBA961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638800"/>
            <a:ext cx="695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원본 document 전체를 LLM context에 싣지 않고 chunk/document id 기반 query로 필요한 부분만 읽게 한다.</a:t>
            </a:r>
          </a:p>
        </p:txBody>
      </p:sp>
    </p:spTree>
    <p:extLst>
      <p:ext uri="{BB962C8B-B14F-4D97-AF65-F5344CB8AC3E}">
        <p14:creationId xmlns:p14="http://schemas.microsoft.com/office/powerpoint/2010/main" val="21346219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DF00FC-BD7B-4F6D-9609-B89DFEBC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REVIEW QUEUE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6C372-ABE6-4F5A-BC36-C65FCB90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334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Candidate first, edge later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67474-64DA-45C7-AF96-39B5DDCB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LLM이 만든 관계는 바로 graph edge가 아니라 사람이 승인하는 RelationshipCandidate가 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E376D-E817-4855-ADA0-00856280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34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9EA8D-E98F-41A8-A400-43B84944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EA530-691B-4FB8-ACDC-4F352F80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2952750" cy="323850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4791E-564B-4CB8-9BF6-C0FB2B40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228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RelationshipCandidate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31061-D5BA-436B-8F0E-E23894B7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777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F0A53-60AC-467B-9DBC-F58B3A6F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990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77700"/>
                </a:solidFill>
                <a:latin typeface="Arial"/>
                <a:ea typeface="Arial"/>
                <a:cs typeface="Arial"/>
              </a:defRPr>
            </a:pPr>
            <a:r>
              <a:t>pending_review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E790B2-60D8-4768-93E5-3542148D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source chunk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A4119-D27E-4C3C-BC9F-9799EE89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7F3"/>
          </a:solidFill>
          <a:ln xmlns:a="http://schemas.openxmlformats.org/drawingml/2006/main" w="9525">
            <a:solidFill>
              <a:srgbClr val="E5DC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BCFF9-6447-408A-8440-3BF6BEF4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1809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제57조~제60조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947CF6-0658-43B1-AB8F-6E4185BD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target chunk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E7FCAA-D4FA-466F-B578-CD8DE600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7F3"/>
          </a:solidFill>
          <a:ln xmlns:a="http://schemas.openxmlformats.org/drawingml/2006/main" w="9525">
            <a:solidFill>
              <a:srgbClr val="E5DC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59DE0-2A69-45C7-B183-3A6D8A73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1809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제16조~제63조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922CA-297D-4A2A-B026-5EA4E13D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0D5B24-8AC4-431D-80D4-C27F4D35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28800"/>
            <a:ext cx="333375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BF8"/>
          </a:solidFill>
          <a:ln xmlns:a="http://schemas.openxmlformats.org/drawingml/2006/main" w="9525">
            <a:solidFill>
              <a:srgbClr val="DEC8B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2CD1A-723B-48C0-9F51-653CDC08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5265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Human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181B1A-1286-44B7-B66B-2105D5DB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28900"/>
            <a:ext cx="24765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사용자는 source/target chunk, AI rationale, evidence, confidence를 보고 approve/deny를 staging한다.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68A128-6691-4397-A010-7E2D67D6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766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8EF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C09349-3E43-4239-8ECA-8A6ECD45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52850"/>
            <a:ext cx="838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9F6E"/>
                </a:solidFill>
                <a:latin typeface="Arial"/>
                <a:ea typeface="Arial"/>
                <a:cs typeface="Arial"/>
              </a:defRPr>
            </a:pPr>
            <a:r>
              <a:t>Approve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7960F1-2385-481B-9F27-83FB70CD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76650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7EF"/>
          </a:solidFill>
          <a:ln xmlns:a="http://schemas.openxmlformats.org/drawingml/2006/main" w="9525">
            <a:solidFill>
              <a:srgbClr val="BE34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D4C971-58AA-44D2-8AC5-1B2E2A3F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52850"/>
            <a:ext cx="609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E3455"/>
                </a:solidFill>
                <a:latin typeface="Arial"/>
                <a:ea typeface="Arial"/>
                <a:cs typeface="Arial"/>
              </a:defRPr>
            </a:pPr>
            <a:r>
              <a:t>Deny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33AE2A-2A70-4845-A6B2-C305DF61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7195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ECE4"/>
          </a:solidFill>
          <a:ln xmlns:a="http://schemas.openxmlformats.org/drawingml/2006/main" w="9525">
            <a:solidFill>
              <a:srgbClr val="6C2E1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BB730D-DB88-4C47-BDA9-E2A2BFBD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4815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Atomic commit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F521D5-8E1A-479F-9F40-AF9BA2BF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194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F6A8A7-67DC-43E1-BA87-EC911EFB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28800"/>
            <a:ext cx="2857500" cy="3238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FEFC"/>
          </a:solidFill>
          <a:ln xmlns:a="http://schemas.openxmlformats.org/drawingml/2006/main" w="9525">
            <a:solidFill>
              <a:srgbClr val="BFE4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202FCD-C153-436B-AE0D-A5AEA282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t>Materialized graph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3F60AA-7055-4E30-BBF3-C8704EC4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200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4F8EF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60E47E-C7F5-4394-9AA0-1673C2FB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90850"/>
            <a:ext cx="1695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Approved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BD3E32-F314-448D-826F-EEC066D7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5280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actual edge 생성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ED0AE4-2710-4865-B5D6-945F5CD0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67150"/>
            <a:ext cx="20002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E7EF"/>
          </a:solidFill>
          <a:ln xmlns:a="http://schemas.openxmlformats.org/drawingml/2006/main" w="9525">
            <a:solidFill>
              <a:srgbClr val="BE34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0CF2E3-1103-4A83-80D0-170174CE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00500"/>
            <a:ext cx="1695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Denied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4339D5-DDA4-4C4C-B80C-BF69D1E7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62450"/>
            <a:ext cx="1695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rejected artifact로 보존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FD66CE-E41F-4BEA-8153-BF806C9C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676900"/>
            <a:ext cx="838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검수 가능한 자동화: LLM output은 제안이고 DB graph truth는 review 이후에만 바뀐다.</a:t>
            </a:r>
          </a:p>
        </p:txBody>
      </p:sp>
    </p:spTree>
    <p:extLst>
      <p:ext uri="{BB962C8B-B14F-4D97-AF65-F5344CB8AC3E}">
        <p14:creationId xmlns:p14="http://schemas.microsoft.com/office/powerpoint/2010/main" val="176132745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E3D72F-AE7B-4BE7-876F-CC125EB2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MEMORY FEEDBACK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B4FE2-784B-43BD-9032-1141498C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334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Reviewer note는 다음 candidate generation의 판단 기준으로 반영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EDB71-8DF8-49C5-8896-4A8AD79F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모델 파라미터 학습이 아니라 system memory document를 업데이트하는 memory layer다.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8A051-7C43-4396-9466-D526BEA4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34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62C10-C795-4419-A33F-5B21FD61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3D0F0-6A2B-4DE8-AD54-BFA6E3DD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190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777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52378-3FC4-4BFA-8C68-C1C29D1D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1885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RelationshipCandidate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8E1C4-5B26-4E00-A482-7F4CA495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1885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approve/deny 대상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04647-3139-49D1-847A-33E05AEC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479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EBE5F-6831-4FD4-8894-4709206E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190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ECE4"/>
          </a:solidFill>
          <a:ln xmlns:a="http://schemas.openxmlformats.org/drawingml/2006/main" w="9525">
            <a:solidFill>
              <a:srgbClr val="6C2E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8BE45-DB51-48F3-88A1-36EC312E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14600"/>
            <a:ext cx="1885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ReviewNote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D1C35-41F4-4229-BEFD-4446D53A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76550"/>
            <a:ext cx="1885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사용자 판단 이유와 수정 의견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A1F2A-835C-4B7B-AE0B-D30621DC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BD488-25F5-485C-9B0B-F37A4E6F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81250"/>
            <a:ext cx="2476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C5C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59809-F008-45C2-948D-2B7BE2FE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14600"/>
            <a:ext cx="2171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memory_update_agent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9D327E-1A17-484C-B0A7-AF548683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2171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이번 job note와 candidate context를 읽고 memory 문서 재작성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785FD-93D5-485C-8FCA-2DE5932A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479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E5F5E9-7250-4213-AF51-0E7C3B73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81250"/>
            <a:ext cx="1905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C44C86-4EE4-4F31-98C0-EFF1A41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14600"/>
            <a:ext cx="1600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Memory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962E80-DA22-44C6-BD11-725ABF05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76550"/>
            <a:ext cx="1600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단일 post-it style system memory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FBA7C0-34BD-40BD-BECA-D02D9CA0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0"/>
            <a:ext cx="285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20797-F0AB-40AE-9A24-B16C7202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48150"/>
            <a:ext cx="855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CF304C-576F-43BE-9910-08955A0A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76750"/>
            <a:ext cx="4095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t>다음 graph_candidate_agent context에 자동 주입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0C9497-D40C-49AD-A703-577925A3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00650"/>
            <a:ext cx="581025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151D"/>
          </a:solidFill>
          <a:ln xmlns:a="http://schemas.openxmlformats.org/drawingml/2006/main" w="9525">
            <a:solidFill>
              <a:srgbClr val="17151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87C187-8822-47F7-8D29-AF91B75F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62575"/>
            <a:ext cx="514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주의 표현: 모델이 학습된다가 아니라, 시스템 memory layer가 업데이트되어 다음 agent 판단 기준에 반영된다.</a:t>
            </a:r>
          </a:p>
        </p:txBody>
      </p:sp>
    </p:spTree>
    <p:extLst>
      <p:ext uri="{BB962C8B-B14F-4D97-AF65-F5344CB8AC3E}">
        <p14:creationId xmlns:p14="http://schemas.microsoft.com/office/powerpoint/2010/main" val="19161924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5053E0-2F5B-4D50-8D5D-F22C8154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FINAL QA RUNTIME VIA MCP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93D8E-74D3-4257-89F2-10F9E42A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334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구축된 graph는 read-only MCP tool로 외부 agent와 최종 backend에 제공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9A84A-D98F-4E51-A1C8-CE05FB85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graph construction pipeline과 answer generation runtime을 분리한다.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B78AD-B0AB-47F7-8569-F31D1DE1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34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3EC8A-2679-4D13-8396-9D0CCEFB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9FBBC-51A2-42E1-9A90-E5164F9F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1714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7ECE4"/>
          </a:solidFill>
          <a:ln xmlns:a="http://schemas.openxmlformats.org/drawingml/2006/main" w="9525">
            <a:solidFill>
              <a:srgbClr val="6C2E1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32E67-7110-419E-A019-EB83D8B3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409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User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25EF7-3566-48F2-B9E4-A8F987C3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140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복지/법령/지역정책 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A0A6D-44EE-4C8C-AAB3-E7BE85C1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48000"/>
            <a:ext cx="32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646FA-B115-4F61-9DB9-B26C2597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2000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C5C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054D1-A782-49D8-B539-46DDF241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95600"/>
            <a:ext cx="1695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backend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01341-346B-4E5D-AA13-B4DA13F1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57550"/>
            <a:ext cx="1695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system prompt rules + answer synthesis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62FECA-3C15-4EB7-8D70-3943FC53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48000"/>
            <a:ext cx="32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EC4D33-7344-48D3-AC48-D89BADEA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67000"/>
            <a:ext cx="2476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752947-0A3B-47D0-9066-B5610E84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0350"/>
            <a:ext cx="2171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RAG MCP 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BF80E-A942-4BDA-B864-08AC7CD4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62300"/>
            <a:ext cx="2171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schema read · text search · vector search · traverse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FAD87B-3FC6-42D2-9041-153BE6B7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32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FF27F-88E1-4EB6-8E18-A0F05776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62250"/>
            <a:ext cx="2000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5DC0F-74F9-412D-B7E1-8B086E3C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95600"/>
            <a:ext cx="1695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Memgraph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53486B-24A0-4955-ACC3-FF6B4F2A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57550"/>
            <a:ext cx="1695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verified graph and evidence chunks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0F0BC3-AB24-45A5-8FEF-C6A853D6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0050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0D52B6-EECA-4CA4-98D3-86359E77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1809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read-only boundary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7847E1-B1BF-452C-913A-B1AA017F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53000"/>
            <a:ext cx="6953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9F3"/>
          </a:solidFill>
          <a:ln xmlns:a="http://schemas.openxmlformats.org/drawingml/2006/main" w="9525">
            <a:solidFill>
              <a:srgbClr val="E2C8B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8B419E-BF81-462E-99E5-5CE09360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628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MCP로 연결하면 Codex, backend, Streamlit 같은 client가 동일한 graph knowledge를 조회할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211644487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E6AABE-46C4-4371-ADF7-5A8C060D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OBSERVABILITY AND DEBUGGABILITY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D8FFC-D453-4968-A4E8-088A6F36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334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Agentic pipeline 내부 이벤트를 Redis Stream으로 노출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AC8B0-8ECA-4895-BB8D-BB6A061D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worker lifecycle뿐 아니라 tool call과 agent event를 FE Diagnostics Studio에서 확인한다.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47712-5627-4121-828C-945C3EA7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34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389AF-3512-4F40-9DFC-5D02B97E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E825C-263C-4D6C-83D6-1DC6B976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333625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ECE4"/>
          </a:solidFill>
          <a:ln xmlns:a="http://schemas.openxmlformats.org/drawingml/2006/main" w="9525">
            <a:solidFill>
              <a:srgbClr val="6C2E1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78216-AAD9-42A6-B9C4-781B2BFD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20288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Worker runner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8009A-EE0A-4674-902C-875568F2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0288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task.queued · task.started · task.succeeded/failed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3008C-5DC4-4F7A-9B3E-7691CD9A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2333625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C5C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BBCCA-BCD9-4F75-B32D-0F3AC167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0288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Agent runtime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85B43-9E1A-496A-B411-4F7DDC1D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0288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model token · tool call · tool result · transcript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7D75B-722C-4A1C-8240-EB5F74AD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02463-6C03-455B-B0EA-A7D60906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005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2E581-CCC4-41D5-B226-405DBC38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2571750" cy="179070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7151D"/>
          </a:solidFill>
          <a:ln xmlns:a="http://schemas.openxmlformats.org/drawingml/2006/main" w="9525">
            <a:solidFill>
              <a:srgbClr val="17151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11CCEA-5603-40EF-B4CE-EC614569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03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Redis Streams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B05BD6-B737-4054-81B5-04D793FD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76600"/>
            <a:ext cx="1733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D7D2DE"/>
                </a:solidFill>
                <a:latin typeface="Arial"/>
                <a:ea typeface="Arial"/>
                <a:cs typeface="Arial"/>
              </a:defRPr>
            </a:pPr>
            <a:r>
              <a:t>TTL cache for recent task and agent observability events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795C24-E2FE-4BDB-BFF1-491546C6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432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70CA48-2B33-4C03-9A92-4E18BD37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4795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6FCA8B-B6DA-4DFE-B87F-7960280D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81300"/>
            <a:ext cx="1695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SSE / Polling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6A9A51-B26D-4CA1-A19C-52F117FE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43250"/>
            <a:ext cx="1695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event stream and status refresh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671C9-48E7-4C00-B2B3-CB0E538E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15CA0-7ED0-4B8E-AC57-C7F6B20C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47950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4F8EF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83AC7F-C180-4A97-B622-8AC81A05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81300"/>
            <a:ext cx="1409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Diagnostics Studio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AB13E0-ACA0-43A7-B310-7D715B07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143250"/>
            <a:ext cx="140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실시간 event terminal과 job status board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2B305E-6032-42A3-B01C-AF98CE72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62550"/>
            <a:ext cx="54292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7F3FF"/>
          </a:solidFill>
          <a:ln xmlns:a="http://schemas.openxmlformats.org/drawingml/2006/main" w="9525">
            <a:solidFill>
              <a:srgbClr val="D8D0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490489-9895-4056-9856-E04255B9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324475"/>
            <a:ext cx="4857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t>Next: OpenLIT + LangSmith span telemetry로 provider/tool/latency 분석 강화</a:t>
            </a:r>
          </a:p>
        </p:txBody>
      </p:sp>
    </p:spTree>
    <p:extLst>
      <p:ext uri="{BB962C8B-B14F-4D97-AF65-F5344CB8AC3E}">
        <p14:creationId xmlns:p14="http://schemas.microsoft.com/office/powerpoint/2010/main" val="95531428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5E1797-9277-4653-996E-3AD315DA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6858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TEST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2A6D2-3CB8-4BB4-940E-23E0ABD8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9334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360개 테스트 셋과 no-tool benchmark는 확보, tool-attached 검증은 다음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3A8AF-5BBA-447B-8B62-EC87D544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별도 hallucination/source 리포트 대신 시스템 프롬프트와 edge case 질문을 evidence로 연결한다.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D084A-2147-4D99-9874-52907C30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7200"/>
            <a:ext cx="34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6B4F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B7DDF-132F-4B50-B782-BE05F91F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5"/>
          </a:solidFill>
          <a:ln xmlns:a="http://schemas.openxmlformats.org/drawingml/2006/main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0A732-1DD1-43C0-9E91-13F493DD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953000" cy="36195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09D3E-1BA7-459A-8482-00C728E0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Representative edge cases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24A8A-51D1-49C3-9891-BAFDAC88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t>RAG-Q-008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35F3D-3A85-411F-8633-BE5160B8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457450"/>
            <a:ext cx="95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과도한 일반화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89075-F26F-423B-9E12-A4BDA9DC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기초연금 무조건 지급 단정 방지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398F2-00B2-4B19-AD45-2F6AECD9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D7FA8-902C-474E-AF7D-B731A8DE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t>RAG-Q-009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16448-62F0-4832-B758-DDA6AC53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971800"/>
            <a:ext cx="95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법률 단정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A0B52-9694-41F2-BF24-0A19B75D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718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나이 제한 전부 불법 단정 방지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09A93-24E5-4B10-B316-614F37FB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E1"/>
          </a:solidFill>
          <a:ln xmlns:a="http://schemas.openxmlformats.org/drawingml/2006/main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B57F0-7958-444E-BA01-BD777D2E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t>RAG-Q-012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6C53F-86BC-472F-859A-663F587F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86150"/>
            <a:ext cx="95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문서 범위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CBD87D-A416-4DA4-B9ED-FA16608D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861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법령과 시설 데이터 혼동 방지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96B0FD-F381-4F60-A595-7AE9394F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E1"/>
          </a:solidFill>
          <a:ln xmlns:a="http://schemas.openxmlformats.org/drawingml/2006/main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B4152-FA84-42A6-BD84-80786FF3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t>RAG-Q-334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D6A0B8-7DF6-4555-A4E1-2A0FA16A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000500"/>
            <a:ext cx="95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가짜 연락처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502E10-CE70-4B58-807A-559B4CFC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005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없는 전화번호 생성 금지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58A0F7-2E28-44A9-8104-773002B0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E1"/>
          </a:solidFill>
          <a:ln xmlns:a="http://schemas.openxmlformats.org/drawingml/2006/main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C18938-52E0-4D38-92DF-DE7B23A7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876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t>RAG-Q-351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B0C188-854A-4816-AF4F-04D4018C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14850"/>
            <a:ext cx="95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통계 추론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2B1526-617A-435B-B83E-479C4155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148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집계 감소를 폐쇄로 단정 금지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6C47EC-A0BD-454B-A74C-DD1F1F69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E1"/>
          </a:solidFill>
          <a:ln xmlns:a="http://schemas.openxmlformats.org/drawingml/2006/main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3CDA60-35D4-462A-8DBB-6A5BBCA4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95300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8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AFBCF2-2FD3-449E-A741-10061257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22D"/>
                </a:solidFill>
                <a:latin typeface="Arial"/>
                <a:ea typeface="Arial"/>
                <a:cs typeface="Arial"/>
              </a:defRPr>
            </a:pPr>
            <a:r>
              <a:t>Cost vs latency scatter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867929-0434-4046-83E4-83777170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1000"/>
            <a:ext cx="422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3CB"/>
          </a:solidFill>
          <a:ln xmlns:a="http://schemas.openxmlformats.org/drawingml/2006/main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93409A-863C-4641-B83D-1F9920EA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28850"/>
            <a:ext cx="190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3CB"/>
          </a:solidFill>
          <a:ln xmlns:a="http://schemas.openxmlformats.org/drawingml/2006/main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43B765-AE3F-4424-A318-29C755B6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005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avg cost/question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75C63C-6A56-4BA0-A649-0DBC4671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666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avg latency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9C9728-865E-4F29-8D40-7E1017E6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6044" y="407366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F6E"/>
          </a:solidFill>
          <a:ln xmlns:a="http://schemas.openxmlformats.org/drawingml/2006/main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47AD26-9917-4818-AF53-DEEAF303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869" y="4054616"/>
            <a:ext cx="666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cerebras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ADEFE9-6CEC-4962-A5C0-280DAD1D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012" y="35308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61AC7E-5378-4E44-BFD5-227D9A98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559" y="342897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5BC324-ED19-436E-BD1E-CD0AF3D5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8465" y="332268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D8927E-069D-42AC-8788-FF1967DD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5460" y="309328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A5C267-BF44-4DA9-AF0C-33F1C3D7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1202" y="328362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21B376-F211-4574-AE22-422678F8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027" y="3264576"/>
            <a:ext cx="666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streamlake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A40788-04ED-4408-A36E-20DAA56B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866" y="275660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AC82E0-7397-43C1-BED9-8A6DBF34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350" y="252720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270DEF-74AB-48A7-AE49-8BCDF446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506" y="245255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6FEE5F-46BB-4196-B687-9C4795BA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7300" y="244760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5F74D2-A76E-4014-9148-DDC0B47A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3130" y="2413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CA317D-FBB7-4BE7-9E02-86482450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1426" y="215294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811CEE-70E2-4C65-9408-EB28D673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5251" y="2133899"/>
            <a:ext cx="666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atlas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58EC3F-5E56-41FB-A701-9CB68FD0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67150"/>
            <a:ext cx="1619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8EF"/>
          </a:solidFill>
          <a:ln xmlns:a="http://schemas.openxmlformats.org/drawingml/2006/main" w="9525">
            <a:solidFill>
              <a:srgbClr val="0F9F6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8F3910-A2AD-4B5C-A8C9-24BDF742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43350"/>
            <a:ext cx="139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9F6E"/>
                </a:solidFill>
                <a:latin typeface="Arial"/>
                <a:ea typeface="Arial"/>
                <a:cs typeface="Arial"/>
              </a:defRPr>
            </a:pPr>
            <a:r>
              <a:t>green: fast/low-cost point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94013A-FC00-48F3-BBB6-57C9043A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67150"/>
            <a:ext cx="1714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C5C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EA8748-0148-4E8E-890E-C70F93E5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43350"/>
            <a:ext cx="1485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C5CE7"/>
                </a:solidFill>
                <a:latin typeface="Arial"/>
                <a:ea typeface="Arial"/>
                <a:cs typeface="Arial"/>
              </a:defRPr>
            </a:pPr>
            <a:r>
              <a:t>purple: v4 pro providers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69F35C-1C6A-4698-863C-2DEB5FD9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49530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9F3"/>
          </a:solidFill>
          <a:ln xmlns:a="http://schemas.openxmlformats.org/drawingml/2006/main" w="9525">
            <a:solidFill>
              <a:srgbClr val="E2C8B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AF0F55-E268-46C1-A404-5DCE3DC8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3500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남은 검증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6C77003-DEA8-4A63-9648-2ABDA2D4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05400"/>
            <a:ext cx="333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MCP tool을 붙인 동일 360개 질문 재실행 → retrieval quality, citation grounding, tool error/latency/cost 비교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4E9329-1910-4935-A7EC-D632A895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933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C6775"/>
                </a:solidFill>
                <a:latin typeface="Arial"/>
                <a:ea typeface="Arial"/>
                <a:cs typeface="Arial"/>
              </a:defRPr>
            </a:pPr>
            <a:r>
              <a:t>근거: backend system prompt, rag_agent_question_test_cases_360.md, no_tool_provider_summary.csv</a:t>
            </a:r>
          </a:p>
        </p:txBody>
      </p:sp>
    </p:spTree>
    <p:extLst>
      <p:ext uri="{BB962C8B-B14F-4D97-AF65-F5344CB8AC3E}">
        <p14:creationId xmlns:p14="http://schemas.microsoft.com/office/powerpoint/2010/main" val="537312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2026-06-03T15:37:21.0020000Z</dcterms:created>
  <dcterms:modified xsi:type="dcterms:W3CDTF">2026-06-03T15:37:21.0020000Z</dcterms:modified>
</coreProperties>
</file>